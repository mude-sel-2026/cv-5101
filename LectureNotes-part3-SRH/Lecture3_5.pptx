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24"/>
  </p:notesMasterIdLst>
  <p:sldIdLst>
    <p:sldId id="256" r:id="rId2"/>
    <p:sldId id="364" r:id="rId3"/>
    <p:sldId id="362" r:id="rId4"/>
    <p:sldId id="363" r:id="rId5"/>
    <p:sldId id="365" r:id="rId6"/>
    <p:sldId id="366" r:id="rId7"/>
    <p:sldId id="367" r:id="rId8"/>
    <p:sldId id="368" r:id="rId9"/>
    <p:sldId id="382" r:id="rId10"/>
    <p:sldId id="369" r:id="rId11"/>
    <p:sldId id="370" r:id="rId12"/>
    <p:sldId id="371" r:id="rId13"/>
    <p:sldId id="372" r:id="rId14"/>
    <p:sldId id="373" r:id="rId15"/>
    <p:sldId id="374" r:id="rId16"/>
    <p:sldId id="375" r:id="rId17"/>
    <p:sldId id="376" r:id="rId18"/>
    <p:sldId id="377" r:id="rId19"/>
    <p:sldId id="378" r:id="rId20"/>
    <p:sldId id="379" r:id="rId21"/>
    <p:sldId id="380" r:id="rId22"/>
    <p:sldId id="3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00C0"/>
    <a:srgbClr val="FFFFFF"/>
    <a:srgbClr val="05A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0F9115-5C6B-4E53-8AB4-66FAE89B39F9}" v="52" dt="2026-10-14T12:59:42.8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6247" autoAdjust="0"/>
  </p:normalViewPr>
  <p:slideViewPr>
    <p:cSldViewPr snapToGrid="0">
      <p:cViewPr varScale="1">
        <p:scale>
          <a:sx n="59" d="100"/>
          <a:sy n="59" d="100"/>
        </p:scale>
        <p:origin x="996" y="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heendra Herkal" userId="f3c620e209f08778" providerId="LiveId" clId="{390F9115-5C6B-4E53-8AB4-66FAE89B39F9}"/>
    <pc:docChg chg="undo custSel addSld modSld">
      <pc:chgData name="Sudheendra Herkal" userId="f3c620e209f08778" providerId="LiveId" clId="{390F9115-5C6B-4E53-8AB4-66FAE89B39F9}" dt="2026-10-14T12:59:42.887" v="122" actId="20577"/>
      <pc:docMkLst>
        <pc:docMk/>
      </pc:docMkLst>
      <pc:sldChg chg="modSp mod">
        <pc:chgData name="Sudheendra Herkal" userId="f3c620e209f08778" providerId="LiveId" clId="{390F9115-5C6B-4E53-8AB4-66FAE89B39F9}" dt="2026-10-14T05:20:41.751" v="6" actId="255"/>
        <pc:sldMkLst>
          <pc:docMk/>
          <pc:sldMk cId="1670509580" sldId="368"/>
        </pc:sldMkLst>
        <pc:spChg chg="mod">
          <ac:chgData name="Sudheendra Herkal" userId="f3c620e209f08778" providerId="LiveId" clId="{390F9115-5C6B-4E53-8AB4-66FAE89B39F9}" dt="2026-10-14T05:20:41.751" v="6" actId="255"/>
          <ac:spMkLst>
            <pc:docMk/>
            <pc:sldMk cId="1670509580" sldId="368"/>
            <ac:spMk id="3" creationId="{FA38AA6F-3A21-177A-B1D9-41FC95A65ADB}"/>
          </ac:spMkLst>
        </pc:spChg>
      </pc:sldChg>
      <pc:sldChg chg="modSp">
        <pc:chgData name="Sudheendra Herkal" userId="f3c620e209f08778" providerId="LiveId" clId="{390F9115-5C6B-4E53-8AB4-66FAE89B39F9}" dt="2026-10-14T12:59:42.887" v="122" actId="20577"/>
        <pc:sldMkLst>
          <pc:docMk/>
          <pc:sldMk cId="2643442200" sldId="371"/>
        </pc:sldMkLst>
        <pc:spChg chg="mod">
          <ac:chgData name="Sudheendra Herkal" userId="f3c620e209f08778" providerId="LiveId" clId="{390F9115-5C6B-4E53-8AB4-66FAE89B39F9}" dt="2026-10-14T12:59:42.887" v="122" actId="20577"/>
          <ac:spMkLst>
            <pc:docMk/>
            <pc:sldMk cId="2643442200" sldId="371"/>
            <ac:spMk id="3" creationId="{33F58D86-E745-8398-EC53-280730E5D5C1}"/>
          </ac:spMkLst>
        </pc:spChg>
      </pc:sldChg>
      <pc:sldChg chg="modSp mod">
        <pc:chgData name="Sudheendra Herkal" userId="f3c620e209f08778" providerId="LiveId" clId="{390F9115-5C6B-4E53-8AB4-66FAE89B39F9}" dt="2026-10-14T12:35:40.163" v="119" actId="14100"/>
        <pc:sldMkLst>
          <pc:docMk/>
          <pc:sldMk cId="1068059281" sldId="372"/>
        </pc:sldMkLst>
        <pc:spChg chg="mod">
          <ac:chgData name="Sudheendra Herkal" userId="f3c620e209f08778" providerId="LiveId" clId="{390F9115-5C6B-4E53-8AB4-66FAE89B39F9}" dt="2026-10-14T12:35:40.163" v="119" actId="14100"/>
          <ac:spMkLst>
            <pc:docMk/>
            <pc:sldMk cId="1068059281" sldId="372"/>
            <ac:spMk id="3" creationId="{3FB5178E-317E-C4FC-7F44-24AC46B70C49}"/>
          </ac:spMkLst>
        </pc:spChg>
      </pc:sldChg>
      <pc:sldChg chg="addSp delSp modSp add mod">
        <pc:chgData name="Sudheendra Herkal" userId="f3c620e209f08778" providerId="LiveId" clId="{390F9115-5C6B-4E53-8AB4-66FAE89B39F9}" dt="2026-10-14T05:23:46.607" v="115" actId="164"/>
        <pc:sldMkLst>
          <pc:docMk/>
          <pc:sldMk cId="594496180" sldId="382"/>
        </pc:sldMkLst>
        <pc:spChg chg="mod">
          <ac:chgData name="Sudheendra Herkal" userId="f3c620e209f08778" providerId="LiveId" clId="{390F9115-5C6B-4E53-8AB4-66FAE89B39F9}" dt="2026-10-14T05:21:45.583" v="24" actId="20577"/>
          <ac:spMkLst>
            <pc:docMk/>
            <pc:sldMk cId="594496180" sldId="382"/>
            <ac:spMk id="2" creationId="{3AAD880B-7C0D-54A3-0AFC-CFF02FDA83B5}"/>
          </ac:spMkLst>
        </pc:spChg>
        <pc:spChg chg="add mod">
          <ac:chgData name="Sudheendra Herkal" userId="f3c620e209f08778" providerId="LiveId" clId="{390F9115-5C6B-4E53-8AB4-66FAE89B39F9}" dt="2026-10-14T05:23:46.607" v="115" actId="164"/>
          <ac:spMkLst>
            <pc:docMk/>
            <pc:sldMk cId="594496180" sldId="382"/>
            <ac:spMk id="6" creationId="{58C1BB29-A216-3DB7-8168-9E2C8A0AEA18}"/>
          </ac:spMkLst>
        </pc:spChg>
        <pc:spChg chg="add del mod">
          <ac:chgData name="Sudheendra Herkal" userId="f3c620e209f08778" providerId="LiveId" clId="{390F9115-5C6B-4E53-8AB4-66FAE89B39F9}" dt="2026-10-14T05:22:29.933" v="43" actId="20577"/>
          <ac:spMkLst>
            <pc:docMk/>
            <pc:sldMk cId="594496180" sldId="382"/>
            <ac:spMk id="15" creationId="{7CE62086-5D24-7DCF-A668-C2CCABBBFB97}"/>
          </ac:spMkLst>
        </pc:spChg>
        <pc:spChg chg="add del mod">
          <ac:chgData name="Sudheendra Herkal" userId="f3c620e209f08778" providerId="LiveId" clId="{390F9115-5C6B-4E53-8AB4-66FAE89B39F9}" dt="2026-10-14T05:22:29.933" v="43" actId="20577"/>
          <ac:spMkLst>
            <pc:docMk/>
            <pc:sldMk cId="594496180" sldId="382"/>
            <ac:spMk id="16" creationId="{A18CCFCF-48BD-754C-C746-4BDC59721FC2}"/>
          </ac:spMkLst>
        </pc:spChg>
        <pc:spChg chg="mod">
          <ac:chgData name="Sudheendra Herkal" userId="f3c620e209f08778" providerId="LiveId" clId="{390F9115-5C6B-4E53-8AB4-66FAE89B39F9}" dt="2026-10-14T05:22:29.933" v="43" actId="20577"/>
          <ac:spMkLst>
            <pc:docMk/>
            <pc:sldMk cId="594496180" sldId="382"/>
            <ac:spMk id="17" creationId="{AA463D31-97F9-815E-4351-1DEC5F51F2B9}"/>
          </ac:spMkLst>
        </pc:spChg>
        <pc:spChg chg="mod">
          <ac:chgData name="Sudheendra Herkal" userId="f3c620e209f08778" providerId="LiveId" clId="{390F9115-5C6B-4E53-8AB4-66FAE89B39F9}" dt="2026-10-14T05:22:29.933" v="43" actId="20577"/>
          <ac:spMkLst>
            <pc:docMk/>
            <pc:sldMk cId="594496180" sldId="382"/>
            <ac:spMk id="18" creationId="{3C5F82E3-8853-7DD5-EEA3-AA79A610B5BC}"/>
          </ac:spMkLst>
        </pc:spChg>
        <pc:spChg chg="mod">
          <ac:chgData name="Sudheendra Herkal" userId="f3c620e209f08778" providerId="LiveId" clId="{390F9115-5C6B-4E53-8AB4-66FAE89B39F9}" dt="2026-10-14T05:22:29.933" v="43" actId="20577"/>
          <ac:spMkLst>
            <pc:docMk/>
            <pc:sldMk cId="594496180" sldId="382"/>
            <ac:spMk id="20" creationId="{1A169CC1-9150-21BC-66FC-437842DFF741}"/>
          </ac:spMkLst>
        </pc:spChg>
        <pc:spChg chg="mod">
          <ac:chgData name="Sudheendra Herkal" userId="f3c620e209f08778" providerId="LiveId" clId="{390F9115-5C6B-4E53-8AB4-66FAE89B39F9}" dt="2026-10-14T05:22:29.933" v="43" actId="20577"/>
          <ac:spMkLst>
            <pc:docMk/>
            <pc:sldMk cId="594496180" sldId="382"/>
            <ac:spMk id="21" creationId="{77E0CC8D-F9CF-B7AE-86FA-9B581478AAAA}"/>
          </ac:spMkLst>
        </pc:spChg>
        <pc:spChg chg="add del mod">
          <ac:chgData name="Sudheendra Herkal" userId="f3c620e209f08778" providerId="LiveId" clId="{390F9115-5C6B-4E53-8AB4-66FAE89B39F9}" dt="2026-10-14T05:22:29.933" v="43" actId="20577"/>
          <ac:spMkLst>
            <pc:docMk/>
            <pc:sldMk cId="594496180" sldId="382"/>
            <ac:spMk id="22" creationId="{D64339D6-16C8-1373-22A0-474D48C6088C}"/>
          </ac:spMkLst>
        </pc:spChg>
        <pc:spChg chg="mod">
          <ac:chgData name="Sudheendra Herkal" userId="f3c620e209f08778" providerId="LiveId" clId="{390F9115-5C6B-4E53-8AB4-66FAE89B39F9}" dt="2026-10-14T05:23:13.991" v="80" actId="20577"/>
          <ac:spMkLst>
            <pc:docMk/>
            <pc:sldMk cId="594496180" sldId="382"/>
            <ac:spMk id="32" creationId="{415AF25A-EDF5-A5DD-DBE1-DCD19C6B32CC}"/>
          </ac:spMkLst>
        </pc:spChg>
        <pc:spChg chg="mod">
          <ac:chgData name="Sudheendra Herkal" userId="f3c620e209f08778" providerId="LiveId" clId="{390F9115-5C6B-4E53-8AB4-66FAE89B39F9}" dt="2026-10-14T05:22:29.933" v="43" actId="20577"/>
          <ac:spMkLst>
            <pc:docMk/>
            <pc:sldMk cId="594496180" sldId="382"/>
            <ac:spMk id="33" creationId="{10474EA5-85B1-E9E2-3BFD-DBBD0F816D76}"/>
          </ac:spMkLst>
        </pc:spChg>
        <pc:spChg chg="del mod">
          <ac:chgData name="Sudheendra Herkal" userId="f3c620e209f08778" providerId="LiveId" clId="{390F9115-5C6B-4E53-8AB4-66FAE89B39F9}" dt="2026-10-14T05:22:52.174" v="61" actId="478"/>
          <ac:spMkLst>
            <pc:docMk/>
            <pc:sldMk cId="594496180" sldId="382"/>
            <ac:spMk id="34" creationId="{5C25AB3F-AEF8-1963-3B71-047B1E2B8F63}"/>
          </ac:spMkLst>
        </pc:spChg>
        <pc:spChg chg="mod">
          <ac:chgData name="Sudheendra Herkal" userId="f3c620e209f08778" providerId="LiveId" clId="{390F9115-5C6B-4E53-8AB4-66FAE89B39F9}" dt="2026-10-14T05:22:29.933" v="43" actId="20577"/>
          <ac:spMkLst>
            <pc:docMk/>
            <pc:sldMk cId="594496180" sldId="382"/>
            <ac:spMk id="36" creationId="{0DD38A09-539F-D59D-F11E-DAE0C1635C2F}"/>
          </ac:spMkLst>
        </pc:spChg>
        <pc:spChg chg="mod">
          <ac:chgData name="Sudheendra Herkal" userId="f3c620e209f08778" providerId="LiveId" clId="{390F9115-5C6B-4E53-8AB4-66FAE89B39F9}" dt="2026-10-14T05:22:29.933" v="43" actId="20577"/>
          <ac:spMkLst>
            <pc:docMk/>
            <pc:sldMk cId="594496180" sldId="382"/>
            <ac:spMk id="39" creationId="{9EF86E2F-0A5F-5191-632B-1DF1A4FC07B8}"/>
          </ac:spMkLst>
        </pc:spChg>
        <pc:spChg chg="mod">
          <ac:chgData name="Sudheendra Herkal" userId="f3c620e209f08778" providerId="LiveId" clId="{390F9115-5C6B-4E53-8AB4-66FAE89B39F9}" dt="2026-10-14T05:22:29.933" v="43" actId="20577"/>
          <ac:spMkLst>
            <pc:docMk/>
            <pc:sldMk cId="594496180" sldId="382"/>
            <ac:spMk id="40" creationId="{7626467E-15FF-E546-26D8-E4E3B017238B}"/>
          </ac:spMkLst>
        </pc:spChg>
        <pc:spChg chg="mod">
          <ac:chgData name="Sudheendra Herkal" userId="f3c620e209f08778" providerId="LiveId" clId="{390F9115-5C6B-4E53-8AB4-66FAE89B39F9}" dt="2026-10-14T05:22:29.933" v="43" actId="20577"/>
          <ac:spMkLst>
            <pc:docMk/>
            <pc:sldMk cId="594496180" sldId="382"/>
            <ac:spMk id="41" creationId="{73407109-3520-1E05-44B7-EEFB81141B9A}"/>
          </ac:spMkLst>
        </pc:spChg>
        <pc:spChg chg="mod">
          <ac:chgData name="Sudheendra Herkal" userId="f3c620e209f08778" providerId="LiveId" clId="{390F9115-5C6B-4E53-8AB4-66FAE89B39F9}" dt="2026-10-14T05:22:29.933" v="43" actId="20577"/>
          <ac:spMkLst>
            <pc:docMk/>
            <pc:sldMk cId="594496180" sldId="382"/>
            <ac:spMk id="42" creationId="{CDD4C2CC-CCD8-261F-963D-38EC7D223AF0}"/>
          </ac:spMkLst>
        </pc:spChg>
        <pc:spChg chg="mod">
          <ac:chgData name="Sudheendra Herkal" userId="f3c620e209f08778" providerId="LiveId" clId="{390F9115-5C6B-4E53-8AB4-66FAE89B39F9}" dt="2026-10-14T05:22:29.933" v="43" actId="20577"/>
          <ac:spMkLst>
            <pc:docMk/>
            <pc:sldMk cId="594496180" sldId="382"/>
            <ac:spMk id="43" creationId="{56EB57BD-43C4-16C8-B2F1-08AAB58BF1BF}"/>
          </ac:spMkLst>
        </pc:spChg>
        <pc:spChg chg="mod topLvl">
          <ac:chgData name="Sudheendra Herkal" userId="f3c620e209f08778" providerId="LiveId" clId="{390F9115-5C6B-4E53-8AB4-66FAE89B39F9}" dt="2026-10-14T05:22:29.933" v="43" actId="20577"/>
          <ac:spMkLst>
            <pc:docMk/>
            <pc:sldMk cId="594496180" sldId="382"/>
            <ac:spMk id="46" creationId="{6203ED6C-8EAD-2700-1AAE-6C5CD2F50E26}"/>
          </ac:spMkLst>
        </pc:spChg>
        <pc:spChg chg="mod topLvl">
          <ac:chgData name="Sudheendra Herkal" userId="f3c620e209f08778" providerId="LiveId" clId="{390F9115-5C6B-4E53-8AB4-66FAE89B39F9}" dt="2026-10-14T05:23:00.602" v="71" actId="20577"/>
          <ac:spMkLst>
            <pc:docMk/>
            <pc:sldMk cId="594496180" sldId="382"/>
            <ac:spMk id="47" creationId="{17CECA8F-5A19-379E-141B-0B2266AFC05F}"/>
          </ac:spMkLst>
        </pc:spChg>
        <pc:spChg chg="mod topLvl">
          <ac:chgData name="Sudheendra Herkal" userId="f3c620e209f08778" providerId="LiveId" clId="{390F9115-5C6B-4E53-8AB4-66FAE89B39F9}" dt="2026-10-14T05:22:29.933" v="43" actId="20577"/>
          <ac:spMkLst>
            <pc:docMk/>
            <pc:sldMk cId="594496180" sldId="382"/>
            <ac:spMk id="48" creationId="{CCAE2B41-3A29-AE1D-937B-920E63D8DDC7}"/>
          </ac:spMkLst>
        </pc:spChg>
        <pc:spChg chg="mod topLvl">
          <ac:chgData name="Sudheendra Herkal" userId="f3c620e209f08778" providerId="LiveId" clId="{390F9115-5C6B-4E53-8AB4-66FAE89B39F9}" dt="2026-10-14T05:23:04.094" v="72" actId="20577"/>
          <ac:spMkLst>
            <pc:docMk/>
            <pc:sldMk cId="594496180" sldId="382"/>
            <ac:spMk id="49" creationId="{73C086C4-FA37-9DAD-43A1-900198B1D7A7}"/>
          </ac:spMkLst>
        </pc:spChg>
        <pc:spChg chg="mod">
          <ac:chgData name="Sudheendra Herkal" userId="f3c620e209f08778" providerId="LiveId" clId="{390F9115-5C6B-4E53-8AB4-66FAE89B39F9}" dt="2026-10-14T05:23:09.599" v="76" actId="20577"/>
          <ac:spMkLst>
            <pc:docMk/>
            <pc:sldMk cId="594496180" sldId="382"/>
            <ac:spMk id="51" creationId="{2B8D44D4-3AD3-2CA6-B911-3348E87BEEE2}"/>
          </ac:spMkLst>
        </pc:spChg>
        <pc:spChg chg="add del mod">
          <ac:chgData name="Sudheendra Herkal" userId="f3c620e209f08778" providerId="LiveId" clId="{390F9115-5C6B-4E53-8AB4-66FAE89B39F9}" dt="2026-10-14T05:22:48.758" v="60" actId="20577"/>
          <ac:spMkLst>
            <pc:docMk/>
            <pc:sldMk cId="594496180" sldId="382"/>
            <ac:spMk id="52" creationId="{649AB5D9-FD29-F599-DBE2-E94DDBDEC90A}"/>
          </ac:spMkLst>
        </pc:spChg>
        <pc:grpChg chg="add mod">
          <ac:chgData name="Sudheendra Herkal" userId="f3c620e209f08778" providerId="LiveId" clId="{390F9115-5C6B-4E53-8AB4-66FAE89B39F9}" dt="2026-10-14T05:23:46.607" v="115" actId="164"/>
          <ac:grpSpMkLst>
            <pc:docMk/>
            <pc:sldMk cId="594496180" sldId="382"/>
            <ac:grpSpMk id="7" creationId="{B3170C5D-CA3A-0B9C-DB51-8D06EB4DC124}"/>
          </ac:grpSpMkLst>
        </pc:grpChg>
        <pc:grpChg chg="mod">
          <ac:chgData name="Sudheendra Herkal" userId="f3c620e209f08778" providerId="LiveId" clId="{390F9115-5C6B-4E53-8AB4-66FAE89B39F9}" dt="2026-10-14T05:22:29.933" v="43" actId="20577"/>
          <ac:grpSpMkLst>
            <pc:docMk/>
            <pc:sldMk cId="594496180" sldId="382"/>
            <ac:grpSpMk id="44" creationId="{C6688754-1A49-22BA-5A59-2DAE6C04862F}"/>
          </ac:grpSpMkLst>
        </pc:grpChg>
        <pc:grpChg chg="mod topLvl">
          <ac:chgData name="Sudheendra Herkal" userId="f3c620e209f08778" providerId="LiveId" clId="{390F9115-5C6B-4E53-8AB4-66FAE89B39F9}" dt="2026-10-14T05:22:29.933" v="43" actId="20577"/>
          <ac:grpSpMkLst>
            <pc:docMk/>
            <pc:sldMk cId="594496180" sldId="382"/>
            <ac:grpSpMk id="45" creationId="{3F8229FC-6405-913B-16A2-A27919FBC4F6}"/>
          </ac:grpSpMkLst>
        </pc:grpChg>
        <pc:grpChg chg="add del mod">
          <ac:chgData name="Sudheendra Herkal" userId="f3c620e209f08778" providerId="LiveId" clId="{390F9115-5C6B-4E53-8AB4-66FAE89B39F9}" dt="2026-10-14T05:23:46.607" v="115" actId="164"/>
          <ac:grpSpMkLst>
            <pc:docMk/>
            <pc:sldMk cId="594496180" sldId="382"/>
            <ac:grpSpMk id="50" creationId="{36DAC4AB-E243-8C90-45A4-D72D3EF49305}"/>
          </ac:grpSpMkLst>
        </pc:grpChg>
        <pc:cxnChg chg="add mod">
          <ac:chgData name="Sudheendra Herkal" userId="f3c620e209f08778" providerId="LiveId" clId="{390F9115-5C6B-4E53-8AB4-66FAE89B39F9}" dt="2026-10-14T05:23:46.607" v="115" actId="164"/>
          <ac:cxnSpMkLst>
            <pc:docMk/>
            <pc:sldMk cId="594496180" sldId="382"/>
            <ac:cxnSpMk id="4" creationId="{5970B7D7-A1A8-B551-57F9-77C53E6947B4}"/>
          </ac:cxnSpMkLst>
        </pc:cxnChg>
        <pc:cxnChg chg="mod">
          <ac:chgData name="Sudheendra Herkal" userId="f3c620e209f08778" providerId="LiveId" clId="{390F9115-5C6B-4E53-8AB4-66FAE89B39F9}" dt="2026-10-14T05:22:29.933" v="43" actId="20577"/>
          <ac:cxnSpMkLst>
            <pc:docMk/>
            <pc:sldMk cId="594496180" sldId="382"/>
            <ac:cxnSpMk id="5" creationId="{22A976A9-32C3-AF2A-B0D7-CE7CF9982BC4}"/>
          </ac:cxnSpMkLst>
        </pc:cxnChg>
        <pc:cxnChg chg="mod">
          <ac:chgData name="Sudheendra Herkal" userId="f3c620e209f08778" providerId="LiveId" clId="{390F9115-5C6B-4E53-8AB4-66FAE89B39F9}" dt="2026-10-14T05:22:29.933" v="43" actId="20577"/>
          <ac:cxnSpMkLst>
            <pc:docMk/>
            <pc:sldMk cId="594496180" sldId="382"/>
            <ac:cxnSpMk id="8" creationId="{D5CB7729-DD61-9440-7928-1388ED6C7A39}"/>
          </ac:cxnSpMkLst>
        </pc:cxnChg>
        <pc:cxnChg chg="mod">
          <ac:chgData name="Sudheendra Herkal" userId="f3c620e209f08778" providerId="LiveId" clId="{390F9115-5C6B-4E53-8AB4-66FAE89B39F9}" dt="2026-10-14T05:22:29.933" v="43" actId="20577"/>
          <ac:cxnSpMkLst>
            <pc:docMk/>
            <pc:sldMk cId="594496180" sldId="382"/>
            <ac:cxnSpMk id="9" creationId="{EE546324-D820-90BC-B683-81D5F55D0FC7}"/>
          </ac:cxnSpMkLst>
        </pc:cxnChg>
        <pc:cxnChg chg="mod">
          <ac:chgData name="Sudheendra Herkal" userId="f3c620e209f08778" providerId="LiveId" clId="{390F9115-5C6B-4E53-8AB4-66FAE89B39F9}" dt="2026-10-14T05:22:29.933" v="43" actId="20577"/>
          <ac:cxnSpMkLst>
            <pc:docMk/>
            <pc:sldMk cId="594496180" sldId="382"/>
            <ac:cxnSpMk id="11" creationId="{71749ABE-2366-88F3-AE7D-6344634FC3A1}"/>
          </ac:cxnSpMkLst>
        </pc:cxnChg>
        <pc:cxnChg chg="mod">
          <ac:chgData name="Sudheendra Herkal" userId="f3c620e209f08778" providerId="LiveId" clId="{390F9115-5C6B-4E53-8AB4-66FAE89B39F9}" dt="2026-10-14T05:22:29.933" v="43" actId="20577"/>
          <ac:cxnSpMkLst>
            <pc:docMk/>
            <pc:sldMk cId="594496180" sldId="382"/>
            <ac:cxnSpMk id="12" creationId="{D94F45E3-9250-6BA4-3D6E-BEBD5077DD69}"/>
          </ac:cxnSpMkLst>
        </pc:cxnChg>
        <pc:cxnChg chg="mod">
          <ac:chgData name="Sudheendra Herkal" userId="f3c620e209f08778" providerId="LiveId" clId="{390F9115-5C6B-4E53-8AB4-66FAE89B39F9}" dt="2026-10-14T05:22:29.933" v="43" actId="20577"/>
          <ac:cxnSpMkLst>
            <pc:docMk/>
            <pc:sldMk cId="594496180" sldId="382"/>
            <ac:cxnSpMk id="13" creationId="{4C760533-0CAF-6AE8-57CA-C499390D2067}"/>
          </ac:cxnSpMkLst>
        </pc:cxnChg>
        <pc:cxnChg chg="mod">
          <ac:chgData name="Sudheendra Herkal" userId="f3c620e209f08778" providerId="LiveId" clId="{390F9115-5C6B-4E53-8AB4-66FAE89B39F9}" dt="2026-10-14T05:22:29.933" v="43" actId="20577"/>
          <ac:cxnSpMkLst>
            <pc:docMk/>
            <pc:sldMk cId="594496180" sldId="382"/>
            <ac:cxnSpMk id="14" creationId="{C57568DB-5A0B-C016-BD62-B989B11F59C3}"/>
          </ac:cxnSpMkLst>
        </pc:cxnChg>
        <pc:cxnChg chg="mod">
          <ac:chgData name="Sudheendra Herkal" userId="f3c620e209f08778" providerId="LiveId" clId="{390F9115-5C6B-4E53-8AB4-66FAE89B39F9}" dt="2026-10-14T05:22:29.933" v="43" actId="20577"/>
          <ac:cxnSpMkLst>
            <pc:docMk/>
            <pc:sldMk cId="594496180" sldId="382"/>
            <ac:cxnSpMk id="24" creationId="{1F1CDF48-0707-C60B-39BB-51E2A24F9F5A}"/>
          </ac:cxnSpMkLst>
        </pc:cxnChg>
        <pc:cxnChg chg="mod">
          <ac:chgData name="Sudheendra Herkal" userId="f3c620e209f08778" providerId="LiveId" clId="{390F9115-5C6B-4E53-8AB4-66FAE89B39F9}" dt="2026-10-14T05:22:29.933" v="43" actId="20577"/>
          <ac:cxnSpMkLst>
            <pc:docMk/>
            <pc:sldMk cId="594496180" sldId="382"/>
            <ac:cxnSpMk id="25" creationId="{012434FE-CDEE-4C99-496F-421A0B62572B}"/>
          </ac:cxnSpMkLst>
        </pc:cxnChg>
        <pc:cxnChg chg="add del mod">
          <ac:chgData name="Sudheendra Herkal" userId="f3c620e209f08778" providerId="LiveId" clId="{390F9115-5C6B-4E53-8AB4-66FAE89B39F9}" dt="2026-10-14T05:22:29.933" v="43" actId="20577"/>
          <ac:cxnSpMkLst>
            <pc:docMk/>
            <pc:sldMk cId="594496180" sldId="382"/>
            <ac:cxnSpMk id="30" creationId="{0F847E4D-725C-9A73-89CC-6FB76AF137C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790006-4F15-49C5-9342-FAA5B5B69260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479FC-F582-4B96-A98D-4C9FD4995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55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700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005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D775B-E9DC-B01F-7738-D9FEEF99D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249AE-C7F0-1286-F391-CE47B3EEB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C915F7-9F36-05B7-DFAA-8E49E99A5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88D7C-2850-FB34-619C-B964CD230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555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𝑠𝑖𝑛𝑐</m:t>
                    </m:r>
                  </m:oMath>
                </a14:m>
                <a:r>
                  <a:rPr lang="en-IN" dirty="0"/>
                  <a:t>(x) = sin(pi x)/ pi x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0" i="0">
                    <a:latin typeface="Cambria Math" panose="02040503050406030204" pitchFamily="18" charset="0"/>
                  </a:rPr>
                  <a:t>𝑠𝑖𝑛𝑐</a:t>
                </a:r>
                <a:r>
                  <a:rPr lang="en-IN" dirty="0"/>
                  <a:t>(x) = sin(pi x)/ pi x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401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18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052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if you would have tried to fit a cosine here, you would have gotten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016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3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82" y="0"/>
            <a:ext cx="10581017" cy="74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882" y="871269"/>
            <a:ext cx="10581017" cy="517584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245-2451831_iit-madras-logo – Department of Ocean Engineering">
            <a:extLst>
              <a:ext uri="{FF2B5EF4-FFF2-40B4-BE49-F238E27FC236}">
                <a16:creationId xmlns:a16="http://schemas.microsoft.com/office/drawing/2014/main" id="{E32644BA-629A-CD46-8E1C-CEC2D0880B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7389" y="6356350"/>
            <a:ext cx="452887" cy="47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69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4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0"/>
            <a:ext cx="10691265" cy="7524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911" y="1145666"/>
            <a:ext cx="5212080" cy="4816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9552" y="1138807"/>
            <a:ext cx="5212080" cy="482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1793DA-7BEB-53E6-7883-ED7DB38473EB}"/>
              </a:ext>
            </a:extLst>
          </p:cNvPr>
          <p:cNvCxnSpPr/>
          <p:nvPr userDrawn="1"/>
        </p:nvCxnSpPr>
        <p:spPr>
          <a:xfrm>
            <a:off x="5857875" y="885825"/>
            <a:ext cx="0" cy="51816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91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46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0"/>
            <a:ext cx="10691265" cy="7159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88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948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867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7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44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50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59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1.png"/><Relationship Id="rId3" Type="http://schemas.openxmlformats.org/officeDocument/2006/relationships/image" Target="../media/image37.png"/><Relationship Id="rId21" Type="http://schemas.openxmlformats.org/officeDocument/2006/relationships/image" Target="../media/image14.png"/><Relationship Id="rId1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8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15" Type="http://schemas.openxmlformats.org/officeDocument/2006/relationships/image" Target="../media/image49.png"/><Relationship Id="rId19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43.png"/><Relationship Id="rId22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8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1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3.png"/><Relationship Id="rId3" Type="http://schemas.openxmlformats.org/officeDocument/2006/relationships/image" Target="../media/image22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0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image" Target="../media/image30.png"/><Relationship Id="rId5" Type="http://schemas.openxmlformats.org/officeDocument/2006/relationships/image" Target="../media/image240.png"/><Relationship Id="rId15" Type="http://schemas.openxmlformats.org/officeDocument/2006/relationships/image" Target="../media/image35.png"/><Relationship Id="rId10" Type="http://schemas.openxmlformats.org/officeDocument/2006/relationships/image" Target="../media/image29.png"/><Relationship Id="rId4" Type="http://schemas.openxmlformats.org/officeDocument/2006/relationships/image" Target="../media/image230.png"/><Relationship Id="rId9" Type="http://schemas.openxmlformats.org/officeDocument/2006/relationships/image" Target="../media/image28.png"/><Relationship Id="rId1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A close up of a blue and white swirl&#10;&#10;Description automatically generated">
            <a:extLst>
              <a:ext uri="{FF2B5EF4-FFF2-40B4-BE49-F238E27FC236}">
                <a16:creationId xmlns:a16="http://schemas.microsoft.com/office/drawing/2014/main" id="{6939927E-2F68-C3D7-105F-82888B4BF9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3" b="477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BE441-9013-3A7F-EB64-42A80AA1D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0"/>
            <a:ext cx="10714984" cy="960120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en-US" sz="2800" dirty="0"/>
              <a:t>CV5100: Modelling, Uncertainty and Data for Engineers</a:t>
            </a:r>
            <a:br>
              <a:rPr lang="en-US" sz="2800" dirty="0"/>
            </a:br>
            <a:r>
              <a:rPr lang="en-US" sz="2800" dirty="0"/>
              <a:t>MODULE 1: Signal processing, lecture 3-4: Fourier Transform</a:t>
            </a:r>
            <a:endParaRPr lang="en-IN" sz="2800" dirty="0"/>
          </a:p>
        </p:txBody>
      </p:sp>
      <p:pic>
        <p:nvPicPr>
          <p:cNvPr id="5" name="Picture 2" descr="245-2451831_iit-madras-logo – Department of Ocean Engineering">
            <a:extLst>
              <a:ext uri="{FF2B5EF4-FFF2-40B4-BE49-F238E27FC236}">
                <a16:creationId xmlns:a16="http://schemas.microsoft.com/office/drawing/2014/main" id="{EDE4E1B6-2073-51C9-2C04-E2CCA4B2E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025" y="5715000"/>
            <a:ext cx="836935" cy="87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93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3AF4060-A141-E605-BCCD-AE2601D05864}"/>
                  </a:ext>
                </a:extLst>
              </p:cNvPr>
              <p:cNvSpPr txBox="1"/>
              <p:nvPr/>
            </p:nvSpPr>
            <p:spPr>
              <a:xfrm rot="1021111">
                <a:off x="697135" y="2207795"/>
                <a:ext cx="13132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3AF4060-A141-E605-BCCD-AE2601D05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21111">
                <a:off x="697135" y="2207795"/>
                <a:ext cx="13132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56D7D01-53AA-297F-03A3-522579313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</a:t>
            </a:r>
            <a:r>
              <a:rPr lang="en-US" dirty="0" err="1"/>
              <a:t>fourier</a:t>
            </a:r>
            <a:r>
              <a:rPr lang="en-US" dirty="0"/>
              <a:t> series</a:t>
            </a:r>
            <a:endParaRPr lang="en-IN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E80D267-9020-FB74-A033-DCB0C000844E}"/>
              </a:ext>
            </a:extLst>
          </p:cNvPr>
          <p:cNvGrpSpPr/>
          <p:nvPr/>
        </p:nvGrpSpPr>
        <p:grpSpPr>
          <a:xfrm>
            <a:off x="582709" y="797250"/>
            <a:ext cx="11417684" cy="5212446"/>
            <a:chOff x="582709" y="797250"/>
            <a:chExt cx="11417684" cy="5212446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9945260-D12A-BE42-8F9A-347CB0236BBB}"/>
                </a:ext>
              </a:extLst>
            </p:cNvPr>
            <p:cNvGrpSpPr/>
            <p:nvPr/>
          </p:nvGrpSpPr>
          <p:grpSpPr>
            <a:xfrm>
              <a:off x="582709" y="797250"/>
              <a:ext cx="11417684" cy="5212446"/>
              <a:chOff x="664903" y="1772642"/>
              <a:chExt cx="11417684" cy="5212446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907E593-051A-6DFF-D782-43E10EB97FD1}"/>
                  </a:ext>
                </a:extLst>
              </p:cNvPr>
              <p:cNvSpPr/>
              <p:nvPr/>
            </p:nvSpPr>
            <p:spPr>
              <a:xfrm>
                <a:off x="6343165" y="3800851"/>
                <a:ext cx="4471398" cy="3184237"/>
              </a:xfrm>
              <a:custGeom>
                <a:avLst/>
                <a:gdLst>
                  <a:gd name="connsiteX0" fmla="*/ 4078841 w 4078841"/>
                  <a:gd name="connsiteY0" fmla="*/ 1818526 h 2907587"/>
                  <a:gd name="connsiteX1" fmla="*/ 0 w 4078841"/>
                  <a:gd name="connsiteY1" fmla="*/ 2907587 h 2907587"/>
                  <a:gd name="connsiteX2" fmla="*/ 0 w 4078841"/>
                  <a:gd name="connsiteY2" fmla="*/ 934949 h 2907587"/>
                  <a:gd name="connsiteX3" fmla="*/ 3924728 w 4078841"/>
                  <a:gd name="connsiteY3" fmla="*/ 30823 h 2907587"/>
                  <a:gd name="connsiteX4" fmla="*/ 4037744 w 4078841"/>
                  <a:gd name="connsiteY4" fmla="*/ 0 h 2907587"/>
                  <a:gd name="connsiteX5" fmla="*/ 4078841 w 4078841"/>
                  <a:gd name="connsiteY5" fmla="*/ 1818526 h 2907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78841" h="2907587">
                    <a:moveTo>
                      <a:pt x="4078841" y="1818526"/>
                    </a:moveTo>
                    <a:lnTo>
                      <a:pt x="0" y="2907587"/>
                    </a:lnTo>
                    <a:lnTo>
                      <a:pt x="0" y="934949"/>
                    </a:lnTo>
                    <a:lnTo>
                      <a:pt x="3924728" y="30823"/>
                    </a:lnTo>
                    <a:lnTo>
                      <a:pt x="4037744" y="0"/>
                    </a:lnTo>
                    <a:lnTo>
                      <a:pt x="4078841" y="1818526"/>
                    </a:lnTo>
                    <a:close/>
                  </a:path>
                </a:pathLst>
              </a:custGeom>
              <a:solidFill>
                <a:srgbClr val="00B0F0">
                  <a:alpha val="3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04F23442-30B3-E64C-1CF7-A7D2778476DA}"/>
                  </a:ext>
                </a:extLst>
              </p:cNvPr>
              <p:cNvGrpSpPr/>
              <p:nvPr/>
            </p:nvGrpSpPr>
            <p:grpSpPr>
              <a:xfrm>
                <a:off x="664903" y="1772642"/>
                <a:ext cx="11417684" cy="4780019"/>
                <a:chOff x="664903" y="1772642"/>
                <a:chExt cx="11417684" cy="4780019"/>
              </a:xfrm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EEB6DD7D-D02A-155B-642F-65F2C8E95D76}"/>
                    </a:ext>
                  </a:extLst>
                </p:cNvPr>
                <p:cNvSpPr/>
                <p:nvPr/>
              </p:nvSpPr>
              <p:spPr>
                <a:xfrm>
                  <a:off x="664903" y="2014860"/>
                  <a:ext cx="4471398" cy="3184237"/>
                </a:xfrm>
                <a:custGeom>
                  <a:avLst/>
                  <a:gdLst>
                    <a:gd name="connsiteX0" fmla="*/ 4078841 w 4078841"/>
                    <a:gd name="connsiteY0" fmla="*/ 1818526 h 2907587"/>
                    <a:gd name="connsiteX1" fmla="*/ 0 w 4078841"/>
                    <a:gd name="connsiteY1" fmla="*/ 2907587 h 2907587"/>
                    <a:gd name="connsiteX2" fmla="*/ 0 w 4078841"/>
                    <a:gd name="connsiteY2" fmla="*/ 934949 h 2907587"/>
                    <a:gd name="connsiteX3" fmla="*/ 3924728 w 4078841"/>
                    <a:gd name="connsiteY3" fmla="*/ 30823 h 2907587"/>
                    <a:gd name="connsiteX4" fmla="*/ 4037744 w 4078841"/>
                    <a:gd name="connsiteY4" fmla="*/ 0 h 2907587"/>
                    <a:gd name="connsiteX5" fmla="*/ 4078841 w 4078841"/>
                    <a:gd name="connsiteY5" fmla="*/ 1818526 h 2907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078841" h="2907587">
                      <a:moveTo>
                        <a:pt x="4078841" y="1818526"/>
                      </a:moveTo>
                      <a:lnTo>
                        <a:pt x="0" y="2907587"/>
                      </a:lnTo>
                      <a:lnTo>
                        <a:pt x="0" y="934949"/>
                      </a:lnTo>
                      <a:lnTo>
                        <a:pt x="3924728" y="30823"/>
                      </a:lnTo>
                      <a:lnTo>
                        <a:pt x="4037744" y="0"/>
                      </a:lnTo>
                      <a:lnTo>
                        <a:pt x="4078841" y="1818526"/>
                      </a:lnTo>
                      <a:close/>
                    </a:path>
                  </a:pathLst>
                </a:custGeom>
                <a:solidFill>
                  <a:srgbClr val="00B0F0">
                    <a:alpha val="3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0CE71557-94E5-9FD3-7069-77ECC0374285}"/>
                    </a:ext>
                  </a:extLst>
                </p:cNvPr>
                <p:cNvSpPr/>
                <p:nvPr/>
              </p:nvSpPr>
              <p:spPr>
                <a:xfrm>
                  <a:off x="3276037" y="2999092"/>
                  <a:ext cx="4471398" cy="3184237"/>
                </a:xfrm>
                <a:custGeom>
                  <a:avLst/>
                  <a:gdLst>
                    <a:gd name="connsiteX0" fmla="*/ 4078841 w 4078841"/>
                    <a:gd name="connsiteY0" fmla="*/ 1818526 h 2907587"/>
                    <a:gd name="connsiteX1" fmla="*/ 0 w 4078841"/>
                    <a:gd name="connsiteY1" fmla="*/ 2907587 h 2907587"/>
                    <a:gd name="connsiteX2" fmla="*/ 0 w 4078841"/>
                    <a:gd name="connsiteY2" fmla="*/ 934949 h 2907587"/>
                    <a:gd name="connsiteX3" fmla="*/ 3924728 w 4078841"/>
                    <a:gd name="connsiteY3" fmla="*/ 30823 h 2907587"/>
                    <a:gd name="connsiteX4" fmla="*/ 4037744 w 4078841"/>
                    <a:gd name="connsiteY4" fmla="*/ 0 h 2907587"/>
                    <a:gd name="connsiteX5" fmla="*/ 4078841 w 4078841"/>
                    <a:gd name="connsiteY5" fmla="*/ 1818526 h 2907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078841" h="2907587">
                      <a:moveTo>
                        <a:pt x="4078841" y="1818526"/>
                      </a:moveTo>
                      <a:lnTo>
                        <a:pt x="0" y="2907587"/>
                      </a:lnTo>
                      <a:lnTo>
                        <a:pt x="0" y="934949"/>
                      </a:lnTo>
                      <a:lnTo>
                        <a:pt x="3924728" y="30823"/>
                      </a:lnTo>
                      <a:lnTo>
                        <a:pt x="4037744" y="0"/>
                      </a:lnTo>
                      <a:lnTo>
                        <a:pt x="4078841" y="1818526"/>
                      </a:lnTo>
                      <a:close/>
                    </a:path>
                  </a:pathLst>
                </a:custGeom>
                <a:solidFill>
                  <a:srgbClr val="00B0F0">
                    <a:alpha val="3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5" name="Straight Arrow Connector 4">
                  <a:extLst>
                    <a:ext uri="{FF2B5EF4-FFF2-40B4-BE49-F238E27FC236}">
                      <a16:creationId xmlns:a16="http://schemas.microsoft.com/office/drawing/2014/main" id="{6BB380C4-3EAD-89DC-5AAC-401DD702A9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43171" y="3257659"/>
                  <a:ext cx="9371392" cy="2850738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82699B1F-A67D-A998-34A4-A2BD4DF1FB8A}"/>
                    </a:ext>
                  </a:extLst>
                </p:cNvPr>
                <p:cNvCxnSpPr/>
                <p:nvPr/>
              </p:nvCxnSpPr>
              <p:spPr>
                <a:xfrm flipV="1">
                  <a:off x="5511737" y="2733676"/>
                  <a:ext cx="0" cy="174660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0D0B3F62-4798-2875-128C-5374158E60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1737" y="3833012"/>
                  <a:ext cx="2488059" cy="647271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0E51DBBA-6332-D4AC-59E9-B3CB9E94BA86}"/>
                    </a:ext>
                  </a:extLst>
                </p:cNvPr>
                <p:cNvCxnSpPr/>
                <p:nvPr/>
              </p:nvCxnSpPr>
              <p:spPr>
                <a:xfrm flipV="1">
                  <a:off x="8548607" y="3646363"/>
                  <a:ext cx="0" cy="174660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844DC3F0-C269-D72C-A13A-AF716FDDBC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48607" y="4745699"/>
                  <a:ext cx="2488059" cy="647271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E551A250-6A44-6D82-6B3C-F53D9AD05953}"/>
                    </a:ext>
                  </a:extLst>
                </p:cNvPr>
                <p:cNvCxnSpPr/>
                <p:nvPr/>
              </p:nvCxnSpPr>
              <p:spPr>
                <a:xfrm flipV="1">
                  <a:off x="2749273" y="1899756"/>
                  <a:ext cx="0" cy="174660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14136569-4A82-282C-5110-C8F5BC6825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49273" y="2999092"/>
                  <a:ext cx="2488059" cy="647271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B092CB96-F4B1-5B58-22BF-8453CEF696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46222" y="6183329"/>
                      <a:ext cx="103769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𝐹𝑟𝑒𝑞𝑢𝑒𝑛𝑐𝑦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B092CB96-F4B1-5B58-22BF-8453CEF696F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046222" y="6183329"/>
                      <a:ext cx="1037690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1765" r="-24706" b="-131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B5FD98A4-A392-DF8E-89EC-BE455BFCC18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69263" y="4464242"/>
                      <a:ext cx="877504" cy="6463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n-US" b="0" dirty="0"/>
                    </a:p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B5FD98A4-A392-DF8E-89EC-BE455BFCC18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69263" y="4464242"/>
                      <a:ext cx="877504" cy="646331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3C5DB886-6F0C-3329-53AC-736AA7782F3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76795" y="5418817"/>
                      <a:ext cx="877504" cy="9367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oMath>
                        </m:oMathPara>
                      </a14:m>
                      <a:endParaRPr lang="en-US" b="0" dirty="0"/>
                    </a:p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3C5DB886-6F0C-3329-53AC-736AA7782F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76795" y="5418817"/>
                      <a:ext cx="877504" cy="93679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DCA1BAC-74AA-3823-CB40-84BE047490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82371" y="3585365"/>
                      <a:ext cx="1105933" cy="9367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oMath>
                        </m:oMathPara>
                      </a14:m>
                      <a:endParaRPr lang="en-US" b="0" dirty="0"/>
                    </a:p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=−1 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DCA1BAC-74AA-3823-CB40-84BE047490C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82371" y="3585365"/>
                      <a:ext cx="1105933" cy="93679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80F732C6-8727-3DF3-C7D6-7DC09A1659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48607" y="4341074"/>
                  <a:ext cx="548812" cy="1051896"/>
                </a:xfrm>
                <a:prstGeom prst="straightConnector1">
                  <a:avLst/>
                </a:prstGeom>
                <a:ln w="57150">
                  <a:solidFill>
                    <a:srgbClr val="00206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E91BB9EE-5D3F-6572-2320-918E640CEC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48672" y="3642974"/>
                  <a:ext cx="661453" cy="740375"/>
                </a:xfrm>
                <a:prstGeom prst="straightConnector1">
                  <a:avLst/>
                </a:prstGeom>
                <a:ln w="57150">
                  <a:solidFill>
                    <a:srgbClr val="00206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6FEA775F-FE01-36F0-B6C9-EA541D7F9E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511736" y="4205288"/>
                  <a:ext cx="1089089" cy="274995"/>
                </a:xfrm>
                <a:prstGeom prst="straightConnector1">
                  <a:avLst/>
                </a:prstGeom>
                <a:ln w="57150">
                  <a:solidFill>
                    <a:srgbClr val="00206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CAF527BD-67CE-3788-1B48-D71C7A0DF4A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28867" y="3787315"/>
                      <a:ext cx="37543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CAF527BD-67CE-3788-1B48-D71C7A0DF4A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28867" y="3787315"/>
                      <a:ext cx="375437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r="-327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8A666D6F-629D-E315-9DFA-6EBFADD2DF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09107" y="4173562"/>
                      <a:ext cx="37543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8A666D6F-629D-E315-9DFA-6EBFADD2DF3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109107" y="4173562"/>
                      <a:ext cx="375437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r="-1639" b="-1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9556683C-CD17-A038-9E47-BB8288D0BC7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11357" y="4348381"/>
                      <a:ext cx="37543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34" name="TextBox 33">
                      <a:extLst>
                        <a:ext uri="{FF2B5EF4-FFF2-40B4-BE49-F238E27FC236}">
                          <a16:creationId xmlns:a16="http://schemas.microsoft.com/office/drawing/2014/main" id="{9556683C-CD17-A038-9E47-BB8288D0BC7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11357" y="4348381"/>
                      <a:ext cx="375437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r="-3606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492A814-0FB9-B0A4-5609-4F3FA908C512}"/>
                    </a:ext>
                  </a:extLst>
                </p:cNvPr>
                <p:cNvSpPr txBox="1"/>
                <p:nvPr/>
              </p:nvSpPr>
              <p:spPr>
                <a:xfrm rot="20491791">
                  <a:off x="7181422" y="3843592"/>
                  <a:ext cx="16038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Real part</a:t>
                  </a:r>
                  <a:endParaRPr lang="en-IN" dirty="0"/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209C212-2661-7527-038F-055DE04C3AFB}"/>
                    </a:ext>
                  </a:extLst>
                </p:cNvPr>
                <p:cNvSpPr txBox="1"/>
                <p:nvPr/>
              </p:nvSpPr>
              <p:spPr>
                <a:xfrm rot="20491791">
                  <a:off x="10478705" y="4684852"/>
                  <a:ext cx="16038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Real part</a:t>
                  </a:r>
                  <a:endParaRPr lang="en-IN" dirty="0"/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6F047100-13B0-9C0B-82A7-A88D82804F29}"/>
                    </a:ext>
                  </a:extLst>
                </p:cNvPr>
                <p:cNvSpPr txBox="1"/>
                <p:nvPr/>
              </p:nvSpPr>
              <p:spPr>
                <a:xfrm rot="20491791">
                  <a:off x="4143019" y="3055272"/>
                  <a:ext cx="16038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Real part</a:t>
                  </a:r>
                  <a:endParaRPr lang="en-IN" dirty="0"/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3320E64-3EC7-6311-7030-6F62B440FF73}"/>
                    </a:ext>
                  </a:extLst>
                </p:cNvPr>
                <p:cNvSpPr txBox="1"/>
                <p:nvPr/>
              </p:nvSpPr>
              <p:spPr>
                <a:xfrm>
                  <a:off x="8548607" y="3410382"/>
                  <a:ext cx="11580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err="1"/>
                    <a:t>Im</a:t>
                  </a:r>
                  <a:r>
                    <a:rPr lang="en-US" dirty="0"/>
                    <a:t> part</a:t>
                  </a:r>
                  <a:endParaRPr lang="en-IN" dirty="0"/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EACD2B5-AB30-9926-EBB6-09781A2F5955}"/>
                    </a:ext>
                  </a:extLst>
                </p:cNvPr>
                <p:cNvSpPr txBox="1"/>
                <p:nvPr/>
              </p:nvSpPr>
              <p:spPr>
                <a:xfrm>
                  <a:off x="5560531" y="2643946"/>
                  <a:ext cx="11580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err="1"/>
                    <a:t>Im</a:t>
                  </a:r>
                  <a:r>
                    <a:rPr lang="en-US" dirty="0"/>
                    <a:t> part</a:t>
                  </a:r>
                  <a:endParaRPr lang="en-IN" dirty="0"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EDB3D49-CD91-04FF-9258-7B7F4CE00FAD}"/>
                    </a:ext>
                  </a:extLst>
                </p:cNvPr>
                <p:cNvSpPr txBox="1"/>
                <p:nvPr/>
              </p:nvSpPr>
              <p:spPr>
                <a:xfrm>
                  <a:off x="1781027" y="1772642"/>
                  <a:ext cx="11580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err="1"/>
                    <a:t>Im</a:t>
                  </a:r>
                  <a:r>
                    <a:rPr lang="en-US" dirty="0"/>
                    <a:t> part</a:t>
                  </a:r>
                  <a:endParaRPr lang="en-IN" dirty="0"/>
                </a:p>
              </p:txBody>
            </p:sp>
          </p:grpSp>
        </p:grp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EDF2C582-F9E0-2834-5D70-16BA86368E17}"/>
                </a:ext>
              </a:extLst>
            </p:cNvPr>
            <p:cNvSpPr/>
            <p:nvPr/>
          </p:nvSpPr>
          <p:spPr>
            <a:xfrm>
              <a:off x="8443509" y="4180493"/>
              <a:ext cx="319661" cy="274551"/>
            </a:xfrm>
            <a:prstGeom prst="arc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3E78DAD-40CF-6519-A2F2-4DDFFD8BFB28}"/>
                    </a:ext>
                  </a:extLst>
                </p:cNvPr>
                <p:cNvSpPr txBox="1"/>
                <p:nvPr/>
              </p:nvSpPr>
              <p:spPr>
                <a:xfrm>
                  <a:off x="8653308" y="3918583"/>
                  <a:ext cx="4141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3E78DAD-40CF-6519-A2F2-4DDFFD8BFB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3308" y="3918583"/>
                  <a:ext cx="414135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D4B1E780-92FA-FD0E-BEAD-21E23EE66C4A}"/>
                </a:ext>
              </a:extLst>
            </p:cNvPr>
            <p:cNvSpPr/>
            <p:nvPr/>
          </p:nvSpPr>
          <p:spPr>
            <a:xfrm rot="3381989">
              <a:off x="2622229" y="2571178"/>
              <a:ext cx="319661" cy="274551"/>
            </a:xfrm>
            <a:prstGeom prst="arc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DAFD33A-C42C-3495-6482-62F1A043CA00}"/>
                    </a:ext>
                  </a:extLst>
                </p:cNvPr>
                <p:cNvSpPr txBox="1"/>
                <p:nvPr/>
              </p:nvSpPr>
              <p:spPr>
                <a:xfrm>
                  <a:off x="2922129" y="2495019"/>
                  <a:ext cx="4141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DAFD33A-C42C-3495-6482-62F1A043CA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2129" y="2495019"/>
                  <a:ext cx="414135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32353" b="-163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BEDFC3E-AA07-A418-8B99-BFD716F734E1}"/>
                  </a:ext>
                </a:extLst>
              </p:cNvPr>
              <p:cNvSpPr txBox="1"/>
              <p:nvPr/>
            </p:nvSpPr>
            <p:spPr>
              <a:xfrm rot="18000208">
                <a:off x="8384561" y="3592622"/>
                <a:ext cx="4528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BEDFC3E-AA07-A418-8B99-BFD716F73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00208">
                <a:off x="8384561" y="3592622"/>
                <a:ext cx="45287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EEF74FF-0704-B6E1-8DBE-418557361509}"/>
                  </a:ext>
                </a:extLst>
              </p:cNvPr>
              <p:cNvSpPr txBox="1"/>
              <p:nvPr/>
            </p:nvSpPr>
            <p:spPr>
              <a:xfrm rot="2782697">
                <a:off x="2940292" y="2787103"/>
                <a:ext cx="4528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EEF74FF-0704-B6E1-8DBE-418557361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782697">
                <a:off x="2940292" y="2787103"/>
                <a:ext cx="45287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2BA5154-677A-6487-A2E2-EA00B1D1AF00}"/>
                  </a:ext>
                </a:extLst>
              </p:cNvPr>
              <p:cNvSpPr txBox="1"/>
              <p:nvPr/>
            </p:nvSpPr>
            <p:spPr>
              <a:xfrm rot="1021111">
                <a:off x="9765770" y="4946984"/>
                <a:ext cx="13132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2BA5154-677A-6487-A2E2-EA00B1D1A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21111">
                <a:off x="9765770" y="4946984"/>
                <a:ext cx="131324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5506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BBD16-CC3B-9D73-0D73-FF0DE0AE3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vs complex Fourier series</a:t>
            </a:r>
            <a:endParaRPr lang="en-IN" dirty="0"/>
          </a:p>
        </p:txBody>
      </p:sp>
      <p:pic>
        <p:nvPicPr>
          <p:cNvPr id="1026" name="Picture 2" descr="coeffs">
            <a:extLst>
              <a:ext uri="{FF2B5EF4-FFF2-40B4-BE49-F238E27FC236}">
                <a16:creationId xmlns:a16="http://schemas.microsoft.com/office/drawing/2014/main" id="{6271A0A5-D8BB-CFD0-D4D0-8A4FA4A33E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0" t="3436" r="1989" b="2031"/>
          <a:stretch/>
        </p:blipFill>
        <p:spPr bwMode="auto">
          <a:xfrm>
            <a:off x="1900719" y="741872"/>
            <a:ext cx="8390562" cy="433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CEB8AE-7FB9-B2CD-D2CF-2D7C655DE064}"/>
                  </a:ext>
                </a:extLst>
              </p:cNvPr>
              <p:cNvSpPr txBox="1"/>
              <p:nvPr/>
            </p:nvSpPr>
            <p:spPr>
              <a:xfrm>
                <a:off x="662315" y="4982831"/>
                <a:ext cx="1103444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Typically, we are only interested in knowing what frequencies are present and how much they contribute. In that sense,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 vs Freq is a good enough plot for us.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Thus, the main advantage of Complex Fourier Series is we will get a good picture just by looking at one plot as opposed to two plots we have to look in Real Fourier Series!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CEB8AE-7FB9-B2CD-D2CF-2D7C655DE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15" y="4982831"/>
                <a:ext cx="11034444" cy="1200329"/>
              </a:xfrm>
              <a:prstGeom prst="rect">
                <a:avLst/>
              </a:prstGeom>
              <a:blipFill>
                <a:blip r:embed="rId3"/>
                <a:stretch>
                  <a:fillRect l="-387" t="-2538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9044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ECC26-7D5C-42E7-DA25-F9DD1519C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Transform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BDB7E-84AD-7CB8-E2B6-E6A5A61FCB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Let us start off by looking at our Fourier Series Expansion we learnt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⁡(−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𝑗𝑖</m:t>
                          </m:r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What is the separation between frequencies in the frequency domain? -&gt;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IN" dirty="0"/>
              </a:p>
              <a:p>
                <a:r>
                  <a:rPr lang="en-IN" dirty="0"/>
                  <a:t>Now consider two cases: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IN" dirty="0"/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IN" dirty="0"/>
                  <a:t>. What is the separation?</a:t>
                </a:r>
              </a:p>
              <a:p>
                <a:r>
                  <a:rPr lang="en-IN" dirty="0"/>
                  <a:t>Now imagine I have a non-periodic signal? What would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 be? </a:t>
                </a:r>
              </a:p>
              <a:p>
                <a:r>
                  <a:rPr lang="en-IN" dirty="0"/>
                  <a:t>The trick is if we still want to use Fourier Series, we can 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=∞,</m:t>
                    </m:r>
                  </m:oMath>
                </a14:m>
                <a:r>
                  <a:rPr lang="en-IN" dirty="0"/>
                  <a:t> i.e. the signal repeats but just after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IN" dirty="0"/>
                  <a:t> time! </a:t>
                </a:r>
              </a:p>
              <a:p>
                <a:r>
                  <a:rPr lang="en-IN" dirty="0"/>
                  <a:t>What happens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?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BDB7E-84AD-7CB8-E2B6-E6A5A61FCB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4" t="-707" b="-1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8131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80D4B-8655-C295-3D80-27E6EDE26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transform</a:t>
            </a:r>
            <a:endParaRPr lang="en-IN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C3626D-F14F-4AB7-FE71-34693A3D3F0A}"/>
              </a:ext>
            </a:extLst>
          </p:cNvPr>
          <p:cNvGrpSpPr/>
          <p:nvPr/>
        </p:nvGrpSpPr>
        <p:grpSpPr>
          <a:xfrm>
            <a:off x="1427813" y="888023"/>
            <a:ext cx="9336374" cy="5081954"/>
            <a:chOff x="693407" y="962023"/>
            <a:chExt cx="9336374" cy="5081954"/>
          </a:xfrm>
        </p:grpSpPr>
        <p:pic>
          <p:nvPicPr>
            <p:cNvPr id="2050" name="Picture 2" descr="frequencies">
              <a:extLst>
                <a:ext uri="{FF2B5EF4-FFF2-40B4-BE49-F238E27FC236}">
                  <a16:creationId xmlns:a16="http://schemas.microsoft.com/office/drawing/2014/main" id="{5791D951-8566-210A-DA2A-D2A5AE30F7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316"/>
            <a:stretch/>
          </p:blipFill>
          <p:spPr bwMode="auto">
            <a:xfrm>
              <a:off x="693407" y="962023"/>
              <a:ext cx="3505502" cy="2276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2" descr="frequencies">
              <a:extLst>
                <a:ext uri="{FF2B5EF4-FFF2-40B4-BE49-F238E27FC236}">
                  <a16:creationId xmlns:a16="http://schemas.microsoft.com/office/drawing/2014/main" id="{FD419F3A-AF1F-7BB4-B671-AA2A925DB3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83" r="50148"/>
            <a:stretch/>
          </p:blipFill>
          <p:spPr bwMode="auto">
            <a:xfrm>
              <a:off x="6540604" y="962023"/>
              <a:ext cx="3489177" cy="2276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frequencies">
              <a:extLst>
                <a:ext uri="{FF2B5EF4-FFF2-40B4-BE49-F238E27FC236}">
                  <a16:creationId xmlns:a16="http://schemas.microsoft.com/office/drawing/2014/main" id="{51EEBB65-3685-3B13-F7C3-87F3FECA48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752" r="26078"/>
            <a:stretch/>
          </p:blipFill>
          <p:spPr bwMode="auto">
            <a:xfrm>
              <a:off x="6540603" y="3729874"/>
              <a:ext cx="3489177" cy="2314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frequencies">
              <a:extLst>
                <a:ext uri="{FF2B5EF4-FFF2-40B4-BE49-F238E27FC236}">
                  <a16:creationId xmlns:a16="http://schemas.microsoft.com/office/drawing/2014/main" id="{76365B60-CD85-808D-6E51-247E78CC03A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222"/>
            <a:stretch/>
          </p:blipFill>
          <p:spPr bwMode="auto">
            <a:xfrm>
              <a:off x="810882" y="3594101"/>
              <a:ext cx="3721418" cy="2314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6BE08C5-CB85-FEB9-C75E-32B7031BCA2C}"/>
                </a:ext>
              </a:extLst>
            </p:cNvPr>
            <p:cNvCxnSpPr/>
            <p:nvPr/>
          </p:nvCxnSpPr>
          <p:spPr>
            <a:xfrm>
              <a:off x="5080000" y="2209800"/>
              <a:ext cx="863600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15B1CE0-93DC-AA65-2570-AA4D2E8BFB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80000" y="4711700"/>
              <a:ext cx="863600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3460675-5BFF-136C-A8A6-26E9D5DC15E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013700" y="3860800"/>
              <a:ext cx="863600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37FC345-8302-D91C-1FD6-B09150E1C438}"/>
              </a:ext>
            </a:extLst>
          </p:cNvPr>
          <p:cNvSpPr/>
          <p:nvPr/>
        </p:nvSpPr>
        <p:spPr>
          <a:xfrm>
            <a:off x="1545288" y="3520101"/>
            <a:ext cx="3672115" cy="2449876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348327-2ED6-76B5-E470-7D66E2AE3ECA}"/>
              </a:ext>
            </a:extLst>
          </p:cNvPr>
          <p:cNvSpPr txBox="1"/>
          <p:nvPr/>
        </p:nvSpPr>
        <p:spPr>
          <a:xfrm>
            <a:off x="0" y="3125983"/>
            <a:ext cx="273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Nonperiodic case!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4977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7D74E-CB23-A2E3-9787-6AB5C6DFF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transform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7E0EBD-F848-3483-5CAD-0699A92383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0834" y="871269"/>
                <a:ext cx="10581017" cy="517584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So for nonperiodic signals, the frequency domain is no longer discrete, rather it is continuous!</a:t>
                </a:r>
              </a:p>
              <a:p>
                <a:r>
                  <a:rPr lang="en-US" dirty="0"/>
                  <a:t>Let us take our Fourier Series expression: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b="0" i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⁡(−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𝑗𝑖</m:t>
                          </m:r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 make some changes to make this continuous!</a:t>
                </a:r>
              </a:p>
              <a:p>
                <a:r>
                  <a:rPr lang="en-US" dirty="0"/>
                  <a:t>First we will write the original definition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explicitly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b>
                                <m:sup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  <m:e>
                                  <m: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func>
                                    <m:funcPr>
                                      <m:ctrl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ex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1">
                                          <a:latin typeface="Cambria Math" panose="02040503050406030204" pitchFamily="18" charset="0"/>
                                        </a:rPr>
                                        <m:t>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𝑗𝑘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7E0EBD-F848-3483-5CAD-0699A92383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0834" y="871269"/>
                <a:ext cx="10581017" cy="5175848"/>
              </a:xfrm>
              <a:blipFill>
                <a:blip r:embed="rId3"/>
                <a:stretch>
                  <a:fillRect l="-576" t="-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300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A2CA-3F7C-C7D4-98AF-458B1AB56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transform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505FF5-75C6-6F28-E72B-743CE714DA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0101" y="741872"/>
                <a:ext cx="10581017" cy="547928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sz="18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800" b="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b>
                                <m:sup>
                                  <m:f>
                                    <m:f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8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  <m:e>
                                  <m:r>
                                    <a:rPr lang="en-US" sz="18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en-US" sz="18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func>
                                    <m:funcPr>
                                      <m:ctrlPr>
                                        <a:rPr lang="en-US" sz="1800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0" smtClean="0">
                                          <a:latin typeface="Cambria Math" panose="02040503050406030204" pitchFamily="18" charset="0"/>
                                        </a:rPr>
                                        <m:t>ex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1">
                                          <a:latin typeface="Cambria Math" panose="02040503050406030204" pitchFamily="18" charset="0"/>
                                        </a:rPr>
                                        <m:t>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8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800" b="0" i="1">
                                              <a:latin typeface="Cambria Math" panose="02040503050406030204" pitchFamily="18" charset="0"/>
                                            </a:rPr>
                                            <m:t>𝑗𝑘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8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 b="0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 b="0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 b="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  <m:r>
                                <a:rPr lang="en-US" sz="1800" b="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1800" dirty="0"/>
              </a:p>
              <a:p>
                <a:r>
                  <a:rPr lang="en-US" sz="1800" dirty="0"/>
                  <a:t>Now let us make following changes: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sz="16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𝑠𝑝𝑎𝑐𝑖𝑛𝑔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𝑑𝑓</m:t>
                    </m:r>
                  </m:oMath>
                </a14:m>
                <a:endParaRPr lang="en-US" sz="1600" dirty="0"/>
              </a:p>
              <a:p>
                <a:pPr lvl="1"/>
                <a:r>
                  <a:rPr lang="en-US" sz="1600" dirty="0"/>
                  <a:t>Inner integral limit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1600" dirty="0"/>
                  <a:t>-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 lvl="1"/>
                <a:r>
                  <a:rPr lang="en-US" sz="1600" dirty="0"/>
                  <a:t>Summation over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s will become integral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−∞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func>
                                    <m:funcPr>
                                      <m:ctrlPr>
                                        <a:rPr lang="en-US" sz="1800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0" smtClean="0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𝑓𝑡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𝑓𝑡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IN" sz="1800" dirty="0"/>
              </a:p>
              <a:p>
                <a:pPr marL="0" indent="0">
                  <a:buNone/>
                </a:pPr>
                <a:endParaRPr lang="en-IN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sz="18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18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18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1800" b="1" i="1">
                                  <a:latin typeface="Cambria Math" panose="02040503050406030204" pitchFamily="18" charset="0"/>
                                </a:rPr>
                                <m:t>𝒆𝒙𝒑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𝒇𝒕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𝒅𝒇</m:t>
                          </m:r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IN" sz="18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𝒆𝒙𝒑</m:t>
                          </m:r>
                          <m:d>
                            <m:dPr>
                              <m:ctrlP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𝒇𝒕</m:t>
                              </m:r>
                            </m:e>
                          </m:d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18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505FF5-75C6-6F28-E72B-743CE714DA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0101" y="741872"/>
                <a:ext cx="10581017" cy="5479289"/>
              </a:xfrm>
              <a:blipFill>
                <a:blip r:embed="rId2"/>
                <a:stretch>
                  <a:fillRect l="-3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39A4047F-FBF0-6FA0-B078-8EA634AEE538}"/>
              </a:ext>
            </a:extLst>
          </p:cNvPr>
          <p:cNvGrpSpPr/>
          <p:nvPr/>
        </p:nvGrpSpPr>
        <p:grpSpPr>
          <a:xfrm>
            <a:off x="4671646" y="4356115"/>
            <a:ext cx="2502877" cy="449565"/>
            <a:chOff x="4475394" y="4848483"/>
            <a:chExt cx="2788417" cy="449565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42ACE7B8-FA1A-CD5E-6075-44F841CA927A}"/>
                </a:ext>
              </a:extLst>
            </p:cNvPr>
            <p:cNvSpPr/>
            <p:nvPr/>
          </p:nvSpPr>
          <p:spPr>
            <a:xfrm rot="5400000">
              <a:off x="5789370" y="3534507"/>
              <a:ext cx="160465" cy="2788417"/>
            </a:xfrm>
            <a:prstGeom prst="rightBrace">
              <a:avLst>
                <a:gd name="adj1" fmla="val 8333"/>
                <a:gd name="adj2" fmla="val 48394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494DE6E-B69E-128E-FC72-A4F368F7EC4D}"/>
                    </a:ext>
                  </a:extLst>
                </p:cNvPr>
                <p:cNvSpPr txBox="1"/>
                <p:nvPr/>
              </p:nvSpPr>
              <p:spPr>
                <a:xfrm>
                  <a:off x="4932682" y="4928716"/>
                  <a:ext cx="208001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6494DE6E-B69E-128E-FC72-A4F368F7EC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2682" y="4928716"/>
                  <a:ext cx="2080010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71643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F706-7A8E-5C48-D5F4-058D6C76D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9D787-15A8-C66F-61DB-8A366F828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transform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38AA6F-3A21-177A-B1D9-41FC95A65A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41076"/>
                <a:ext cx="12192000" cy="5175848"/>
              </a:xfrm>
            </p:spPr>
            <p:txBody>
              <a:bodyPr>
                <a:noAutofit/>
              </a:bodyPr>
              <a:lstStyle/>
              <a:p>
                <a:r>
                  <a:rPr lang="en-IN" sz="2100" dirty="0"/>
                  <a:t>Looking at Fourier transform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100" b="1" i="1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sz="21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sz="21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1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100" b="1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100" b="1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1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1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sz="21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100" b="1" i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100" b="1" i="0">
                                  <a:latin typeface="Cambria Math" panose="02040503050406030204" pitchFamily="18" charset="0"/>
                                </a:rPr>
                                <m:t>𝐞𝐱𝐩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1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1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sz="21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sz="2100" b="1" i="1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  <m:r>
                                    <a:rPr lang="en-US" sz="2100" b="1" i="1">
                                      <a:latin typeface="Cambria Math" panose="02040503050406030204" pitchFamily="18" charset="0"/>
                                    </a:rPr>
                                    <m:t>𝒇𝒕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100" b="1" i="1">
                              <a:latin typeface="Cambria Math" panose="02040503050406030204" pitchFamily="18" charset="0"/>
                            </a:rPr>
                            <m:t>𝒅𝒇</m:t>
                          </m:r>
                          <m:r>
                            <a:rPr lang="en-US" sz="21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IN" sz="21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100" b="1" i="1" smtClean="0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sz="21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en-US" sz="21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1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100" b="1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100" b="1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1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en-US" sz="21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2100" b="1" i="0" smtClean="0">
                              <a:latin typeface="Cambria Math" panose="02040503050406030204" pitchFamily="18" charset="0"/>
                            </a:rPr>
                            <m:t>𝐞𝐱𝐩</m:t>
                          </m:r>
                          <m:d>
                            <m:dPr>
                              <m:ctrlPr>
                                <a:rPr lang="en-US" sz="21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1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sz="21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100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US" sz="2100" b="1" i="1" smtClean="0">
                                  <a:latin typeface="Cambria Math" panose="02040503050406030204" pitchFamily="18" charset="0"/>
                                </a:rPr>
                                <m:t>𝒇𝒕</m:t>
                              </m:r>
                            </m:e>
                          </m:d>
                          <m:r>
                            <a:rPr lang="en-US" sz="2100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US" sz="21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1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100" b="1" dirty="0"/>
              </a:p>
              <a:p>
                <a:r>
                  <a:rPr lang="en-IN" sz="2100" dirty="0"/>
                  <a:t>The second integral is called Fourier Transform and is represented as </a:t>
                </a:r>
                <a14:m>
                  <m:oMath xmlns:m="http://schemas.openxmlformats.org/officeDocument/2006/math">
                    <m:r>
                      <a:rPr lang="en-IN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r>
                      <a:rPr lang="en-US" sz="2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IN" sz="2100" dirty="0"/>
                  <a:t>. Thus,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ℱ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100" b="0" dirty="0"/>
              </a:p>
              <a:p>
                <a:r>
                  <a:rPr lang="en-IN" sz="2100" dirty="0"/>
                  <a:t>The first integral is called Inverse Fourier Transform and is represented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IN" sz="2100" dirty="0"/>
                  <a:t>. Thus,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p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100" dirty="0"/>
                  <a:t>.</a:t>
                </a:r>
              </a:p>
              <a:p>
                <a:r>
                  <a:rPr lang="en-IN" sz="2100" dirty="0"/>
                  <a:t>So now we have following implications:</a:t>
                </a:r>
              </a:p>
              <a:p>
                <a:pPr lvl="1"/>
                <a:r>
                  <a:rPr lang="en-US" sz="1900" b="0" dirty="0"/>
                  <a:t>A bunch of complex numbers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IN" sz="1900" dirty="0"/>
                  <a:t> has now become a complex function </a:t>
                </a:r>
                <a14:m>
                  <m:oMath xmlns:m="http://schemas.openxmlformats.org/officeDocument/2006/math"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900" dirty="0"/>
              </a:p>
              <a:p>
                <a:pPr lvl="1"/>
                <a:r>
                  <a:rPr lang="en-IN" sz="1900" dirty="0"/>
                  <a:t>This thus means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</m:oMath>
                </a14:m>
                <a:r>
                  <a:rPr lang="en-IN" sz="1900" dirty="0"/>
                  <a:t> and </a:t>
                </a:r>
                <a14:m>
                  <m:oMath xmlns:m="http://schemas.openxmlformats.org/officeDocument/2006/math"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1900" dirty="0"/>
                  <a:t> are also now continuous functions</a:t>
                </a:r>
              </a:p>
              <a:p>
                <a:pPr lvl="1"/>
                <a:r>
                  <a:rPr lang="en-IN" sz="1900" dirty="0"/>
                  <a:t>We will still satisfy the original symmetries,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</m:oMath>
                </a14:m>
                <a:r>
                  <a:rPr lang="en-IN" sz="1900" dirty="0"/>
                  <a:t> and </a:t>
                </a:r>
                <a14:m>
                  <m:oMath xmlns:m="http://schemas.openxmlformats.org/officeDocument/2006/math"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IN" sz="1900" dirty="0"/>
                  <a:t> for real signals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38AA6F-3A21-177A-B1D9-41FC95A65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41076"/>
                <a:ext cx="12192000" cy="5175848"/>
              </a:xfrm>
              <a:blipFill>
                <a:blip r:embed="rId2"/>
                <a:stretch>
                  <a:fillRect l="-500" t="-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509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7505F-91CF-029E-D49F-5C9FD8BA0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2C26409-C37F-9E29-3B29-D4DB6342BBAF}"/>
                  </a:ext>
                </a:extLst>
              </p:cNvPr>
              <p:cNvSpPr txBox="1"/>
              <p:nvPr/>
            </p:nvSpPr>
            <p:spPr>
              <a:xfrm rot="1021111">
                <a:off x="697135" y="2207795"/>
                <a:ext cx="13132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3AF4060-A141-E605-BCCD-AE2601D05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21111">
                <a:off x="697135" y="2207795"/>
                <a:ext cx="13132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AAD880B-7C0D-54A3-0AFC-CFF02FDA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Transform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B8D44D4-3AD3-2CA6-B911-3348E87BEEE2}"/>
                  </a:ext>
                </a:extLst>
              </p:cNvPr>
              <p:cNvSpPr txBox="1"/>
              <p:nvPr/>
            </p:nvSpPr>
            <p:spPr>
              <a:xfrm rot="18000208">
                <a:off x="8384561" y="3592622"/>
                <a:ext cx="4528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B8D44D4-3AD3-2CA6-B911-3348E87BE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00208">
                <a:off x="8384561" y="3592622"/>
                <a:ext cx="452877" cy="369332"/>
              </a:xfrm>
              <a:prstGeom prst="rect">
                <a:avLst/>
              </a:prstGeom>
              <a:blipFill>
                <a:blip r:embed="rId4"/>
                <a:stretch>
                  <a:fillRect t="-40000" r="-340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9AB5D9-FD29-F599-DBE2-E94DDBDEC90A}"/>
                  </a:ext>
                </a:extLst>
              </p:cNvPr>
              <p:cNvSpPr txBox="1"/>
              <p:nvPr/>
            </p:nvSpPr>
            <p:spPr>
              <a:xfrm rot="2782697">
                <a:off x="2940292" y="2787103"/>
                <a:ext cx="4528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9AB5D9-FD29-F599-DBE2-E94DDBDEC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782697">
                <a:off x="2940292" y="2787103"/>
                <a:ext cx="452877" cy="369332"/>
              </a:xfrm>
              <a:prstGeom prst="rect">
                <a:avLst/>
              </a:prstGeom>
              <a:blipFill>
                <a:blip r:embed="rId5"/>
                <a:stretch>
                  <a:fillRect r="-47423" b="-628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ECF54BE-FCF8-FEE0-0BBE-193D5A698EC4}"/>
                  </a:ext>
                </a:extLst>
              </p:cNvPr>
              <p:cNvSpPr txBox="1"/>
              <p:nvPr/>
            </p:nvSpPr>
            <p:spPr>
              <a:xfrm rot="1021111">
                <a:off x="9765770" y="4946984"/>
                <a:ext cx="13132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2BA5154-677A-6487-A2E2-EA00B1D1A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21111">
                <a:off x="9765770" y="4946984"/>
                <a:ext cx="131324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B3170C5D-CA3A-0B9C-DB51-8D06EB4DC124}"/>
              </a:ext>
            </a:extLst>
          </p:cNvPr>
          <p:cNvGrpSpPr/>
          <p:nvPr/>
        </p:nvGrpSpPr>
        <p:grpSpPr>
          <a:xfrm>
            <a:off x="582709" y="797250"/>
            <a:ext cx="11417684" cy="5339390"/>
            <a:chOff x="582709" y="797250"/>
            <a:chExt cx="11417684" cy="5339390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6DAC4AB-E243-8C90-45A4-D72D3EF49305}"/>
                </a:ext>
              </a:extLst>
            </p:cNvPr>
            <p:cNvGrpSpPr/>
            <p:nvPr/>
          </p:nvGrpSpPr>
          <p:grpSpPr>
            <a:xfrm>
              <a:off x="582709" y="797250"/>
              <a:ext cx="11417684" cy="5212446"/>
              <a:chOff x="582709" y="797250"/>
              <a:chExt cx="11417684" cy="5212446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3F8229FC-6405-913B-16A2-A27919FBC4F6}"/>
                  </a:ext>
                </a:extLst>
              </p:cNvPr>
              <p:cNvGrpSpPr/>
              <p:nvPr/>
            </p:nvGrpSpPr>
            <p:grpSpPr>
              <a:xfrm>
                <a:off x="582709" y="797250"/>
                <a:ext cx="11417684" cy="5212446"/>
                <a:chOff x="664903" y="1772642"/>
                <a:chExt cx="11417684" cy="5212446"/>
              </a:xfrm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AA463D31-97F9-815E-4351-1DEC5F51F2B9}"/>
                    </a:ext>
                  </a:extLst>
                </p:cNvPr>
                <p:cNvSpPr/>
                <p:nvPr/>
              </p:nvSpPr>
              <p:spPr>
                <a:xfrm>
                  <a:off x="6343165" y="3800851"/>
                  <a:ext cx="4471398" cy="3184237"/>
                </a:xfrm>
                <a:custGeom>
                  <a:avLst/>
                  <a:gdLst>
                    <a:gd name="connsiteX0" fmla="*/ 4078841 w 4078841"/>
                    <a:gd name="connsiteY0" fmla="*/ 1818526 h 2907587"/>
                    <a:gd name="connsiteX1" fmla="*/ 0 w 4078841"/>
                    <a:gd name="connsiteY1" fmla="*/ 2907587 h 2907587"/>
                    <a:gd name="connsiteX2" fmla="*/ 0 w 4078841"/>
                    <a:gd name="connsiteY2" fmla="*/ 934949 h 2907587"/>
                    <a:gd name="connsiteX3" fmla="*/ 3924728 w 4078841"/>
                    <a:gd name="connsiteY3" fmla="*/ 30823 h 2907587"/>
                    <a:gd name="connsiteX4" fmla="*/ 4037744 w 4078841"/>
                    <a:gd name="connsiteY4" fmla="*/ 0 h 2907587"/>
                    <a:gd name="connsiteX5" fmla="*/ 4078841 w 4078841"/>
                    <a:gd name="connsiteY5" fmla="*/ 1818526 h 2907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078841" h="2907587">
                      <a:moveTo>
                        <a:pt x="4078841" y="1818526"/>
                      </a:moveTo>
                      <a:lnTo>
                        <a:pt x="0" y="2907587"/>
                      </a:lnTo>
                      <a:lnTo>
                        <a:pt x="0" y="934949"/>
                      </a:lnTo>
                      <a:lnTo>
                        <a:pt x="3924728" y="30823"/>
                      </a:lnTo>
                      <a:lnTo>
                        <a:pt x="4037744" y="0"/>
                      </a:lnTo>
                      <a:lnTo>
                        <a:pt x="4078841" y="1818526"/>
                      </a:lnTo>
                      <a:close/>
                    </a:path>
                  </a:pathLst>
                </a:custGeom>
                <a:solidFill>
                  <a:srgbClr val="00B0F0">
                    <a:alpha val="3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C6688754-1A49-22BA-5A59-2DAE6C04862F}"/>
                    </a:ext>
                  </a:extLst>
                </p:cNvPr>
                <p:cNvGrpSpPr/>
                <p:nvPr/>
              </p:nvGrpSpPr>
              <p:grpSpPr>
                <a:xfrm>
                  <a:off x="664903" y="1772642"/>
                  <a:ext cx="11417684" cy="4780019"/>
                  <a:chOff x="664903" y="1772642"/>
                  <a:chExt cx="11417684" cy="4780019"/>
                </a:xfrm>
              </p:grpSpPr>
              <p:sp>
                <p:nvSpPr>
                  <p:cNvPr id="15" name="Freeform: Shape 14">
                    <a:extLst>
                      <a:ext uri="{FF2B5EF4-FFF2-40B4-BE49-F238E27FC236}">
                        <a16:creationId xmlns:a16="http://schemas.microsoft.com/office/drawing/2014/main" id="{7CE62086-5D24-7DCF-A668-C2CCABBBFB97}"/>
                      </a:ext>
                    </a:extLst>
                  </p:cNvPr>
                  <p:cNvSpPr/>
                  <p:nvPr/>
                </p:nvSpPr>
                <p:spPr>
                  <a:xfrm>
                    <a:off x="664903" y="2014860"/>
                    <a:ext cx="4471398" cy="3184237"/>
                  </a:xfrm>
                  <a:custGeom>
                    <a:avLst/>
                    <a:gdLst>
                      <a:gd name="connsiteX0" fmla="*/ 4078841 w 4078841"/>
                      <a:gd name="connsiteY0" fmla="*/ 1818526 h 2907587"/>
                      <a:gd name="connsiteX1" fmla="*/ 0 w 4078841"/>
                      <a:gd name="connsiteY1" fmla="*/ 2907587 h 2907587"/>
                      <a:gd name="connsiteX2" fmla="*/ 0 w 4078841"/>
                      <a:gd name="connsiteY2" fmla="*/ 934949 h 2907587"/>
                      <a:gd name="connsiteX3" fmla="*/ 3924728 w 4078841"/>
                      <a:gd name="connsiteY3" fmla="*/ 30823 h 2907587"/>
                      <a:gd name="connsiteX4" fmla="*/ 4037744 w 4078841"/>
                      <a:gd name="connsiteY4" fmla="*/ 0 h 2907587"/>
                      <a:gd name="connsiteX5" fmla="*/ 4078841 w 4078841"/>
                      <a:gd name="connsiteY5" fmla="*/ 1818526 h 29075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078841" h="2907587">
                        <a:moveTo>
                          <a:pt x="4078841" y="1818526"/>
                        </a:moveTo>
                        <a:lnTo>
                          <a:pt x="0" y="2907587"/>
                        </a:lnTo>
                        <a:lnTo>
                          <a:pt x="0" y="934949"/>
                        </a:lnTo>
                        <a:lnTo>
                          <a:pt x="3924728" y="30823"/>
                        </a:lnTo>
                        <a:lnTo>
                          <a:pt x="4037744" y="0"/>
                        </a:lnTo>
                        <a:lnTo>
                          <a:pt x="4078841" y="1818526"/>
                        </a:lnTo>
                        <a:close/>
                      </a:path>
                    </a:pathLst>
                  </a:custGeom>
                  <a:solidFill>
                    <a:srgbClr val="00B0F0">
                      <a:alpha val="3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6" name="Freeform: Shape 15">
                    <a:extLst>
                      <a:ext uri="{FF2B5EF4-FFF2-40B4-BE49-F238E27FC236}">
                        <a16:creationId xmlns:a16="http://schemas.microsoft.com/office/drawing/2014/main" id="{A18CCFCF-48BD-754C-C746-4BDC59721FC2}"/>
                      </a:ext>
                    </a:extLst>
                  </p:cNvPr>
                  <p:cNvSpPr/>
                  <p:nvPr/>
                </p:nvSpPr>
                <p:spPr>
                  <a:xfrm>
                    <a:off x="3276037" y="2999092"/>
                    <a:ext cx="4471398" cy="3184237"/>
                  </a:xfrm>
                  <a:custGeom>
                    <a:avLst/>
                    <a:gdLst>
                      <a:gd name="connsiteX0" fmla="*/ 4078841 w 4078841"/>
                      <a:gd name="connsiteY0" fmla="*/ 1818526 h 2907587"/>
                      <a:gd name="connsiteX1" fmla="*/ 0 w 4078841"/>
                      <a:gd name="connsiteY1" fmla="*/ 2907587 h 2907587"/>
                      <a:gd name="connsiteX2" fmla="*/ 0 w 4078841"/>
                      <a:gd name="connsiteY2" fmla="*/ 934949 h 2907587"/>
                      <a:gd name="connsiteX3" fmla="*/ 3924728 w 4078841"/>
                      <a:gd name="connsiteY3" fmla="*/ 30823 h 2907587"/>
                      <a:gd name="connsiteX4" fmla="*/ 4037744 w 4078841"/>
                      <a:gd name="connsiteY4" fmla="*/ 0 h 2907587"/>
                      <a:gd name="connsiteX5" fmla="*/ 4078841 w 4078841"/>
                      <a:gd name="connsiteY5" fmla="*/ 1818526 h 29075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078841" h="2907587">
                        <a:moveTo>
                          <a:pt x="4078841" y="1818526"/>
                        </a:moveTo>
                        <a:lnTo>
                          <a:pt x="0" y="2907587"/>
                        </a:lnTo>
                        <a:lnTo>
                          <a:pt x="0" y="934949"/>
                        </a:lnTo>
                        <a:lnTo>
                          <a:pt x="3924728" y="30823"/>
                        </a:lnTo>
                        <a:lnTo>
                          <a:pt x="4037744" y="0"/>
                        </a:lnTo>
                        <a:lnTo>
                          <a:pt x="4078841" y="1818526"/>
                        </a:lnTo>
                        <a:close/>
                      </a:path>
                    </a:pathLst>
                  </a:custGeom>
                  <a:solidFill>
                    <a:srgbClr val="00B0F0">
                      <a:alpha val="3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5" name="Straight Arrow Connector 4">
                    <a:extLst>
                      <a:ext uri="{FF2B5EF4-FFF2-40B4-BE49-F238E27FC236}">
                        <a16:creationId xmlns:a16="http://schemas.microsoft.com/office/drawing/2014/main" id="{22A976A9-32C3-AF2A-B0D7-CE7CF9982B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43171" y="3257659"/>
                    <a:ext cx="9371392" cy="2850738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" name="Straight Arrow Connector 7">
                    <a:extLst>
                      <a:ext uri="{FF2B5EF4-FFF2-40B4-BE49-F238E27FC236}">
                        <a16:creationId xmlns:a16="http://schemas.microsoft.com/office/drawing/2014/main" id="{D5CB7729-DD61-9440-7928-1388ED6C7A3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511737" y="2733676"/>
                    <a:ext cx="0" cy="1746607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" name="Straight Arrow Connector 8">
                    <a:extLst>
                      <a:ext uri="{FF2B5EF4-FFF2-40B4-BE49-F238E27FC236}">
                        <a16:creationId xmlns:a16="http://schemas.microsoft.com/office/drawing/2014/main" id="{EE546324-D820-90BC-B683-81D5F55D0F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11737" y="3833012"/>
                    <a:ext cx="2488059" cy="647271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Straight Arrow Connector 10">
                    <a:extLst>
                      <a:ext uri="{FF2B5EF4-FFF2-40B4-BE49-F238E27FC236}">
                        <a16:creationId xmlns:a16="http://schemas.microsoft.com/office/drawing/2014/main" id="{71749ABE-2366-88F3-AE7D-6344634FC3A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548607" y="3646363"/>
                    <a:ext cx="0" cy="1746607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" name="Straight Arrow Connector 11">
                    <a:extLst>
                      <a:ext uri="{FF2B5EF4-FFF2-40B4-BE49-F238E27FC236}">
                        <a16:creationId xmlns:a16="http://schemas.microsoft.com/office/drawing/2014/main" id="{D94F45E3-9250-6BA4-3D6E-BEBD5077DD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548607" y="4745699"/>
                    <a:ext cx="2488059" cy="647271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Straight Arrow Connector 12">
                    <a:extLst>
                      <a:ext uri="{FF2B5EF4-FFF2-40B4-BE49-F238E27FC236}">
                        <a16:creationId xmlns:a16="http://schemas.microsoft.com/office/drawing/2014/main" id="{4C760533-0CAF-6AE8-57CA-C499390D206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749273" y="1899756"/>
                    <a:ext cx="0" cy="1746607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C57568DB-5A0B-C016-BD62-B989B11F59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49273" y="2999092"/>
                    <a:ext cx="2488059" cy="647271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TextBox 17">
                        <a:extLst>
                          <a:ext uri="{FF2B5EF4-FFF2-40B4-BE49-F238E27FC236}">
                            <a16:creationId xmlns:a16="http://schemas.microsoft.com/office/drawing/2014/main" id="{3C5F82E3-8853-7DD5-EEA3-AA79A610B5B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046222" y="6183329"/>
                        <a:ext cx="103769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𝐹𝑟𝑒𝑞𝑢𝑒𝑛𝑐𝑦</m:t>
                              </m:r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18" name="TextBox 17">
                        <a:extLst>
                          <a:ext uri="{FF2B5EF4-FFF2-40B4-BE49-F238E27FC236}">
                            <a16:creationId xmlns:a16="http://schemas.microsoft.com/office/drawing/2014/main" id="{B092CB96-F4B1-5B58-22BF-8453CEF696F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046222" y="6183329"/>
                        <a:ext cx="1037690" cy="369332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l="-1765" r="-24706" b="-13115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0" name="TextBox 19">
                        <a:extLst>
                          <a:ext uri="{FF2B5EF4-FFF2-40B4-BE49-F238E27FC236}">
                            <a16:creationId xmlns:a16="http://schemas.microsoft.com/office/drawing/2014/main" id="{1A169CC1-9150-21BC-66FC-437842DFF74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969263" y="4464242"/>
                        <a:ext cx="87750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m:oMathPara>
                        </a14:m>
                        <a:endParaRPr lang="en-US" b="0" dirty="0"/>
                      </a:p>
                    </p:txBody>
                  </p:sp>
                </mc:Choice>
                <mc:Fallback xmlns="">
                  <p:sp>
                    <p:nvSpPr>
                      <p:cNvPr id="20" name="TextBox 19">
                        <a:extLst>
                          <a:ext uri="{FF2B5EF4-FFF2-40B4-BE49-F238E27FC236}">
                            <a16:creationId xmlns:a16="http://schemas.microsoft.com/office/drawing/2014/main" id="{1A169CC1-9150-21BC-66FC-437842DFF74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969263" y="4464242"/>
                        <a:ext cx="877504" cy="369332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b="-1475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1" name="TextBox 20">
                        <a:extLst>
                          <a:ext uri="{FF2B5EF4-FFF2-40B4-BE49-F238E27FC236}">
                            <a16:creationId xmlns:a16="http://schemas.microsoft.com/office/drawing/2014/main" id="{77E0CC8D-F9CF-B7AE-86FA-9B581478AAA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76795" y="5418817"/>
                        <a:ext cx="87750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21" name="TextBox 20">
                        <a:extLst>
                          <a:ext uri="{FF2B5EF4-FFF2-40B4-BE49-F238E27FC236}">
                            <a16:creationId xmlns:a16="http://schemas.microsoft.com/office/drawing/2014/main" id="{77E0CC8D-F9CF-B7AE-86FA-9B581478AAA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076795" y="5418817"/>
                        <a:ext cx="877504" cy="369332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b="-15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D64339D6-16C8-1373-22A0-474D48C6088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82371" y="3585365"/>
                        <a:ext cx="1105933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D64339D6-16C8-1373-22A0-474D48C6088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82371" y="3585365"/>
                        <a:ext cx="1105933" cy="369332"/>
                      </a:xfrm>
                      <a:prstGeom prst="rect">
                        <a:avLst/>
                      </a:prstGeom>
                      <a:blipFill>
                        <a:blip r:embed="rId19"/>
                        <a:stretch>
                          <a:fillRect b="-1475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24" name="Straight Arrow Connector 23">
                    <a:extLst>
                      <a:ext uri="{FF2B5EF4-FFF2-40B4-BE49-F238E27FC236}">
                        <a16:creationId xmlns:a16="http://schemas.microsoft.com/office/drawing/2014/main" id="{1F1CDF48-0707-C60B-39BB-51E2A24F9F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548607" y="4341074"/>
                    <a:ext cx="548812" cy="1051896"/>
                  </a:xfrm>
                  <a:prstGeom prst="straightConnector1">
                    <a:avLst/>
                  </a:prstGeom>
                  <a:ln w="57150">
                    <a:solidFill>
                      <a:srgbClr val="00206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Arrow Connector 24">
                    <a:extLst>
                      <a:ext uri="{FF2B5EF4-FFF2-40B4-BE49-F238E27FC236}">
                        <a16:creationId xmlns:a16="http://schemas.microsoft.com/office/drawing/2014/main" id="{012434FE-CDEE-4C99-496F-421A0B6257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48672" y="3642974"/>
                    <a:ext cx="661453" cy="740375"/>
                  </a:xfrm>
                  <a:prstGeom prst="straightConnector1">
                    <a:avLst/>
                  </a:prstGeom>
                  <a:ln w="57150">
                    <a:solidFill>
                      <a:srgbClr val="00206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Arrow Connector 29">
                    <a:extLst>
                      <a:ext uri="{FF2B5EF4-FFF2-40B4-BE49-F238E27FC236}">
                        <a16:creationId xmlns:a16="http://schemas.microsoft.com/office/drawing/2014/main" id="{0F847E4D-725C-9A73-89CC-6FB76AF137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511736" y="4205288"/>
                    <a:ext cx="1089089" cy="274995"/>
                  </a:xfrm>
                  <a:prstGeom prst="straightConnector1">
                    <a:avLst/>
                  </a:prstGeom>
                  <a:ln w="57150">
                    <a:solidFill>
                      <a:srgbClr val="00206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" name="TextBox 31">
                        <a:extLst>
                          <a:ext uri="{FF2B5EF4-FFF2-40B4-BE49-F238E27FC236}">
                            <a16:creationId xmlns:a16="http://schemas.microsoft.com/office/drawing/2014/main" id="{415AF25A-EDF5-A5DD-DBE1-DCD19C6B32C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128867" y="3787315"/>
                        <a:ext cx="375437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32" name="TextBox 31">
                        <a:extLst>
                          <a:ext uri="{FF2B5EF4-FFF2-40B4-BE49-F238E27FC236}">
                            <a16:creationId xmlns:a16="http://schemas.microsoft.com/office/drawing/2014/main" id="{415AF25A-EDF5-A5DD-DBE1-DCD19C6B32C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128867" y="3787315"/>
                        <a:ext cx="375437" cy="369332"/>
                      </a:xfrm>
                      <a:prstGeom prst="rect">
                        <a:avLst/>
                      </a:prstGeom>
                      <a:blipFill>
                        <a:blip r:embed="rId20"/>
                        <a:stretch>
                          <a:fillRect r="-81967" b="-1475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3" name="TextBox 32">
                        <a:extLst>
                          <a:ext uri="{FF2B5EF4-FFF2-40B4-BE49-F238E27FC236}">
                            <a16:creationId xmlns:a16="http://schemas.microsoft.com/office/drawing/2014/main" id="{10474EA5-85B1-E9E2-3BFD-DBBD0F816D7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109107" y="4173562"/>
                        <a:ext cx="375437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33" name="TextBox 32">
                        <a:extLst>
                          <a:ext uri="{FF2B5EF4-FFF2-40B4-BE49-F238E27FC236}">
                            <a16:creationId xmlns:a16="http://schemas.microsoft.com/office/drawing/2014/main" id="{8A666D6F-629D-E315-9DFA-6EBFADD2DF3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109107" y="4173562"/>
                        <a:ext cx="375437" cy="369332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r="-1639" b="-1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0DD38A09-539F-D59D-F11E-DAE0C1635C2F}"/>
                      </a:ext>
                    </a:extLst>
                  </p:cNvPr>
                  <p:cNvSpPr txBox="1"/>
                  <p:nvPr/>
                </p:nvSpPr>
                <p:spPr>
                  <a:xfrm rot="20491791">
                    <a:off x="7181422" y="3843592"/>
                    <a:ext cx="160388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Real part</a:t>
                    </a:r>
                    <a:endParaRPr lang="en-IN" dirty="0"/>
                  </a:p>
                </p:txBody>
              </p:sp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9EF86E2F-0A5F-5191-632B-1DF1A4FC07B8}"/>
                      </a:ext>
                    </a:extLst>
                  </p:cNvPr>
                  <p:cNvSpPr txBox="1"/>
                  <p:nvPr/>
                </p:nvSpPr>
                <p:spPr>
                  <a:xfrm rot="20491791">
                    <a:off x="10478705" y="4684852"/>
                    <a:ext cx="160388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Real part</a:t>
                    </a:r>
                    <a:endParaRPr lang="en-IN" dirty="0"/>
                  </a:p>
                </p:txBody>
              </p:sp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7626467E-15FF-E546-26D8-E4E3B017238B}"/>
                      </a:ext>
                    </a:extLst>
                  </p:cNvPr>
                  <p:cNvSpPr txBox="1"/>
                  <p:nvPr/>
                </p:nvSpPr>
                <p:spPr>
                  <a:xfrm rot="20491791">
                    <a:off x="4143019" y="3055272"/>
                    <a:ext cx="160388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Real part</a:t>
                    </a:r>
                    <a:endParaRPr lang="en-IN" dirty="0"/>
                  </a:p>
                </p:txBody>
              </p: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73407109-3520-1E05-44B7-EEFB81141B9A}"/>
                      </a:ext>
                    </a:extLst>
                  </p:cNvPr>
                  <p:cNvSpPr txBox="1"/>
                  <p:nvPr/>
                </p:nvSpPr>
                <p:spPr>
                  <a:xfrm>
                    <a:off x="8548607" y="3410382"/>
                    <a:ext cx="115800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 err="1"/>
                      <a:t>Im</a:t>
                    </a:r>
                    <a:r>
                      <a:rPr lang="en-US" dirty="0"/>
                      <a:t> part</a:t>
                    </a:r>
                    <a:endParaRPr lang="en-IN" dirty="0"/>
                  </a:p>
                </p:txBody>
              </p: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CDD4C2CC-CCD8-261F-963D-38EC7D223AF0}"/>
                      </a:ext>
                    </a:extLst>
                  </p:cNvPr>
                  <p:cNvSpPr txBox="1"/>
                  <p:nvPr/>
                </p:nvSpPr>
                <p:spPr>
                  <a:xfrm>
                    <a:off x="5560531" y="2643946"/>
                    <a:ext cx="115800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 err="1"/>
                      <a:t>Im</a:t>
                    </a:r>
                    <a:r>
                      <a:rPr lang="en-US" dirty="0"/>
                      <a:t> part</a:t>
                    </a:r>
                    <a:endParaRPr lang="en-IN" dirty="0"/>
                  </a:p>
                </p:txBody>
              </p: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56EB57BD-43C4-16C8-B2F1-08AAB58BF1BF}"/>
                      </a:ext>
                    </a:extLst>
                  </p:cNvPr>
                  <p:cNvSpPr txBox="1"/>
                  <p:nvPr/>
                </p:nvSpPr>
                <p:spPr>
                  <a:xfrm>
                    <a:off x="1781027" y="1772642"/>
                    <a:ext cx="115800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 err="1"/>
                      <a:t>Im</a:t>
                    </a:r>
                    <a:r>
                      <a:rPr lang="en-US" dirty="0"/>
                      <a:t> part</a:t>
                    </a:r>
                    <a:endParaRPr lang="en-IN" dirty="0"/>
                  </a:p>
                </p:txBody>
              </p:sp>
            </p:grpSp>
          </p:grp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6203ED6C-8EAD-2700-1AAE-6C5CD2F50E26}"/>
                  </a:ext>
                </a:extLst>
              </p:cNvPr>
              <p:cNvSpPr/>
              <p:nvPr/>
            </p:nvSpPr>
            <p:spPr>
              <a:xfrm>
                <a:off x="8443509" y="4180493"/>
                <a:ext cx="319661" cy="274551"/>
              </a:xfrm>
              <a:prstGeom prst="arc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17CECA8F-5A19-379E-141B-0B2266AFC05F}"/>
                      </a:ext>
                    </a:extLst>
                  </p:cNvPr>
                  <p:cNvSpPr txBox="1"/>
                  <p:nvPr/>
                </p:nvSpPr>
                <p:spPr>
                  <a:xfrm>
                    <a:off x="8653308" y="3918583"/>
                    <a:ext cx="41413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17CECA8F-5A19-379E-141B-0B2266AFC0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53308" y="3918583"/>
                    <a:ext cx="414135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r="-61194" b="-15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8" name="Arc 47">
                <a:extLst>
                  <a:ext uri="{FF2B5EF4-FFF2-40B4-BE49-F238E27FC236}">
                    <a16:creationId xmlns:a16="http://schemas.microsoft.com/office/drawing/2014/main" id="{CCAE2B41-3A29-AE1D-937B-920E63D8DDC7}"/>
                  </a:ext>
                </a:extLst>
              </p:cNvPr>
              <p:cNvSpPr/>
              <p:nvPr/>
            </p:nvSpPr>
            <p:spPr>
              <a:xfrm rot="3381989">
                <a:off x="2622229" y="2571178"/>
                <a:ext cx="319661" cy="274551"/>
              </a:xfrm>
              <a:prstGeom prst="arc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73C086C4-FA37-9DAD-43A1-900198B1D7A7}"/>
                      </a:ext>
                    </a:extLst>
                  </p:cNvPr>
                  <p:cNvSpPr txBox="1"/>
                  <p:nvPr/>
                </p:nvSpPr>
                <p:spPr>
                  <a:xfrm>
                    <a:off x="2922129" y="2495019"/>
                    <a:ext cx="41413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73C086C4-FA37-9DAD-43A1-900198B1D7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2129" y="2495019"/>
                    <a:ext cx="414135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101471" b="-14754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5970B7D7-A1A8-B551-57F9-77C53E6947B4}"/>
                </a:ext>
              </a:extLst>
            </p:cNvPr>
            <p:cNvCxnSpPr/>
            <p:nvPr/>
          </p:nvCxnSpPr>
          <p:spPr>
            <a:xfrm>
              <a:off x="671840" y="4622800"/>
              <a:ext cx="4483298" cy="151384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8C1BB29-A216-3DB7-8168-9E2C8A0AEA18}"/>
                </a:ext>
              </a:extLst>
            </p:cNvPr>
            <p:cNvSpPr txBox="1"/>
            <p:nvPr/>
          </p:nvSpPr>
          <p:spPr>
            <a:xfrm>
              <a:off x="671840" y="4946018"/>
              <a:ext cx="172083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Continuous frequency domain!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4496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5D4C9-542E-DCF0-9444-501ECC8AA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transform example</a:t>
            </a:r>
            <a:endParaRPr lang="en-IN" dirty="0"/>
          </a:p>
        </p:txBody>
      </p:sp>
      <p:pic>
        <p:nvPicPr>
          <p:cNvPr id="3074" name="Picture 2" descr="odd_even">
            <a:extLst>
              <a:ext uri="{FF2B5EF4-FFF2-40B4-BE49-F238E27FC236}">
                <a16:creationId xmlns:a16="http://schemas.microsoft.com/office/drawing/2014/main" id="{FEB7F485-4762-0511-4FFB-4CC24033E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030480"/>
            <a:ext cx="10553700" cy="413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AC80B0-5088-5F65-3091-220901E6AF34}"/>
                  </a:ext>
                </a:extLst>
              </p:cNvPr>
              <p:cNvSpPr txBox="1"/>
              <p:nvPr/>
            </p:nvSpPr>
            <p:spPr>
              <a:xfrm>
                <a:off x="3597310" y="5446207"/>
                <a:ext cx="4742822" cy="40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4AC80B0-5088-5F65-3091-220901E6A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310" y="5446207"/>
                <a:ext cx="4742822" cy="404983"/>
              </a:xfrm>
              <a:prstGeom prst="rect">
                <a:avLst/>
              </a:prstGeom>
              <a:blipFill>
                <a:blip r:embed="rId3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302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39C2D-D0E4-C5EB-B788-8FE20C0DB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transform 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7DD28-64E1-B0C5-39B1-789D797AAA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Find the Fourier Transform of the following signal: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𝑓𝑡</m:t>
                                </m:r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𝑓𝑡</m:t>
                            </m:r>
                          </m:e>
                        </m:d>
                      </m:e>
                    </m:func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bSup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𝑠𝑖𝑛𝑐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d>
                  </m:oMath>
                </a14:m>
                <a:endParaRPr lang="en-IN" dirty="0"/>
              </a:p>
              <a:p>
                <a:r>
                  <a:rPr lang="en-IN" dirty="0"/>
                  <a:t>How do magnitude and phase of this function look?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C7DD28-64E1-B0C5-39B1-789D797AAA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34" t="-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C8400C7D-EA33-F383-B532-F636480679BA}"/>
              </a:ext>
            </a:extLst>
          </p:cNvPr>
          <p:cNvGrpSpPr/>
          <p:nvPr/>
        </p:nvGrpSpPr>
        <p:grpSpPr>
          <a:xfrm>
            <a:off x="940567" y="1229277"/>
            <a:ext cx="6240027" cy="1815408"/>
            <a:chOff x="2331217" y="1219752"/>
            <a:chExt cx="6240027" cy="181540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73B4005-83BC-617B-F8CF-BB9408BBBD20}"/>
                </a:ext>
              </a:extLst>
            </p:cNvPr>
            <p:cNvCxnSpPr/>
            <p:nvPr/>
          </p:nvCxnSpPr>
          <p:spPr>
            <a:xfrm flipV="1">
              <a:off x="5225143" y="1477108"/>
              <a:ext cx="0" cy="8742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9661B09-973A-B4C4-6864-4C845CBB4F21}"/>
                </a:ext>
              </a:extLst>
            </p:cNvPr>
            <p:cNvCxnSpPr/>
            <p:nvPr/>
          </p:nvCxnSpPr>
          <p:spPr>
            <a:xfrm>
              <a:off x="2562330" y="2351314"/>
              <a:ext cx="575770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B68730A-6E4D-3269-2216-CB293344765C}"/>
                    </a:ext>
                  </a:extLst>
                </p:cNvPr>
                <p:cNvSpPr txBox="1"/>
                <p:nvPr/>
              </p:nvSpPr>
              <p:spPr>
                <a:xfrm>
                  <a:off x="8119068" y="2318711"/>
                  <a:ext cx="4521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B68730A-6E4D-3269-2216-CB29334476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9068" y="2318711"/>
                  <a:ext cx="45217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402413D-81ED-F58D-6D0D-CCDAD0663E04}"/>
                    </a:ext>
                  </a:extLst>
                </p:cNvPr>
                <p:cNvSpPr txBox="1"/>
                <p:nvPr/>
              </p:nvSpPr>
              <p:spPr>
                <a:xfrm>
                  <a:off x="5184950" y="1219752"/>
                  <a:ext cx="4521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402413D-81ED-F58D-6D0D-CCDAD0663E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4950" y="1219752"/>
                  <a:ext cx="452176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BA95B5-C7AB-B16A-DC51-068B13812841}"/>
                </a:ext>
              </a:extLst>
            </p:cNvPr>
            <p:cNvCxnSpPr/>
            <p:nvPr/>
          </p:nvCxnSpPr>
          <p:spPr>
            <a:xfrm>
              <a:off x="4672483" y="1914211"/>
              <a:ext cx="1105319" cy="0"/>
            </a:xfrm>
            <a:prstGeom prst="line">
              <a:avLst/>
            </a:prstGeom>
            <a:ln w="57150">
              <a:solidFill>
                <a:srgbClr val="4E0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B07A993-750A-FFB0-8BE5-965F66B51491}"/>
                </a:ext>
              </a:extLst>
            </p:cNvPr>
            <p:cNvCxnSpPr>
              <a:cxnSpLocks/>
            </p:cNvCxnSpPr>
            <p:nvPr/>
          </p:nvCxnSpPr>
          <p:spPr>
            <a:xfrm>
              <a:off x="5777802" y="2356446"/>
              <a:ext cx="2341266" cy="0"/>
            </a:xfrm>
            <a:prstGeom prst="line">
              <a:avLst/>
            </a:prstGeom>
            <a:ln w="57150">
              <a:solidFill>
                <a:srgbClr val="4E0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A28EF31-4039-095C-FC70-D242DFEFBA9D}"/>
                </a:ext>
              </a:extLst>
            </p:cNvPr>
            <p:cNvCxnSpPr>
              <a:cxnSpLocks/>
            </p:cNvCxnSpPr>
            <p:nvPr/>
          </p:nvCxnSpPr>
          <p:spPr>
            <a:xfrm>
              <a:off x="2331217" y="2358120"/>
              <a:ext cx="2341266" cy="0"/>
            </a:xfrm>
            <a:prstGeom prst="line">
              <a:avLst/>
            </a:prstGeom>
            <a:ln w="57150">
              <a:solidFill>
                <a:srgbClr val="4E0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CF7EF3-4B67-1C31-5632-E7A60694872C}"/>
                </a:ext>
              </a:extLst>
            </p:cNvPr>
            <p:cNvCxnSpPr/>
            <p:nvPr/>
          </p:nvCxnSpPr>
          <p:spPr>
            <a:xfrm>
              <a:off x="4672483" y="1914211"/>
              <a:ext cx="0" cy="437103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939A553-6897-4ABA-E726-675DD1F520C6}"/>
                </a:ext>
              </a:extLst>
            </p:cNvPr>
            <p:cNvCxnSpPr/>
            <p:nvPr/>
          </p:nvCxnSpPr>
          <p:spPr>
            <a:xfrm>
              <a:off x="5777802" y="1914211"/>
              <a:ext cx="0" cy="443909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081465C-9D74-154E-FA09-E262B28E8278}"/>
                    </a:ext>
                  </a:extLst>
                </p:cNvPr>
                <p:cNvSpPr txBox="1"/>
                <p:nvPr/>
              </p:nvSpPr>
              <p:spPr>
                <a:xfrm>
                  <a:off x="4238887" y="2472185"/>
                  <a:ext cx="452176" cy="5629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081465C-9D74-154E-FA09-E262B28E82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8887" y="2472185"/>
                  <a:ext cx="452176" cy="5629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C97A058-7D0A-F0C3-9568-531F0C364BE1}"/>
                    </a:ext>
                  </a:extLst>
                </p:cNvPr>
                <p:cNvSpPr txBox="1"/>
                <p:nvPr/>
              </p:nvSpPr>
              <p:spPr>
                <a:xfrm>
                  <a:off x="5551714" y="2467872"/>
                  <a:ext cx="452176" cy="5629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C97A058-7D0A-F0C3-9568-531F0C364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1714" y="2467872"/>
                  <a:ext cx="452176" cy="5629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8E120D2-DB14-3FAD-21BC-925DA18BC4B8}"/>
                    </a:ext>
                  </a:extLst>
                </p:cNvPr>
                <p:cNvSpPr txBox="1"/>
                <p:nvPr/>
              </p:nvSpPr>
              <p:spPr>
                <a:xfrm>
                  <a:off x="5666684" y="1671267"/>
                  <a:ext cx="4521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8E120D2-DB14-3FAD-21BC-925DA18BC4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6684" y="1671267"/>
                  <a:ext cx="45217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2A78D5F9-981F-3BFD-5365-487DCA57018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271" t="4559"/>
          <a:stretch/>
        </p:blipFill>
        <p:spPr>
          <a:xfrm>
            <a:off x="7145719" y="2322635"/>
            <a:ext cx="5212622" cy="372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6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E472-421B-1FDC-3E0F-2CAA0472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F58D86-E745-8398-EC53-280730E5D5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882" y="841076"/>
                <a:ext cx="10581017" cy="517584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So far we have seen how to deal with analog signals (i.e. where we have the signal values at every single time instance)</a:t>
                </a:r>
              </a:p>
              <a:p>
                <a:r>
                  <a:rPr lang="en-US" sz="2400" dirty="0"/>
                  <a:t>In reality, we will always encounter discrete signals. These signals are sampled continuous signals</a:t>
                </a:r>
              </a:p>
              <a:p>
                <a:r>
                  <a:rPr lang="en-US" sz="2400" dirty="0"/>
                  <a:t>The interval between samples is typically uniform, say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A continuous signal is written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400" b="0" dirty="0"/>
              </a:p>
              <a:p>
                <a:r>
                  <a:rPr lang="en-US" sz="2400" dirty="0"/>
                  <a:t>For discrete signal we have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F58D86-E745-8398-EC53-280730E5D5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882" y="841076"/>
                <a:ext cx="10581017" cy="5175848"/>
              </a:xfrm>
              <a:blipFill>
                <a:blip r:embed="rId2"/>
                <a:stretch>
                  <a:fillRect l="-749" t="-707" r="-4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discrete">
            <a:extLst>
              <a:ext uri="{FF2B5EF4-FFF2-40B4-BE49-F238E27FC236}">
                <a16:creationId xmlns:a16="http://schemas.microsoft.com/office/drawing/2014/main" id="{528371BF-3401-460F-00BF-79DA5D3F8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460" y="3290900"/>
            <a:ext cx="5161190" cy="3436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3442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AF092-0A38-6998-D097-222968E6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Dirac delta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B5178E-317E-C4FC-7F44-24AC46B70C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8836" y="766015"/>
                <a:ext cx="7826054" cy="545812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sz="2800" dirty="0"/>
                  <a:t>Dirac delta function is defined as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sz="24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b="0" dirty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US" sz="2600" dirty="0"/>
              </a:p>
              <a:p>
                <a:r>
                  <a:rPr lang="en-US" sz="2800" dirty="0"/>
                  <a:t>Where have you seen this?</a:t>
                </a:r>
              </a:p>
              <a:p>
                <a:r>
                  <a:rPr lang="en-US" sz="2600" dirty="0"/>
                  <a:t>Dirac Delta is an idealized function. In reality, it would look: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sub>
                      </m:sSub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den>
                              </m:f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,  |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|≤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0,   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600" dirty="0"/>
              </a:p>
              <a:p>
                <a:r>
                  <a:rPr lang="en-US" sz="2600" dirty="0"/>
                  <a:t>In this course, we will assume idealized Dirac Delta Function</a:t>
                </a:r>
              </a:p>
              <a:p>
                <a:r>
                  <a:rPr lang="en-US" sz="2600" dirty="0"/>
                  <a:t>Sifting property of Dirac-Delta: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B5178E-317E-C4FC-7F44-24AC46B70C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8836" y="766015"/>
                <a:ext cx="7826054" cy="5458124"/>
              </a:xfrm>
              <a:blipFill>
                <a:blip r:embed="rId2"/>
                <a:stretch>
                  <a:fillRect l="-1090" t="-15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dirac">
            <a:extLst>
              <a:ext uri="{FF2B5EF4-FFF2-40B4-BE49-F238E27FC236}">
                <a16:creationId xmlns:a16="http://schemas.microsoft.com/office/drawing/2014/main" id="{9EFBAC70-EE48-A76D-935B-E92AB9ED3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199" y="0"/>
            <a:ext cx="2775857" cy="197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al_delta">
            <a:extLst>
              <a:ext uri="{FF2B5EF4-FFF2-40B4-BE49-F238E27FC236}">
                <a16:creationId xmlns:a16="http://schemas.microsoft.com/office/drawing/2014/main" id="{C80828F5-65CC-BCF4-CF20-CDD0E9F25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515" y="1974863"/>
            <a:ext cx="3520650" cy="233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ifting">
            <a:extLst>
              <a:ext uri="{FF2B5EF4-FFF2-40B4-BE49-F238E27FC236}">
                <a16:creationId xmlns:a16="http://schemas.microsoft.com/office/drawing/2014/main" id="{6FA14F79-35D9-A720-0961-F0C5479BFD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00" b="34170"/>
          <a:stretch>
            <a:fillRect/>
          </a:stretch>
        </p:blipFill>
        <p:spPr bwMode="auto">
          <a:xfrm>
            <a:off x="8142515" y="4436434"/>
            <a:ext cx="3418113" cy="2270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059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CAD01-54AC-5EEB-4F06-29BF5775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 to digital conversion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784E59-81A8-1228-706C-976E94767C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In reality, we always use digital signals. Let us now try to understand what happens to our frequency content due to sampling</a:t>
                </a:r>
              </a:p>
              <a:p>
                <a:r>
                  <a:rPr lang="en-US" sz="2400" dirty="0"/>
                  <a:t>For this we will represent the sampled signal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Where,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the analog signal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the Dirac-Delta pulse train.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784E59-81A8-1228-706C-976E94767C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64" t="-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atod">
            <a:extLst>
              <a:ext uri="{FF2B5EF4-FFF2-40B4-BE49-F238E27FC236}">
                <a16:creationId xmlns:a16="http://schemas.microsoft.com/office/drawing/2014/main" id="{44FDBEAC-363D-00D1-7557-37DC31BC16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899"/>
          <a:stretch>
            <a:fillRect/>
          </a:stretch>
        </p:blipFill>
        <p:spPr bwMode="auto">
          <a:xfrm>
            <a:off x="800101" y="4179267"/>
            <a:ext cx="5032602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pulse_train">
            <a:extLst>
              <a:ext uri="{FF2B5EF4-FFF2-40B4-BE49-F238E27FC236}">
                <a16:creationId xmlns:a16="http://schemas.microsoft.com/office/drawing/2014/main" id="{745E80E8-01ED-476B-F7DE-221552A76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780" y="4528971"/>
            <a:ext cx="4581525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7254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438C9-A62E-FF7A-F935-10EFDA742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transform of sampled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4A3BD7-D098-AE0F-FDBB-7C8E4C34CD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sz="2800" dirty="0"/>
                  <a:t>First, let us look at Fourier transform of Dirac Delta Pulse train. It is periodic with period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800" dirty="0"/>
                  <a:t>. 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800" dirty="0"/>
                  <a:t>. Note that this is called sampling frequency</a:t>
                </a:r>
              </a:p>
              <a:p>
                <a:r>
                  <a:rPr lang="en-US" sz="2800" dirty="0"/>
                  <a:t>Thus, we will use Fourier Series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r>
                  <a:rPr lang="en-US" sz="2800" dirty="0"/>
                  <a:t>Fourier coefficients will be: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en-US" sz="280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en-US" sz="280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8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∗1=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Thus all Fourier coefficients are the same and equal to sampling frequency!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4A3BD7-D098-AE0F-FDBB-7C8E4C34CD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4" t="-14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969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BD613-6263-7E8A-F815-F8E6E4F0D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transform of sampled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A8FFA2-99C1-DF6B-BBB1-988B1A20E0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Thus, we can write,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unc>
                            <m:funcPr>
                              <m:ctrl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Now back to the sampled signal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𝑡𝑥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What is the Fourier transform of this?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𝑓𝑡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𝑡𝑥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𝑓𝑡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=−∞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  <m:func>
                            <m:funcPr>
                              <m:ctrlPr>
                                <a:rPr lang="en-US" sz="24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𝑓𝑡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A8FFA2-99C1-DF6B-BBB1-988B1A20E0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0762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19C39-C209-F5DF-AA29-DB8E106B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transform of sampled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0B65DF-CF6F-57FD-D28B-B87083479B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=−∞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d>
                          <m:func>
                            <m:funcPr>
                              <m:ctrlPr>
                                <a:rPr lang="en-US" sz="24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𝑓𝑡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Interchanging integral and summation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  <m:func>
                                <m:funcPr>
                                  <m:ctrl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𝑓𝑡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𝑘𝑓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0B65DF-CF6F-57FD-D28B-B87083479B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3085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7101-5718-D710-47DB-3CF27E04E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transform of sampled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E5F031-03E1-8029-EA56-F807C3F6A7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Thus, Fourier transform of sampled signal is spectrum of original signal but repeated with a frequency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dirty="0"/>
                  <a:t> and added! These additional copies made are called aliases of original frequency content!</a:t>
                </a:r>
              </a:p>
              <a:p>
                <a:r>
                  <a:rPr lang="en-US" dirty="0"/>
                  <a:t>Fourier transform in this case is called </a:t>
                </a:r>
                <a:r>
                  <a:rPr lang="en-US" i="1" dirty="0"/>
                  <a:t>Discrete Time Fourier Transform (DTFT).</a:t>
                </a:r>
                <a:endParaRPr lang="en-US" sz="2400" i="1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E5F031-03E1-8029-EA56-F807C3F6A7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sampled">
            <a:extLst>
              <a:ext uri="{FF2B5EF4-FFF2-40B4-BE49-F238E27FC236}">
                <a16:creationId xmlns:a16="http://schemas.microsoft.com/office/drawing/2014/main" id="{8EA80F41-EA83-9CB0-0DE0-9A5F82FCCB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587"/>
          <a:stretch>
            <a:fillRect/>
          </a:stretch>
        </p:blipFill>
        <p:spPr bwMode="auto">
          <a:xfrm>
            <a:off x="800099" y="4210310"/>
            <a:ext cx="3881363" cy="22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ampled">
            <a:extLst>
              <a:ext uri="{FF2B5EF4-FFF2-40B4-BE49-F238E27FC236}">
                <a16:creationId xmlns:a16="http://schemas.microsoft.com/office/drawing/2014/main" id="{14E6263F-F381-2098-8989-A47CF6BCE1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46"/>
          <a:stretch>
            <a:fillRect/>
          </a:stretch>
        </p:blipFill>
        <p:spPr bwMode="auto">
          <a:xfrm>
            <a:off x="5246809" y="4210310"/>
            <a:ext cx="6406847" cy="22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961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4FB583-B479-47C2-A593-4104C5DB2C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882" y="881429"/>
                <a:ext cx="6028729" cy="517584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sz="2800" dirty="0"/>
                  <a:t>Let us say frequency content of our analog signal is limited from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endParaRPr lang="en-US" sz="2800" dirty="0"/>
              </a:p>
              <a:p>
                <a:r>
                  <a:rPr lang="en-US" sz="2800" dirty="0"/>
                  <a:t>Consider two cases:</a:t>
                </a:r>
              </a:p>
              <a:p>
                <a:pPr marL="0" indent="0">
                  <a:buNone/>
                </a:pPr>
                <a:r>
                  <a:rPr lang="en-US" sz="2800" b="0" dirty="0"/>
                  <a:t>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&lt;2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In this case, copies interfere with</a:t>
                </a:r>
              </a:p>
              <a:p>
                <a:pPr marL="0" indent="0">
                  <a:buNone/>
                </a:pPr>
                <a:r>
                  <a:rPr lang="en-US" sz="2800" dirty="0"/>
                  <a:t>each other! This is called </a:t>
                </a:r>
                <a:r>
                  <a:rPr lang="en-US" sz="2800" i="1" dirty="0"/>
                  <a:t>Aliasing!</a:t>
                </a:r>
              </a:p>
              <a:p>
                <a:pPr marL="0" indent="0">
                  <a:buNone/>
                </a:pPr>
                <a:r>
                  <a:rPr lang="en-US" sz="2800" b="0" dirty="0"/>
                  <a:t>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&gt;2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In this case, copies don’t interfere with</a:t>
                </a:r>
              </a:p>
              <a:p>
                <a:pPr marL="0" indent="0">
                  <a:buNone/>
                </a:pPr>
                <a:r>
                  <a:rPr lang="en-US" sz="2800" dirty="0"/>
                  <a:t>each other! We would just scoop out </a:t>
                </a:r>
              </a:p>
              <a:p>
                <a:pPr marL="0" indent="0">
                  <a:buNone/>
                </a:pPr>
                <a:r>
                  <a:rPr lang="en-US" sz="2800" dirty="0"/>
                  <a:t>frequency content between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en-US" sz="2800" i="1" dirty="0"/>
                  <a:t>=&gt; Nyquist Sampling Rate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4FB583-B479-47C2-A593-4104C5DB2C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882" y="881429"/>
                <a:ext cx="6028729" cy="5175848"/>
              </a:xfrm>
              <a:blipFill>
                <a:blip r:embed="rId2"/>
                <a:stretch>
                  <a:fillRect l="-1517" t="-1649" r="-10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C6637FB-EB3F-666E-A097-6A6C0A6F2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theory and aliasing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22F7539-2E59-1F58-88E3-AA94110DB313}"/>
              </a:ext>
            </a:extLst>
          </p:cNvPr>
          <p:cNvGrpSpPr/>
          <p:nvPr/>
        </p:nvGrpSpPr>
        <p:grpSpPr>
          <a:xfrm>
            <a:off x="6467211" y="1260821"/>
            <a:ext cx="5864951" cy="2258102"/>
            <a:chOff x="5400040" y="3554492"/>
            <a:chExt cx="4951732" cy="1906498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1DF952B-D186-5B62-3A47-91808FD0AE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9040" y="3931920"/>
              <a:ext cx="0" cy="14448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1E6BE9F-16A0-DD76-EFBE-0EC7484A1527}"/>
                </a:ext>
              </a:extLst>
            </p:cNvPr>
            <p:cNvCxnSpPr>
              <a:cxnSpLocks/>
            </p:cNvCxnSpPr>
            <p:nvPr/>
          </p:nvCxnSpPr>
          <p:spPr>
            <a:xfrm>
              <a:off x="5400040" y="5140960"/>
              <a:ext cx="445262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1718EE1-8A8F-39D7-50A7-FB1EE7105AED}"/>
                    </a:ext>
                  </a:extLst>
                </p:cNvPr>
                <p:cNvSpPr txBox="1"/>
                <p:nvPr/>
              </p:nvSpPr>
              <p:spPr>
                <a:xfrm>
                  <a:off x="7033260" y="3554492"/>
                  <a:ext cx="944880" cy="3378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𝐬</m:t>
                            </m:r>
                          </m:sub>
                        </m:sSub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𝐟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b="1" dirty="0">
                    <a:latin typeface="Arial Rounded MT Bold" panose="020F070403050403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1718EE1-8A8F-39D7-50A7-FB1EE7105A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3260" y="3554492"/>
                  <a:ext cx="944880" cy="337810"/>
                </a:xfrm>
                <a:prstGeom prst="rect">
                  <a:avLst/>
                </a:prstGeom>
                <a:blipFill>
                  <a:blip r:embed="rId3"/>
                  <a:stretch>
                    <a:fillRect b="-18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E462B70-A972-4057-4B3A-C4CA2D4CD54C}"/>
                    </a:ext>
                  </a:extLst>
                </p:cNvPr>
                <p:cNvSpPr txBox="1"/>
                <p:nvPr/>
              </p:nvSpPr>
              <p:spPr>
                <a:xfrm>
                  <a:off x="9406892" y="5087754"/>
                  <a:ext cx="944880" cy="3378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𝐟</m:t>
                        </m:r>
                      </m:oMath>
                    </m:oMathPara>
                  </a14:m>
                  <a:endParaRPr lang="en-US" sz="2000" b="1" dirty="0">
                    <a:latin typeface="Arial Rounded MT Bold" panose="020F0704030504030204" pitchFamily="34" charset="0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E462B70-A972-4057-4B3A-C4CA2D4CD5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6892" y="5087754"/>
                  <a:ext cx="944880" cy="3378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FC70425-A715-514E-D673-6EE9334AEB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9040" y="4343400"/>
              <a:ext cx="1270000" cy="797560"/>
            </a:xfrm>
            <a:prstGeom prst="line">
              <a:avLst/>
            </a:prstGeom>
            <a:ln w="28575">
              <a:solidFill>
                <a:srgbClr val="05A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1B2E7B0-3142-29B3-E79F-4735FEAA0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43900" y="4343400"/>
              <a:ext cx="0" cy="79756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B18EB5A-F80A-2C52-BB7A-A6251AC2F1F6}"/>
                    </a:ext>
                  </a:extLst>
                </p:cNvPr>
                <p:cNvSpPr txBox="1"/>
                <p:nvPr/>
              </p:nvSpPr>
              <p:spPr>
                <a:xfrm>
                  <a:off x="8172450" y="5085691"/>
                  <a:ext cx="246380" cy="3378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𝐬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latin typeface="Arial Rounded MT Bold" panose="020F0704030504030204" pitchFamily="34" charset="0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B18EB5A-F80A-2C52-BB7A-A6251AC2F1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2450" y="5085691"/>
                  <a:ext cx="246380" cy="337810"/>
                </a:xfrm>
                <a:prstGeom prst="rect">
                  <a:avLst/>
                </a:prstGeom>
                <a:blipFill>
                  <a:blip r:embed="rId5"/>
                  <a:stretch>
                    <a:fillRect r="-127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926C8D-32EE-15B8-830A-8E60985654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9039" y="4343399"/>
              <a:ext cx="1270000" cy="797560"/>
            </a:xfrm>
            <a:prstGeom prst="line">
              <a:avLst/>
            </a:prstGeom>
            <a:ln w="28575">
              <a:solidFill>
                <a:srgbClr val="05A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8BE86FB-D4E0-9071-F3A6-D6C37707B0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43900" y="4351495"/>
              <a:ext cx="1270000" cy="797560"/>
            </a:xfrm>
            <a:prstGeom prst="line">
              <a:avLst/>
            </a:prstGeom>
            <a:ln w="28575">
              <a:solidFill>
                <a:srgbClr val="05A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1419032-8161-1D48-BCD2-24B7AFF8A7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3902" y="4351494"/>
              <a:ext cx="1270000" cy="797560"/>
            </a:xfrm>
            <a:prstGeom prst="line">
              <a:avLst/>
            </a:prstGeom>
            <a:ln w="28575">
              <a:solidFill>
                <a:srgbClr val="05A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E4A0948-A188-D87D-B4AA-FFA247387E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74179" y="4343399"/>
              <a:ext cx="0" cy="79756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4FCEE96-72DD-AFB3-AA93-E008712EA1DA}"/>
                    </a:ext>
                  </a:extLst>
                </p:cNvPr>
                <p:cNvSpPr txBox="1"/>
                <p:nvPr/>
              </p:nvSpPr>
              <p:spPr>
                <a:xfrm>
                  <a:off x="6402073" y="5081642"/>
                  <a:ext cx="246380" cy="3378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𝐬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latin typeface="Arial Rounded MT Bold" panose="020F07040305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4FCEE96-72DD-AFB3-AA93-E008712EA1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2073" y="5081642"/>
                  <a:ext cx="246380" cy="337810"/>
                </a:xfrm>
                <a:prstGeom prst="rect">
                  <a:avLst/>
                </a:prstGeom>
                <a:blipFill>
                  <a:blip r:embed="rId6"/>
                  <a:stretch>
                    <a:fillRect r="-787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C44C349-D11C-97D4-F642-2D4285DEF8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67831" y="4339352"/>
              <a:ext cx="1270000" cy="797560"/>
            </a:xfrm>
            <a:prstGeom prst="line">
              <a:avLst/>
            </a:prstGeom>
            <a:ln w="28575">
              <a:solidFill>
                <a:srgbClr val="05A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56704BE-2F84-E943-7BE6-2D93D6EEC2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7833" y="4339351"/>
              <a:ext cx="1270000" cy="797560"/>
            </a:xfrm>
            <a:prstGeom prst="line">
              <a:avLst/>
            </a:prstGeom>
            <a:ln w="28575">
              <a:solidFill>
                <a:srgbClr val="05A6D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0B03ACC-8685-2F02-647D-9727A49DDB9E}"/>
                    </a:ext>
                  </a:extLst>
                </p:cNvPr>
                <p:cNvSpPr txBox="1"/>
                <p:nvPr/>
              </p:nvSpPr>
              <p:spPr>
                <a:xfrm>
                  <a:off x="8684262" y="5123180"/>
                  <a:ext cx="289558" cy="3378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latin typeface="Arial Rounded MT Bold" panose="020F0704030504030204" pitchFamily="34" charset="0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0B03ACC-8685-2F02-647D-9727A49DDB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4262" y="5123180"/>
                  <a:ext cx="289558" cy="337810"/>
                </a:xfrm>
                <a:prstGeom prst="rect">
                  <a:avLst/>
                </a:prstGeom>
                <a:blipFill>
                  <a:blip r:embed="rId7"/>
                  <a:stretch>
                    <a:fillRect r="-8929" b="-61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02B5E8B-5FD7-5783-906A-76FD34EE3753}"/>
                    </a:ext>
                  </a:extLst>
                </p:cNvPr>
                <p:cNvSpPr txBox="1"/>
                <p:nvPr/>
              </p:nvSpPr>
              <p:spPr>
                <a:xfrm>
                  <a:off x="5918840" y="5081642"/>
                  <a:ext cx="289558" cy="3378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𝐡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latin typeface="Arial Rounded MT Bold" panose="020F0704030504030204" pitchFamily="34" charset="0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02B5E8B-5FD7-5783-906A-76FD34EE3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8840" y="5081642"/>
                  <a:ext cx="289558" cy="337810"/>
                </a:xfrm>
                <a:prstGeom prst="rect">
                  <a:avLst/>
                </a:prstGeom>
                <a:blipFill>
                  <a:blip r:embed="rId8"/>
                  <a:stretch>
                    <a:fillRect r="-62500" b="-61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0BB2728-A548-5A87-968B-5CF0846E0CB1}"/>
              </a:ext>
            </a:extLst>
          </p:cNvPr>
          <p:cNvGrpSpPr/>
          <p:nvPr/>
        </p:nvGrpSpPr>
        <p:grpSpPr>
          <a:xfrm>
            <a:off x="6218553" y="3803962"/>
            <a:ext cx="6217162" cy="2169784"/>
            <a:chOff x="6076354" y="3361576"/>
            <a:chExt cx="6217162" cy="2169784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90F99AE8-E4AA-1901-C088-2B1F2F5AF212}"/>
                </a:ext>
              </a:extLst>
            </p:cNvPr>
            <p:cNvGrpSpPr/>
            <p:nvPr/>
          </p:nvGrpSpPr>
          <p:grpSpPr>
            <a:xfrm>
              <a:off x="6076354" y="3361576"/>
              <a:ext cx="6217162" cy="2169784"/>
              <a:chOff x="5953760" y="4617264"/>
              <a:chExt cx="5662975" cy="1976373"/>
            </a:xfrm>
          </p:grpSpPr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5718B244-76B0-EDC3-0919-514EA309E0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22868" y="4887048"/>
                <a:ext cx="0" cy="165243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FECB698-876A-066B-A5C2-779D927B58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3760" y="6269749"/>
                <a:ext cx="5092173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AAE62A25-0220-81F0-4731-0E20FEFBA937}"/>
                      </a:ext>
                    </a:extLst>
                  </p:cNvPr>
                  <p:cNvSpPr txBox="1"/>
                  <p:nvPr/>
                </p:nvSpPr>
                <p:spPr>
                  <a:xfrm>
                    <a:off x="7574659" y="4617264"/>
                    <a:ext cx="1080598" cy="3644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  <m:sub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sub>
                          </m:sSub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𝐟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0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AAE62A25-0220-81F0-4731-0E20FEFBA9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74659" y="4617264"/>
                    <a:ext cx="1080598" cy="36444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BC6D8CF4-DF63-FE6D-EB74-C9BBB9C7FDE6}"/>
                      </a:ext>
                    </a:extLst>
                  </p:cNvPr>
                  <p:cNvSpPr txBox="1"/>
                  <p:nvPr/>
                </p:nvSpPr>
                <p:spPr>
                  <a:xfrm>
                    <a:off x="10536137" y="6208900"/>
                    <a:ext cx="1080598" cy="3644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𝐟</m:t>
                          </m:r>
                        </m:oMath>
                      </m:oMathPara>
                    </a14:m>
                    <a:endParaRPr lang="en-US" sz="20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BC6D8CF4-DF63-FE6D-EB74-C9BBB9C7FD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36137" y="6208900"/>
                    <a:ext cx="1080598" cy="36444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B3017FB8-8BC3-6427-60AE-82BE3541A6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422868" y="5357631"/>
                <a:ext cx="232389" cy="912117"/>
              </a:xfrm>
              <a:prstGeom prst="line">
                <a:avLst/>
              </a:prstGeom>
              <a:ln w="28575">
                <a:solidFill>
                  <a:srgbClr val="05A6D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DFCEBE40-FD36-02BA-BEB5-487A8F5326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20462" y="5357631"/>
                <a:ext cx="0" cy="912118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BD7E859C-3824-04BA-CFF3-1E1747A7BDB1}"/>
                      </a:ext>
                    </a:extLst>
                  </p:cNvPr>
                  <p:cNvSpPr txBox="1"/>
                  <p:nvPr/>
                </p:nvSpPr>
                <p:spPr>
                  <a:xfrm>
                    <a:off x="9124386" y="6206541"/>
                    <a:ext cx="281769" cy="3644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sub>
                          </m:sSub>
                        </m:oMath>
                      </m:oMathPara>
                    </a14:m>
                    <a:endParaRPr lang="en-US" sz="20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BD7E859C-3824-04BA-CFF3-1E1747A7BD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24386" y="6206541"/>
                    <a:ext cx="281769" cy="36444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39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ACC2746-467A-3F31-9E32-6E3E6A0971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25274" y="5357630"/>
                <a:ext cx="0" cy="912118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B421957F-E262-DBA7-4C32-88872083593D}"/>
                      </a:ext>
                    </a:extLst>
                  </p:cNvPr>
                  <p:cNvSpPr txBox="1"/>
                  <p:nvPr/>
                </p:nvSpPr>
                <p:spPr>
                  <a:xfrm>
                    <a:off x="7099720" y="6201911"/>
                    <a:ext cx="281769" cy="3644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sub>
                          </m:sSub>
                        </m:oMath>
                      </m:oMathPara>
                    </a14:m>
                    <a:endParaRPr lang="en-US" sz="20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B421957F-E262-DBA7-4C32-8887208359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9720" y="6201911"/>
                    <a:ext cx="281769" cy="36444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6470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0E14D000-321D-E70F-5DBD-8327D258CEA3}"/>
                      </a:ext>
                    </a:extLst>
                  </p:cNvPr>
                  <p:cNvSpPr txBox="1"/>
                  <p:nvPr/>
                </p:nvSpPr>
                <p:spPr>
                  <a:xfrm>
                    <a:off x="8520184" y="6208899"/>
                    <a:ext cx="331149" cy="3644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sub>
                          </m:sSub>
                        </m:oMath>
                      </m:oMathPara>
                    </a14:m>
                    <a:endParaRPr lang="en-US" sz="20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0E14D000-321D-E70F-5DBD-8327D258CE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20184" y="6208899"/>
                    <a:ext cx="331149" cy="36444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667" b="-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896A75F3-DA7E-7500-528B-E8266F42AAB1}"/>
                      </a:ext>
                    </a:extLst>
                  </p:cNvPr>
                  <p:cNvSpPr txBox="1"/>
                  <p:nvPr/>
                </p:nvSpPr>
                <p:spPr>
                  <a:xfrm>
                    <a:off x="7794435" y="6229192"/>
                    <a:ext cx="331149" cy="3644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sub>
                          </m:sSub>
                        </m:oMath>
                      </m:oMathPara>
                    </a14:m>
                    <a:endParaRPr lang="en-US" sz="2000" b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896A75F3-DA7E-7500-528B-E8266F42AA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94435" y="6229192"/>
                    <a:ext cx="331149" cy="36444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54237" b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A2CAE347-14AF-6E11-D680-AC0C38889E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92398" y="5355975"/>
                <a:ext cx="232389" cy="912117"/>
              </a:xfrm>
              <a:prstGeom prst="line">
                <a:avLst/>
              </a:prstGeom>
              <a:ln w="28575">
                <a:solidFill>
                  <a:srgbClr val="05A6D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68B50D0-6F52-4546-A074-32143A0191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320462" y="5377898"/>
                <a:ext cx="232389" cy="912117"/>
              </a:xfrm>
              <a:prstGeom prst="line">
                <a:avLst/>
              </a:prstGeom>
              <a:ln w="28575">
                <a:solidFill>
                  <a:srgbClr val="05A6D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6012A897-A7EE-03E8-96BF-034FB65844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89992" y="5376242"/>
                <a:ext cx="232389" cy="912117"/>
              </a:xfrm>
              <a:prstGeom prst="line">
                <a:avLst/>
              </a:prstGeom>
              <a:ln w="28575">
                <a:solidFill>
                  <a:srgbClr val="05A6D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FB987049-6680-77F0-01E7-BE6B54026E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523356" y="5355976"/>
                <a:ext cx="232389" cy="912117"/>
              </a:xfrm>
              <a:prstGeom prst="line">
                <a:avLst/>
              </a:prstGeom>
              <a:ln w="28575">
                <a:solidFill>
                  <a:srgbClr val="05A6D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943BEDDB-9D94-25A6-543D-EB76429121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92886" y="5354320"/>
                <a:ext cx="232389" cy="912117"/>
              </a:xfrm>
              <a:prstGeom prst="line">
                <a:avLst/>
              </a:prstGeom>
              <a:ln w="28575">
                <a:solidFill>
                  <a:srgbClr val="05A6D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A33CDC1-A3E3-CF1B-7D1B-DB719C9E42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0120" y="4170761"/>
              <a:ext cx="0" cy="1001379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1CAC36D-B16E-0056-3453-6AD4322B9C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2784" y="4170760"/>
              <a:ext cx="0" cy="1001379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6C877E3F-50C7-5817-2F8A-B0A1C878141D}"/>
                    </a:ext>
                  </a:extLst>
                </p:cNvPr>
                <p:cNvSpPr txBox="1"/>
                <p:nvPr/>
              </p:nvSpPr>
              <p:spPr>
                <a:xfrm>
                  <a:off x="9179097" y="3676142"/>
                  <a:ext cx="496865" cy="7007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𝐬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en-US" sz="20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6C877E3F-50C7-5817-2F8A-B0A1C87814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9097" y="3676142"/>
                  <a:ext cx="496865" cy="70076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0DF26D80-0D2B-56E9-D934-CC70FDE4C917}"/>
                    </a:ext>
                  </a:extLst>
                </p:cNvPr>
                <p:cNvSpPr txBox="1"/>
                <p:nvPr/>
              </p:nvSpPr>
              <p:spPr>
                <a:xfrm>
                  <a:off x="7879603" y="3790464"/>
                  <a:ext cx="496865" cy="7007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𝐬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1" i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en-US" sz="20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0DF26D80-0D2B-56E9-D934-CC70FDE4C9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9603" y="3790464"/>
                  <a:ext cx="496865" cy="70076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53336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715DE-AA1D-3C6B-7870-CB226519A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Aliasing example</a:t>
            </a:r>
          </a:p>
        </p:txBody>
      </p:sp>
      <p:pic>
        <p:nvPicPr>
          <p:cNvPr id="1026" name="Picture 2" descr="first">
            <a:extLst>
              <a:ext uri="{FF2B5EF4-FFF2-40B4-BE49-F238E27FC236}">
                <a16:creationId xmlns:a16="http://schemas.microsoft.com/office/drawing/2014/main" id="{CAEE6B9D-BFE1-753B-717B-B75AA2993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13" y="797333"/>
            <a:ext cx="5961387" cy="309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ampled2">
            <a:extLst>
              <a:ext uri="{FF2B5EF4-FFF2-40B4-BE49-F238E27FC236}">
                <a16:creationId xmlns:a16="http://schemas.microsoft.com/office/drawing/2014/main" id="{3F3AE921-0863-14B5-F080-C7F2851DD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611" y="797331"/>
            <a:ext cx="5961389" cy="309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ampling3">
            <a:extLst>
              <a:ext uri="{FF2B5EF4-FFF2-40B4-BE49-F238E27FC236}">
                <a16:creationId xmlns:a16="http://schemas.microsoft.com/office/drawing/2014/main" id="{3CFC61BD-2874-ADDF-258A-635C54E37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366" y="3888725"/>
            <a:ext cx="7749268" cy="2969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ADB53E-8C44-2221-AABA-758AA48A78B1}"/>
                  </a:ext>
                </a:extLst>
              </p:cNvPr>
              <p:cNvSpPr txBox="1"/>
              <p:nvPr/>
            </p:nvSpPr>
            <p:spPr>
              <a:xfrm>
                <a:off x="10504715" y="3888725"/>
                <a:ext cx="13062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=14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𝐻𝑧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ADB53E-8C44-2221-AABA-758AA48A7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715" y="3888725"/>
                <a:ext cx="1306286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CAF462A-17F9-B854-8C6F-D2476ADB2CBE}"/>
              </a:ext>
            </a:extLst>
          </p:cNvPr>
          <p:cNvSpPr txBox="1"/>
          <p:nvPr/>
        </p:nvSpPr>
        <p:spPr>
          <a:xfrm>
            <a:off x="10329705" y="4521758"/>
            <a:ext cx="1862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Sampling rate &gt; Nyquist Rate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4582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88BE2-ED10-DC5C-6D77-34BA74C2B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Aliasing example</a:t>
            </a:r>
            <a:endParaRPr lang="en-IN" dirty="0"/>
          </a:p>
        </p:txBody>
      </p:sp>
      <p:pic>
        <p:nvPicPr>
          <p:cNvPr id="2052" name="Picture 4" descr="sampling7">
            <a:extLst>
              <a:ext uri="{FF2B5EF4-FFF2-40B4-BE49-F238E27FC236}">
                <a16:creationId xmlns:a16="http://schemas.microsoft.com/office/drawing/2014/main" id="{0732B6F7-9593-82E4-EF05-5CF8EDA10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1368" y="3628885"/>
            <a:ext cx="8212434" cy="315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ampling6">
            <a:extLst>
              <a:ext uri="{FF2B5EF4-FFF2-40B4-BE49-F238E27FC236}">
                <a16:creationId xmlns:a16="http://schemas.microsoft.com/office/drawing/2014/main" id="{624053F3-F4A9-69A6-8EF9-11A8ECE90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1872"/>
            <a:ext cx="6096000" cy="316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BA6359-BB39-3A49-2793-1A6E7B21FFF2}"/>
                  </a:ext>
                </a:extLst>
              </p:cNvPr>
              <p:cNvSpPr txBox="1"/>
              <p:nvPr/>
            </p:nvSpPr>
            <p:spPr>
              <a:xfrm>
                <a:off x="542611" y="4366859"/>
                <a:ext cx="186229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dirty="0"/>
                  <a:t> Hz</a:t>
                </a:r>
              </a:p>
              <a:p>
                <a:r>
                  <a:rPr lang="en-US" dirty="0"/>
                  <a:t>Sampling rate &lt; Nyquist Rate</a:t>
                </a:r>
              </a:p>
              <a:p>
                <a:endParaRPr lang="en-US" dirty="0"/>
              </a:p>
              <a:p>
                <a:r>
                  <a:rPr lang="en-US" b="1" dirty="0"/>
                  <a:t>Aliasing!</a:t>
                </a:r>
                <a:endParaRPr lang="en-IN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BA6359-BB39-3A49-2793-1A6E7B21F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11" y="4366859"/>
                <a:ext cx="1862295" cy="1477328"/>
              </a:xfrm>
              <a:prstGeom prst="rect">
                <a:avLst/>
              </a:prstGeom>
              <a:blipFill>
                <a:blip r:embed="rId5"/>
                <a:stretch>
                  <a:fillRect l="-2614" t="-2058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A42ADA1B-C148-EE9B-8C46-D980952CA05A}"/>
              </a:ext>
            </a:extLst>
          </p:cNvPr>
          <p:cNvGrpSpPr/>
          <p:nvPr/>
        </p:nvGrpSpPr>
        <p:grpSpPr>
          <a:xfrm>
            <a:off x="6096000" y="708839"/>
            <a:ext cx="6096000" cy="3161199"/>
            <a:chOff x="6106781" y="741872"/>
            <a:chExt cx="6096000" cy="3161199"/>
          </a:xfrm>
        </p:grpSpPr>
        <p:pic>
          <p:nvPicPr>
            <p:cNvPr id="9" name="Picture 8" descr="sampling6">
              <a:extLst>
                <a:ext uri="{FF2B5EF4-FFF2-40B4-BE49-F238E27FC236}">
                  <a16:creationId xmlns:a16="http://schemas.microsoft.com/office/drawing/2014/main" id="{7487356E-2C44-8615-5D38-6558630A15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06781" y="741872"/>
              <a:ext cx="6096000" cy="3161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A34C9CA-9D8E-910E-1AAF-F5689FD7CD00}"/>
                </a:ext>
              </a:extLst>
            </p:cNvPr>
            <p:cNvSpPr/>
            <p:nvPr/>
          </p:nvSpPr>
          <p:spPr>
            <a:xfrm>
              <a:off x="6780021" y="874287"/>
              <a:ext cx="5104562" cy="2460793"/>
            </a:xfrm>
            <a:custGeom>
              <a:avLst/>
              <a:gdLst>
                <a:gd name="connsiteX0" fmla="*/ 0 w 5104562"/>
                <a:gd name="connsiteY0" fmla="*/ 0 h 2460793"/>
                <a:gd name="connsiteX1" fmla="*/ 753626 w 5104562"/>
                <a:gd name="connsiteY1" fmla="*/ 1597688 h 2460793"/>
                <a:gd name="connsiteX2" fmla="*/ 1477107 w 5104562"/>
                <a:gd name="connsiteY2" fmla="*/ 2381459 h 2460793"/>
                <a:gd name="connsiteX3" fmla="*/ 2210637 w 5104562"/>
                <a:gd name="connsiteY3" fmla="*/ 462224 h 2460793"/>
                <a:gd name="connsiteX4" fmla="*/ 2582426 w 5104562"/>
                <a:gd name="connsiteY4" fmla="*/ 20096 h 2460793"/>
                <a:gd name="connsiteX5" fmla="*/ 2954215 w 5104562"/>
                <a:gd name="connsiteY5" fmla="*/ 512466 h 2460793"/>
                <a:gd name="connsiteX6" fmla="*/ 3677696 w 5104562"/>
                <a:gd name="connsiteY6" fmla="*/ 2431701 h 2460793"/>
                <a:gd name="connsiteX7" fmla="*/ 4401178 w 5104562"/>
                <a:gd name="connsiteY7" fmla="*/ 1557494 h 2460793"/>
                <a:gd name="connsiteX8" fmla="*/ 5104562 w 5104562"/>
                <a:gd name="connsiteY8" fmla="*/ 30145 h 2460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04562" h="2460793">
                  <a:moveTo>
                    <a:pt x="0" y="0"/>
                  </a:moveTo>
                  <a:cubicBezTo>
                    <a:pt x="253721" y="600389"/>
                    <a:pt x="507442" y="1200778"/>
                    <a:pt x="753626" y="1597688"/>
                  </a:cubicBezTo>
                  <a:cubicBezTo>
                    <a:pt x="999811" y="1994598"/>
                    <a:pt x="1234272" y="2570703"/>
                    <a:pt x="1477107" y="2381459"/>
                  </a:cubicBezTo>
                  <a:cubicBezTo>
                    <a:pt x="1719942" y="2192215"/>
                    <a:pt x="2026417" y="855785"/>
                    <a:pt x="2210637" y="462224"/>
                  </a:cubicBezTo>
                  <a:cubicBezTo>
                    <a:pt x="2394857" y="68664"/>
                    <a:pt x="2458497" y="11722"/>
                    <a:pt x="2582426" y="20096"/>
                  </a:cubicBezTo>
                  <a:cubicBezTo>
                    <a:pt x="2706355" y="28470"/>
                    <a:pt x="2771670" y="110532"/>
                    <a:pt x="2954215" y="512466"/>
                  </a:cubicBezTo>
                  <a:cubicBezTo>
                    <a:pt x="3136760" y="914400"/>
                    <a:pt x="3436536" y="2257530"/>
                    <a:pt x="3677696" y="2431701"/>
                  </a:cubicBezTo>
                  <a:cubicBezTo>
                    <a:pt x="3918856" y="2605872"/>
                    <a:pt x="4163367" y="1957753"/>
                    <a:pt x="4401178" y="1557494"/>
                  </a:cubicBezTo>
                  <a:cubicBezTo>
                    <a:pt x="4638989" y="1157235"/>
                    <a:pt x="4977283" y="272980"/>
                    <a:pt x="5104562" y="30145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16793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9472F-B493-5A79-E041-D5B04E04A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</a:t>
            </a:r>
            <a:r>
              <a:rPr lang="en-US" dirty="0" err="1"/>
              <a:t>fourier</a:t>
            </a:r>
            <a:r>
              <a:rPr lang="en-US" dirty="0"/>
              <a:t>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F15CCB-6BF5-2DE3-7C0C-232A59CB5B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200" dirty="0"/>
                  <a:t>Let us start with the expression for Fourier transform of our sampled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𝑓𝑡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200" b="0" dirty="0"/>
              </a:p>
              <a:p>
                <a:r>
                  <a:rPr lang="en-US" sz="2200" dirty="0"/>
                  <a:t>We know that,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200" dirty="0"/>
                  <a:t> is discrete. So the integral will actually be sum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𝑓𝑛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200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A couple of issues here:</a:t>
                </a:r>
              </a:p>
              <a:p>
                <a:pPr lvl="1"/>
                <a:r>
                  <a:rPr lang="en-US" sz="2200" dirty="0"/>
                  <a:t>We still assume signal of infinite length! No signal is infinite. Time to fix it</a:t>
                </a:r>
              </a:p>
              <a:p>
                <a:pPr lvl="1"/>
                <a:r>
                  <a:rPr lang="en-US" sz="2200" dirty="0"/>
                  <a:t>We went from Analog to Digital because of compute capacity. But our frequency domain is periodic but still continuous! So for any computations in frequency domain we achieved nothing!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F15CCB-6BF5-2DE3-7C0C-232A59CB5B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4" t="-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131109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4999</TotalTime>
  <Words>1315</Words>
  <Application>Microsoft Office PowerPoint</Application>
  <PresentationFormat>Widescreen</PresentationFormat>
  <Paragraphs>207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Arial Rounded MT Bold</vt:lpstr>
      <vt:lpstr>Calisto MT</vt:lpstr>
      <vt:lpstr>Cambria Math</vt:lpstr>
      <vt:lpstr>Univers Condensed</vt:lpstr>
      <vt:lpstr>ChronicleVTI</vt:lpstr>
      <vt:lpstr>CV5100: Modelling, Uncertainty and Data for Engineers MODULE 1: Signal processing, lecture 3-4: Fourier Transform</vt:lpstr>
      <vt:lpstr>Complex fourier series</vt:lpstr>
      <vt:lpstr>Real vs complex Fourier series</vt:lpstr>
      <vt:lpstr>Fourier Transform</vt:lpstr>
      <vt:lpstr>Fourier transform</vt:lpstr>
      <vt:lpstr>Fourier transform</vt:lpstr>
      <vt:lpstr>Fourier transform</vt:lpstr>
      <vt:lpstr>Fourier transform</vt:lpstr>
      <vt:lpstr>Fourier Transform</vt:lpstr>
      <vt:lpstr>Fourier transform example</vt:lpstr>
      <vt:lpstr>Fourier transform example</vt:lpstr>
      <vt:lpstr>sampling</vt:lpstr>
      <vt:lpstr>Dirac delta function</vt:lpstr>
      <vt:lpstr>Analog to digital conversion</vt:lpstr>
      <vt:lpstr>Fourier transform of sampled signal</vt:lpstr>
      <vt:lpstr>Fourier transform of sampled signal</vt:lpstr>
      <vt:lpstr>Fourier transform of sampled signal</vt:lpstr>
      <vt:lpstr>Fourier transform of sampled signal</vt:lpstr>
      <vt:lpstr>Sampling theory and aliasing</vt:lpstr>
      <vt:lpstr>Aliasing example</vt:lpstr>
      <vt:lpstr>Aliasing example</vt:lpstr>
      <vt:lpstr>Discrete fourier transform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Sudheendra Herkal</dc:creator>
  <cp:lastModifiedBy>Sudheendra Herkal</cp:lastModifiedBy>
  <cp:revision>25</cp:revision>
  <dcterms:created xsi:type="dcterms:W3CDTF">2025-05-19T08:31:03Z</dcterms:created>
  <dcterms:modified xsi:type="dcterms:W3CDTF">2026-10-15T03:43:09Z</dcterms:modified>
</cp:coreProperties>
</file>