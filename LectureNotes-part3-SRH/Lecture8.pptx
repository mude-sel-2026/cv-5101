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notesMasterIdLst>
    <p:notesMasterId r:id="rId13"/>
  </p:notesMasterIdLst>
  <p:sldIdLst>
    <p:sldId id="256" r:id="rId2"/>
    <p:sldId id="364" r:id="rId3"/>
    <p:sldId id="365" r:id="rId4"/>
    <p:sldId id="366" r:id="rId5"/>
    <p:sldId id="367" r:id="rId6"/>
    <p:sldId id="368" r:id="rId7"/>
    <p:sldId id="369" r:id="rId8"/>
    <p:sldId id="370" r:id="rId9"/>
    <p:sldId id="371" r:id="rId10"/>
    <p:sldId id="372" r:id="rId11"/>
    <p:sldId id="37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00C0"/>
    <a:srgbClr val="FFFFFF"/>
    <a:srgbClr val="05A6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07" autoAdjust="0"/>
    <p:restoredTop sz="92494" autoAdjust="0"/>
  </p:normalViewPr>
  <p:slideViewPr>
    <p:cSldViewPr snapToGrid="0">
      <p:cViewPr varScale="1">
        <p:scale>
          <a:sx n="76" d="100"/>
          <a:sy n="76" d="100"/>
        </p:scale>
        <p:origin x="984" y="7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dheendra Herkal" userId="f3c620e209f08778" providerId="LiveId" clId="{85BD813D-CA3D-4D41-8F9C-A01C02860DBE}"/>
    <pc:docChg chg="modSld">
      <pc:chgData name="Sudheendra Herkal" userId="f3c620e209f08778" providerId="LiveId" clId="{85BD813D-CA3D-4D41-8F9C-A01C02860DBE}" dt="2026-10-22T16:22:59.924" v="0" actId="20577"/>
      <pc:docMkLst>
        <pc:docMk/>
      </pc:docMkLst>
      <pc:sldChg chg="modSp mod">
        <pc:chgData name="Sudheendra Herkal" userId="f3c620e209f08778" providerId="LiveId" clId="{85BD813D-CA3D-4D41-8F9C-A01C02860DBE}" dt="2026-10-22T16:22:59.924" v="0" actId="20577"/>
        <pc:sldMkLst>
          <pc:docMk/>
          <pc:sldMk cId="3856958342" sldId="365"/>
        </pc:sldMkLst>
        <pc:spChg chg="mod">
          <ac:chgData name="Sudheendra Herkal" userId="f3c620e209f08778" providerId="LiveId" clId="{85BD813D-CA3D-4D41-8F9C-A01C02860DBE}" dt="2026-10-22T16:22:59.924" v="0" actId="20577"/>
          <ac:spMkLst>
            <pc:docMk/>
            <pc:sldMk cId="3856958342" sldId="365"/>
            <ac:spMk id="3" creationId="{C77DE0D7-6FBC-1484-0E3D-46A3884BC83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790006-4F15-49C5-9342-FAA5B5B69260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479FC-F582-4B96-A98D-4C9FD49951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9552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4479FC-F582-4B96-A98D-4C9FD49951FC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7008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Fatigue in bridges, sway of buildings, growth of cracks, vibration of structures,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4479FC-F582-4B96-A98D-4C9FD49951FC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71197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4479FC-F582-4B96-A98D-4C9FD49951FC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39628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4479FC-F582-4B96-A98D-4C9FD49951FC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03045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633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882" y="0"/>
            <a:ext cx="10581017" cy="74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882" y="871269"/>
            <a:ext cx="10581017" cy="517584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 descr="245-2451831_iit-madras-logo – Department of Ocean Engineering">
            <a:extLst>
              <a:ext uri="{FF2B5EF4-FFF2-40B4-BE49-F238E27FC236}">
                <a16:creationId xmlns:a16="http://schemas.microsoft.com/office/drawing/2014/main" id="{E32644BA-629A-CD46-8E1C-CEC2D0880B3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27389" y="6356350"/>
            <a:ext cx="452887" cy="474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2693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742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367" y="0"/>
            <a:ext cx="10691265" cy="75247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7911" y="1145666"/>
            <a:ext cx="5212080" cy="4816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9552" y="1138807"/>
            <a:ext cx="5212080" cy="4823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1793DA-7BEB-53E6-7883-ED7DB38473EB}"/>
              </a:ext>
            </a:extLst>
          </p:cNvPr>
          <p:cNvCxnSpPr/>
          <p:nvPr userDrawn="1"/>
        </p:nvCxnSpPr>
        <p:spPr>
          <a:xfrm>
            <a:off x="5857875" y="885825"/>
            <a:ext cx="0" cy="5181600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1915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346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367" y="0"/>
            <a:ext cx="10691265" cy="71599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788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948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867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879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544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350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4595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4" name="Picture 3" descr="A close up of a blue and white swirl&#10;&#10;Description automatically generated">
            <a:extLst>
              <a:ext uri="{FF2B5EF4-FFF2-40B4-BE49-F238E27FC236}">
                <a16:creationId xmlns:a16="http://schemas.microsoft.com/office/drawing/2014/main" id="{6939927E-2F68-C3D7-105F-82888B4BF9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73" b="477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57DEAC1-B3AA-6569-0A44-A191DF2F3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486400"/>
            <a:ext cx="12191999" cy="137160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EBE441-9013-3A7F-EB64-42A80AA1D7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715000"/>
            <a:ext cx="10714984" cy="960120"/>
          </a:xfrm>
          <a:ln>
            <a:noFill/>
          </a:ln>
        </p:spPr>
        <p:txBody>
          <a:bodyPr anchor="ctr">
            <a:noAutofit/>
          </a:bodyPr>
          <a:lstStyle/>
          <a:p>
            <a:r>
              <a:rPr lang="en-US" sz="2800" dirty="0"/>
              <a:t>CV5100: Modelling, Uncertainty and Data for Engineers</a:t>
            </a:r>
            <a:br>
              <a:rPr lang="en-US" sz="2800" dirty="0"/>
            </a:br>
            <a:r>
              <a:rPr lang="en-US" sz="2800" dirty="0"/>
              <a:t>MODULE 2: TIME SERIES ANALYSIS, lecture 1: COMPONENTS</a:t>
            </a:r>
            <a:endParaRPr lang="en-IN" sz="2800" dirty="0"/>
          </a:p>
        </p:txBody>
      </p:sp>
      <p:pic>
        <p:nvPicPr>
          <p:cNvPr id="5" name="Picture 2" descr="245-2451831_iit-madras-logo – Department of Ocean Engineering">
            <a:extLst>
              <a:ext uri="{FF2B5EF4-FFF2-40B4-BE49-F238E27FC236}">
                <a16:creationId xmlns:a16="http://schemas.microsoft.com/office/drawing/2014/main" id="{EDE4E1B6-2073-51C9-2C04-E2CCA4B2E4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5025" y="5715000"/>
            <a:ext cx="836935" cy="877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5932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D7D01-53AA-297F-03A3-522579313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series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170F2D-0DF8-AE3D-400C-0AB4E808D2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sz="2800" dirty="0"/>
                  <a:t>Time series is a discrete time sequence of data points indexed in time</a:t>
                </a:r>
              </a:p>
              <a:p>
                <a:r>
                  <a:rPr lang="en-US" sz="2800" dirty="0"/>
                  <a:t>Essentially a discretized signal which varies as a function of time</a:t>
                </a:r>
              </a:p>
              <a:p>
                <a:r>
                  <a:rPr lang="en-US" sz="2800" dirty="0"/>
                  <a:t>The data is typically collected at fixed intervals, expressed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800" dirty="0"/>
                  <a:t> (sampling interval) or as we saw earlier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=1/</m:t>
                    </m:r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800" dirty="0"/>
                  <a:t> (sampling frequency)</a:t>
                </a:r>
              </a:p>
              <a:p>
                <a:r>
                  <a:rPr lang="en-IN" sz="2800" dirty="0"/>
                  <a:t>Thus, time series can be denoted as a vector: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𝑌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d>
                                <m:d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d>
                                <m:d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, …,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d>
                                <m:d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IN" sz="2800" dirty="0"/>
              </a:p>
              <a:p>
                <a:r>
                  <a:rPr lang="en-IN" sz="2800" dirty="0"/>
                  <a:t>In Fourier transform, we were looking at deterministic signals. Here we assume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𝑌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IN" sz="2800" dirty="0"/>
                  <a:t> is a random variable, considering the uncertainty introduced by noise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170F2D-0DF8-AE3D-400C-0AB4E808D2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64" t="-82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55067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3E2C1-8BA0-73C2-94C9-93F0F9CC6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series analysis (TSA)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7DE0D7-6FBC-1484-0E3D-46A3884BC8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TSA is identifying trends, seasonality and other such patterns so that we can forecast time series and make informed decisions</a:t>
            </a:r>
          </a:p>
          <a:p>
            <a:r>
              <a:rPr lang="en-US" dirty="0"/>
              <a:t>Why should we care?</a:t>
            </a:r>
          </a:p>
          <a:p>
            <a:pPr lvl="1"/>
            <a:r>
              <a:rPr lang="en-US" dirty="0"/>
              <a:t>Time series is everywhere around us! </a:t>
            </a:r>
          </a:p>
          <a:p>
            <a:pPr lvl="1"/>
            <a:r>
              <a:rPr lang="en-US" dirty="0"/>
              <a:t>Examples?</a:t>
            </a:r>
          </a:p>
          <a:p>
            <a:pPr lvl="1"/>
            <a:r>
              <a:rPr lang="en-US" dirty="0"/>
              <a:t>We just don’t care about what happened! We also want to predict what will happen next</a:t>
            </a:r>
          </a:p>
          <a:p>
            <a:pPr lvl="1"/>
            <a:r>
              <a:rPr lang="en-US" dirty="0"/>
              <a:t>Will the bridge be healthy after 20 years?</a:t>
            </a:r>
          </a:p>
          <a:p>
            <a:pPr lvl="1"/>
            <a:r>
              <a:rPr lang="en-US" dirty="0"/>
              <a:t>What signs of early damage can the building show?</a:t>
            </a:r>
          </a:p>
          <a:p>
            <a:pPr lvl="1"/>
            <a:r>
              <a:rPr lang="en-US" dirty="0"/>
              <a:t>How much will a skyscraper foundation settle 5 years later?</a:t>
            </a:r>
          </a:p>
          <a:p>
            <a:r>
              <a:rPr lang="en-US" dirty="0"/>
              <a:t>If a bridge starts behaving differently today than it did last year, could you detect it before failure?</a:t>
            </a:r>
          </a:p>
          <a:p>
            <a:pPr lvl="1"/>
            <a:r>
              <a:rPr lang="en-US" dirty="0"/>
              <a:t>Time series analysis lets you do that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6958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E07CF-B438-3EAA-0A15-84FE7DE35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B1ED8A-0AA1-01C1-98E1-DAB7440E84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Time series is written as: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𝑌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 …,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IN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,…, 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IN" dirty="0"/>
              </a:p>
              <a:p>
                <a:r>
                  <a:rPr lang="en-IN" dirty="0"/>
                  <a:t>Time series is decomposed as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𝑡𝑟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𝑜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𝑡𝑟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IN" dirty="0"/>
                  <a:t> = trend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dirty="0"/>
                  <a:t> = seasonality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𝑜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dirty="0"/>
                  <a:t> = offset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dirty="0"/>
                  <a:t> = irregularities or outliers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dirty="0"/>
                  <a:t> = noise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B1ED8A-0AA1-01C1-98E1-DAB7440E84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49" t="-70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8256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6534C-B602-BAFD-484B-25CA47C3D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5DE900-71DD-A904-8C4A-EE54DB61142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0" dirty="0"/>
                  <a:t>Trend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5DE900-71DD-A904-8C4A-EE54DB6114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49" t="-70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33A9F4C3-087A-2C17-FC19-7D6D50624B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2826" y="1336894"/>
            <a:ext cx="6618412" cy="4589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6669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349ED-99D3-526E-F064-15B363648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9CDD8-E367-0C8C-052A-71136C286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5F0499-509A-E1DA-8C48-E2B3444E90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0" dirty="0"/>
                  <a:t>Seasonality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)+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func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5F0499-509A-E1DA-8C48-E2B3444E90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49" t="-70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8467684C-D14A-3DA0-05D1-FD6BBB7EAD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0296" y="2113071"/>
            <a:ext cx="6618412" cy="4589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0585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39DEE-C4C0-F903-2E10-70150F64B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089F4C-9854-00C5-03E4-066B6C631A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Offset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089F4C-9854-00C5-03E4-066B6C631A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49" t="-70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>
            <a:extLst>
              <a:ext uri="{FF2B5EF4-FFF2-40B4-BE49-F238E27FC236}">
                <a16:creationId xmlns:a16="http://schemas.microsoft.com/office/drawing/2014/main" id="{42C05A0C-E74C-EFC6-9A29-52EAA67EA2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6326" y="2163388"/>
            <a:ext cx="8097216" cy="4333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29472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CC401-0AEF-093C-DC21-FB3B499AB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F7F367-832F-20D8-2E0B-E02EEB3E88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Noise:</a:t>
                </a:r>
              </a:p>
              <a:p>
                <a:pPr lvl="1"/>
                <a:r>
                  <a:rPr lang="en-US" dirty="0"/>
                  <a:t>Random fluctuations in time series, some of it is coming from random factors, others is coming from systematic issues</a:t>
                </a:r>
              </a:p>
              <a:p>
                <a:pPr lvl="1"/>
                <a:r>
                  <a:rPr lang="en-US" dirty="0"/>
                  <a:t>Noise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IN" dirty="0"/>
                  <a:t> error! Error does contribute to noise</a:t>
                </a:r>
              </a:p>
              <a:p>
                <a:pPr lvl="1"/>
                <a:r>
                  <a:rPr lang="en-IN" dirty="0"/>
                  <a:t>We would like to remove unwanted variations</a:t>
                </a:r>
              </a:p>
              <a:p>
                <a:pPr lvl="1"/>
                <a:endParaRPr lang="en-IN" dirty="0"/>
              </a:p>
              <a:p>
                <a:r>
                  <a:rPr lang="en-IN" dirty="0"/>
                  <a:t>Types of noise:</a:t>
                </a:r>
              </a:p>
              <a:p>
                <a:pPr lvl="1"/>
                <a:r>
                  <a:rPr lang="en-IN" dirty="0"/>
                  <a:t>White noise: Contains all frequencies with same amplitude</a:t>
                </a:r>
              </a:p>
              <a:p>
                <a:pPr lvl="1"/>
                <a:r>
                  <a:rPr lang="en-IN" dirty="0" err="1"/>
                  <a:t>Colored</a:t>
                </a:r>
                <a:r>
                  <a:rPr lang="en-IN" dirty="0"/>
                  <a:t> noise:</a:t>
                </a:r>
              </a:p>
              <a:p>
                <a:pPr lvl="2"/>
                <a:r>
                  <a:rPr lang="en-IN" dirty="0"/>
                  <a:t>Pink noise: Amplitude of frequency reduces with increase in frequency</a:t>
                </a:r>
              </a:p>
              <a:p>
                <a:pPr lvl="2"/>
                <a:r>
                  <a:rPr lang="en-IN" dirty="0"/>
                  <a:t>Brown noise: Amplitude of frequency reduces as squared rate with increase in frequency</a:t>
                </a:r>
              </a:p>
              <a:p>
                <a:pPr lvl="2"/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F7F367-832F-20D8-2E0B-E02EEB3E88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49" t="-70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01002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BC4A5-F21C-1D4B-EBA3-F0E984265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model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431BD9-1D7F-0430-A244-3BC68D80AF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sz="2800" dirty="0"/>
                  <a:t>Noise:</a:t>
                </a:r>
              </a:p>
              <a:p>
                <a:r>
                  <a:rPr lang="en-US" dirty="0"/>
                  <a:t>A stationary random noise yields uncorrelated and zero-mean random variables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  <a:p>
                <a:pPr marL="457200" lvl="1" indent="0">
                  <a:buNone/>
                </a:pPr>
                <a:r>
                  <a:rPr lang="en-IN" dirty="0"/>
                  <a:t>meaning that noise at any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IN" dirty="0"/>
                  <a:t> is not influenced by previous observations</a:t>
                </a:r>
                <a:endParaRPr lang="en-US" sz="2800" dirty="0"/>
              </a:p>
              <a:p>
                <a:pPr lvl="1"/>
                <a14:m>
                  <m:oMath xmlns:m="http://schemas.openxmlformats.org/officeDocument/2006/math">
                    <m:eqArr>
                      <m:eqArrPr>
                        <m:ctrlPr>
                          <a:rPr lang="en-IN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unga" panose="020B0502040204020203" pitchFamily="34" charset="0"/>
                          </a:rPr>
                        </m:ctrlPr>
                      </m:eqArrPr>
                      <m:e>
                        <m:r>
                          <a:rPr lang="en-IN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unga" panose="020B0502040204020203" pitchFamily="34" charset="0"/>
                          </a:rPr>
                          <m:t>𝔼</m:t>
                        </m:r>
                        <m:r>
                          <a:rPr lang="en-IN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unga" panose="020B0502040204020203" pitchFamily="34" charset="0"/>
                          </a:rPr>
                          <m:t>(</m:t>
                        </m:r>
                        <m:r>
                          <a:rPr lang="en-IN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unga" panose="020B0502040204020203" pitchFamily="34" charset="0"/>
                          </a:rPr>
                          <m:t>𝑌</m:t>
                        </m:r>
                        <m:r>
                          <a:rPr lang="en-IN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unga" panose="020B0502040204020203" pitchFamily="34" charset="0"/>
                          </a:rPr>
                          <m:t>)=</m:t>
                        </m:r>
                        <m:r>
                          <a:rPr lang="en-IN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unga" panose="020B0502040204020203" pitchFamily="34" charset="0"/>
                          </a:rPr>
                          <m:t>𝔼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unga" panose="020B0502040204020203" pitchFamily="34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IN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unga" panose="020B0502040204020203" pitchFamily="34" charset="0"/>
                                  </a:rPr>
                                </m:ctrlPr>
                              </m:eqArrPr>
                              <m:e>
                                <m:sSub>
                                  <m:sSubPr>
                                    <m:ctrlPr>
                                      <a:rPr lang="en-IN" i="1" kern="10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unga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i="1" kern="10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unga" panose="020B0502040204020203" pitchFamily="34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IN" i="1" kern="10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unga" panose="020B0502040204020203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IN" i="1" kern="10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unga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i="1" kern="10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unga" panose="020B0502040204020203" pitchFamily="34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IN" i="1" kern="10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unga" panose="020B0502040204020203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IN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unga" panose="020B0502040204020203" pitchFamily="34" charset="0"/>
                                  </a:rPr>
                                  <m:t>⋮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IN" i="1" kern="10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unga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i="1" kern="10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unga" panose="020B0502040204020203" pitchFamily="34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IN" i="1" kern="10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unga" panose="020B0502040204020203" pitchFamily="34" charset="0"/>
                                      </a:rPr>
                                      <m:t>𝑚</m:t>
                                    </m:r>
                                  </m:sub>
                                </m:sSub>
                              </m:e>
                            </m:eqArr>
                          </m:e>
                        </m:d>
                        <m:r>
                          <a:rPr lang="en-IN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unga" panose="020B0502040204020203" pitchFamily="34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unga" panose="020B0502040204020203" pitchFamily="34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IN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unga" panose="020B0502040204020203" pitchFamily="34" charset="0"/>
                                  </a:rPr>
                                </m:ctrlPr>
                              </m:eqArrPr>
                              <m:e>
                                <m:r>
                                  <a:rPr lang="en-IN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unga" panose="020B0502040204020203" pitchFamily="3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unga" panose="020B0502040204020203" pitchFamily="3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unga" panose="020B0502040204020203" pitchFamily="34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IN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unga" panose="020B0502040204020203" pitchFamily="34" charset="0"/>
                                  </a:rPr>
                                  <m:t>0</m:t>
                                </m:r>
                              </m:e>
                            </m:eqArr>
                          </m:e>
                        </m:d>
                      </m:e>
                    </m:eqArr>
                  </m:oMath>
                </a14:m>
                <a:endParaRPr lang="en-IN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unga" panose="020B0502040204020203" pitchFamily="34" charset="0"/>
                </a:endParaRPr>
              </a:p>
              <a:p>
                <a:pPr lvl="1"/>
                <a14:m>
                  <m:oMath xmlns:m="http://schemas.openxmlformats.org/officeDocument/2006/math">
                    <m:eqArr>
                      <m:eqArrPr>
                        <m:ctrlPr>
                          <a:rPr lang="en-IN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unga" panose="020B0502040204020203" pitchFamily="34" charset="0"/>
                          </a:rPr>
                        </m:ctrlPr>
                      </m:eqArrPr>
                      <m:e>
                        <m:r>
                          <a:rPr lang="en-IN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unga" panose="020B0502040204020203" pitchFamily="34" charset="0"/>
                          </a:rPr>
                          <m:t>𝔻</m:t>
                        </m:r>
                        <m:r>
                          <a:rPr lang="en-IN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unga" panose="020B0502040204020203" pitchFamily="34" charset="0"/>
                          </a:rPr>
                          <m:t>(</m:t>
                        </m:r>
                        <m:r>
                          <a:rPr lang="en-IN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unga" panose="020B0502040204020203" pitchFamily="34" charset="0"/>
                          </a:rPr>
                          <m:t>𝑌</m:t>
                        </m:r>
                        <m:r>
                          <a:rPr lang="en-IN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unga" panose="020B0502040204020203" pitchFamily="34" charset="0"/>
                          </a:rPr>
                          <m:t>)=</m:t>
                        </m:r>
                        <m:sSub>
                          <m:sSubPr>
                            <m:ctrlPr>
                              <a:rPr lang="en-IN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unga" panose="020B0502040204020203" pitchFamily="34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unga" panose="020B0502040204020203" pitchFamily="34" charset="0"/>
                              </a:rPr>
                              <m:t>Σ</m:t>
                            </m:r>
                          </m:e>
                          <m:sub>
                            <m:r>
                              <a:rPr lang="en-IN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unga" panose="020B0502040204020203" pitchFamily="34" charset="0"/>
                              </a:rPr>
                              <m:t>𝑌</m:t>
                            </m:r>
                          </m:sub>
                        </m:sSub>
                        <m:r>
                          <a:rPr lang="en-IN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unga" panose="020B0502040204020203" pitchFamily="34" charset="0"/>
                          </a:rPr>
                          <m:t>=</m:t>
                        </m:r>
                        <m:sSup>
                          <m:sSupPr>
                            <m:ctrlPr>
                              <a:rPr lang="en-IN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unga" panose="020B0502040204020203" pitchFamily="34" charset="0"/>
                              </a:rPr>
                            </m:ctrlPr>
                          </m:sSupPr>
                          <m:e>
                            <m:r>
                              <a:rPr lang="en-IN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unga" panose="020B0502040204020203" pitchFamily="34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IN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unga" panose="020B0502040204020203" pitchFamily="34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begChr m:val="["/>
                            <m:endChr m:val="]"/>
                            <m:ctrlPr>
                              <a:rPr lang="en-IN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unga" panose="020B0502040204020203" pitchFamily="34" charset="0"/>
                              </a:rPr>
                            </m:ctrlPr>
                          </m:dPr>
                          <m:e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4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unga" panose="020B0502040204020203" pitchFamily="34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IN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unga" panose="020B0502040204020203" pitchFamily="34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IN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unga" panose="020B0502040204020203" pitchFamily="34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IN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unga" panose="020B0502040204020203" pitchFamily="34" charset="0"/>
                                    </a:rPr>
                                    <m:t>…</m:t>
                                  </m:r>
                                </m:e>
                                <m:e>
                                  <m:r>
                                    <a:rPr lang="en-IN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unga" panose="020B0502040204020203" pitchFamily="34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unga" panose="020B0502040204020203" pitchFamily="34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IN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unga" panose="020B0502040204020203" pitchFamily="34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IN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unga" panose="020B0502040204020203" pitchFamily="34" charset="0"/>
                                    </a:rPr>
                                    <m:t>…</m:t>
                                  </m:r>
                                </m:e>
                                <m:e>
                                  <m:r>
                                    <a:rPr lang="en-IN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unga" panose="020B0502040204020203" pitchFamily="34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unga" panose="020B0502040204020203" pitchFamily="34" charset="0"/>
                                    </a:rPr>
                                    <m:t>⋮</m:t>
                                  </m:r>
                                </m:e>
                                <m:e>
                                  <m:r>
                                    <a:rPr lang="en-IN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unga" panose="020B0502040204020203" pitchFamily="34" charset="0"/>
                                    </a:rPr>
                                    <m:t>⋮</m:t>
                                  </m:r>
                                </m:e>
                                <m:e>
                                  <m:r>
                                    <a:rPr lang="en-IN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unga" panose="020B0502040204020203" pitchFamily="34" charset="0"/>
                                    </a:rPr>
                                    <m:t>⋱</m:t>
                                  </m:r>
                                </m:e>
                                <m:e>
                                  <m:r>
                                    <a:rPr lang="en-IN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unga" panose="020B0502040204020203" pitchFamily="34" charset="0"/>
                                    </a:rPr>
                                    <m:t>⋮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unga" panose="020B0502040204020203" pitchFamily="34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IN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unga" panose="020B0502040204020203" pitchFamily="34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IN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unga" panose="020B0502040204020203" pitchFamily="34" charset="0"/>
                                    </a:rPr>
                                    <m:t>…</m:t>
                                  </m:r>
                                </m:e>
                                <m:e>
                                  <m:r>
                                    <a:rPr lang="en-IN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unga" panose="020B0502040204020203" pitchFamily="34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e>
                    </m:eqArr>
                  </m:oMath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unga" panose="020B0502040204020203" pitchFamily="34" charset="0"/>
                </a:endParaRPr>
              </a:p>
              <a:p>
                <a:pPr lvl="1"/>
                <a:r>
                  <a:rPr lang="en-IN" kern="100" dirty="0">
                    <a:effectLst/>
                    <a:ea typeface="Aptos" panose="020B0004020202020204" pitchFamily="34" charset="0"/>
                    <a:cs typeface="Tunga" panose="020B0502040204020203" pitchFamily="34" charset="0"/>
                  </a:rPr>
                  <a:t>Thus, White noise can be represented by using Gaussian Distribution </a:t>
                </a:r>
                <a14:m>
                  <m:oMath xmlns:m="http://schemas.openxmlformats.org/officeDocument/2006/math">
                    <m:r>
                      <a:rPr lang="en-US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unga" panose="020B0502040204020203" pitchFamily="34" charset="0"/>
                      </a:rPr>
                      <m:t>𝜇</m:t>
                    </m:r>
                    <m:r>
                      <a:rPr lang="en-US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unga" panose="020B0502040204020203" pitchFamily="34" charset="0"/>
                      </a:rPr>
                      <m:t>=0 </m:t>
                    </m:r>
                  </m:oMath>
                </a14:m>
                <a:r>
                  <a:rPr lang="en-IN" kern="100" dirty="0">
                    <a:effectLst/>
                    <a:ea typeface="Aptos" panose="020B0004020202020204" pitchFamily="34" charset="0"/>
                    <a:cs typeface="Tunga" panose="020B0502040204020203" pitchFamily="34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unga" panose="020B0502040204020203" pitchFamily="34" charset="0"/>
                      </a:rPr>
                      <m:t>𝑣𝑎𝑟</m:t>
                    </m:r>
                    <m:r>
                      <a:rPr lang="en-US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unga" panose="020B0502040204020203" pitchFamily="34" charset="0"/>
                      </a:rPr>
                      <m:t>=</m:t>
                    </m:r>
                    <m:sSup>
                      <m:sSupPr>
                        <m:ctrlPr>
                          <a:rPr lang="en-US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unga" panose="020B0502040204020203" pitchFamily="34" charset="0"/>
                          </a:rPr>
                        </m:ctrlPr>
                      </m:sSupPr>
                      <m:e>
                        <m:r>
                          <a:rPr lang="en-US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unga" panose="020B0502040204020203" pitchFamily="34" charset="0"/>
                          </a:rPr>
                          <m:t>𝜎</m:t>
                        </m:r>
                      </m:e>
                      <m:sup>
                        <m:r>
                          <a:rPr lang="en-US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unga" panose="020B0502040204020203" pitchFamily="34" charset="0"/>
                          </a:rPr>
                          <m:t>2</m:t>
                        </m:r>
                      </m:sup>
                    </m:sSup>
                  </m:oMath>
                </a14:m>
                <a:endParaRPr lang="en-IN" kern="100" dirty="0">
                  <a:effectLst/>
                  <a:ea typeface="Aptos" panose="020B0004020202020204" pitchFamily="34" charset="0"/>
                  <a:cs typeface="Tunga" panose="020B0502040204020203" pitchFamily="34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unga" panose="020B0502040204020203" pitchFamily="34" charset="0"/>
                      </a:rPr>
                      <m:t>𝜖</m:t>
                    </m:r>
                    <m:d>
                      <m:dPr>
                        <m:ctrlPr>
                          <a:rPr lang="en-US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unga" panose="020B0502040204020203" pitchFamily="34" charset="0"/>
                          </a:rPr>
                        </m:ctrlPr>
                      </m:dPr>
                      <m:e>
                        <m:r>
                          <a:rPr lang="en-US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unga" panose="020B0502040204020203" pitchFamily="34" charset="0"/>
                          </a:rPr>
                          <m:t>𝑡</m:t>
                        </m:r>
                      </m:e>
                    </m:d>
                    <m:r>
                      <a:rPr lang="en-US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unga" panose="020B0502040204020203" pitchFamily="34" charset="0"/>
                      </a:rPr>
                      <m:t>~ </m:t>
                    </m:r>
                    <m:r>
                      <a:rPr lang="en-US" b="1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unga" panose="020B0502040204020203" pitchFamily="34" charset="0"/>
                      </a:rPr>
                      <m:t>𝑵</m:t>
                    </m:r>
                    <m:d>
                      <m:dPr>
                        <m:ctrlPr>
                          <a:rPr lang="en-US" b="1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unga" panose="020B0502040204020203" pitchFamily="34" charset="0"/>
                          </a:rPr>
                        </m:ctrlPr>
                      </m:dPr>
                      <m:e>
                        <m:r>
                          <a:rPr lang="en-US" b="1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unga" panose="020B0502040204020203" pitchFamily="34" charset="0"/>
                          </a:rPr>
                          <m:t>𝟎</m:t>
                        </m:r>
                        <m:r>
                          <a:rPr lang="en-US" b="1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unga" panose="020B0502040204020203" pitchFamily="34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b="0" i="1" kern="100" smtClean="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unga" panose="020B0502040204020203" pitchFamily="34" charset="0"/>
                              </a:rPr>
                            </m:ctrlPr>
                          </m:sSupPr>
                          <m:e>
                            <m:r>
                              <a:rPr lang="en-US" b="0" i="1" kern="100" smtClean="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unga" panose="020B0502040204020203" pitchFamily="34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b="0" i="1" kern="100" smtClean="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unga" panose="020B0502040204020203" pitchFamily="34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IN" kern="100" dirty="0">
                  <a:effectLst/>
                  <a:ea typeface="Aptos" panose="020B0004020202020204" pitchFamily="34" charset="0"/>
                  <a:cs typeface="Tunga" panose="020B0502040204020203" pitchFamily="34" charset="0"/>
                </a:endParaRPr>
              </a:p>
              <a:p>
                <a:pPr lvl="1"/>
                <a:endParaRPr lang="en-IN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unga" panose="020B0502040204020203" pitchFamily="34" charset="0"/>
                </a:endParaRPr>
              </a:p>
              <a:p>
                <a:pPr lvl="1"/>
                <a:endParaRPr lang="en-IN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431BD9-1D7F-0430-A244-3BC68D80AF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64" t="-82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15163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B9051-CC9F-F354-7C51-A8E376D1D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series expression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6BDECE-E44F-72DF-72E7-0A0E81F4B3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Using all these components we can thus write time series as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IN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unga" panose="020B0502040204020203" pitchFamily="34" charset="0"/>
                        </a:rPr>
                        <m:t>𝑌</m:t>
                      </m:r>
                      <m:r>
                        <a:rPr lang="en-IN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unga" panose="020B0502040204020203" pitchFamily="34" charset="0"/>
                        </a:rPr>
                        <m:t>(</m:t>
                      </m:r>
                      <m:r>
                        <a:rPr lang="en-IN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unga" panose="020B0502040204020203" pitchFamily="34" charset="0"/>
                        </a:rPr>
                        <m:t>𝑡</m:t>
                      </m:r>
                      <m:r>
                        <a:rPr lang="en-IN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unga" panose="020B0502040204020203" pitchFamily="34" charset="0"/>
                        </a:rPr>
                        <m:t>)=</m:t>
                      </m:r>
                      <m:sSub>
                        <m:sSubPr>
                          <m:ctrlPr>
                            <a:rPr lang="en-IN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unga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IN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unga" panose="020B0502040204020203" pitchFamily="34" charset="0"/>
                            </a:rPr>
                            <m:t>𝑦</m:t>
                          </m:r>
                        </m:e>
                        <m:sub>
                          <m:r>
                            <a:rPr lang="en-IN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unga" panose="020B0502040204020203" pitchFamily="34" charset="0"/>
                            </a:rPr>
                            <m:t>0</m:t>
                          </m:r>
                        </m:sub>
                      </m:sSub>
                      <m:r>
                        <a:rPr lang="en-IN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unga" panose="020B0502040204020203" pitchFamily="34" charset="0"/>
                        </a:rPr>
                        <m:t>+</m:t>
                      </m:r>
                      <m:r>
                        <a:rPr lang="en-IN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unga" panose="020B0502040204020203" pitchFamily="34" charset="0"/>
                        </a:rPr>
                        <m:t>𝑟𝑡</m:t>
                      </m:r>
                      <m:r>
                        <a:rPr lang="en-IN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unga" panose="020B0502040204020203" pitchFamily="34" charset="0"/>
                        </a:rPr>
                        <m:t>+</m:t>
                      </m:r>
                      <m:r>
                        <a:rPr lang="en-IN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unga" panose="020B0502040204020203" pitchFamily="34" charset="0"/>
                        </a:rPr>
                        <m:t>𝑎𝑐𝑜𝑠</m:t>
                      </m:r>
                      <m:r>
                        <a:rPr lang="en-IN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unga" panose="020B0502040204020203" pitchFamily="34" charset="0"/>
                        </a:rPr>
                        <m:t>(</m:t>
                      </m:r>
                      <m:sSub>
                        <m:sSubPr>
                          <m:ctrlPr>
                            <a:rPr lang="en-IN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unga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IN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unga" panose="020B0502040204020203" pitchFamily="34" charset="0"/>
                            </a:rPr>
                            <m:t>𝜔</m:t>
                          </m:r>
                        </m:e>
                        <m:sub>
                          <m:r>
                            <a:rPr lang="en-IN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unga" panose="020B0502040204020203" pitchFamily="34" charset="0"/>
                            </a:rPr>
                            <m:t>0</m:t>
                          </m:r>
                        </m:sub>
                      </m:sSub>
                      <m:r>
                        <a:rPr lang="en-IN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unga" panose="020B0502040204020203" pitchFamily="34" charset="0"/>
                        </a:rPr>
                        <m:t>𝑡</m:t>
                      </m:r>
                      <m:r>
                        <a:rPr lang="en-IN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unga" panose="020B0502040204020203" pitchFamily="34" charset="0"/>
                        </a:rPr>
                        <m:t>)+</m:t>
                      </m:r>
                      <m:r>
                        <a:rPr lang="en-IN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unga" panose="020B0502040204020203" pitchFamily="34" charset="0"/>
                        </a:rPr>
                        <m:t>𝑏𝑠𝑖𝑛</m:t>
                      </m:r>
                      <m:r>
                        <a:rPr lang="en-IN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unga" panose="020B0502040204020203" pitchFamily="34" charset="0"/>
                        </a:rPr>
                        <m:t>(</m:t>
                      </m:r>
                      <m:sSub>
                        <m:sSubPr>
                          <m:ctrlPr>
                            <a:rPr lang="en-IN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unga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IN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unga" panose="020B0502040204020203" pitchFamily="34" charset="0"/>
                            </a:rPr>
                            <m:t>𝜔</m:t>
                          </m:r>
                        </m:e>
                        <m:sub>
                          <m:r>
                            <a:rPr lang="en-IN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unga" panose="020B0502040204020203" pitchFamily="34" charset="0"/>
                            </a:rPr>
                            <m:t>0</m:t>
                          </m:r>
                        </m:sub>
                      </m:sSub>
                      <m:r>
                        <a:rPr lang="en-IN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unga" panose="020B0502040204020203" pitchFamily="34" charset="0"/>
                        </a:rPr>
                        <m:t>𝑡</m:t>
                      </m:r>
                      <m:r>
                        <a:rPr lang="en-IN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unga" panose="020B0502040204020203" pitchFamily="34" charset="0"/>
                        </a:rPr>
                        <m:t>)+</m:t>
                      </m:r>
                      <m:r>
                        <a:rPr lang="en-IN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unga" panose="020B0502040204020203" pitchFamily="34" charset="0"/>
                        </a:rPr>
                        <m:t>𝑜</m:t>
                      </m:r>
                      <m:sSub>
                        <m:sSubPr>
                          <m:ctrlPr>
                            <a:rPr lang="en-IN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unga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IN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unga" panose="020B0502040204020203" pitchFamily="34" charset="0"/>
                            </a:rPr>
                            <m:t>𝑢</m:t>
                          </m:r>
                        </m:e>
                        <m:sub>
                          <m:r>
                            <a:rPr lang="en-IN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unga" panose="020B0502040204020203" pitchFamily="34" charset="0"/>
                            </a:rPr>
                            <m:t>𝑘</m:t>
                          </m:r>
                        </m:sub>
                      </m:sSub>
                      <m:r>
                        <a:rPr lang="en-IN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unga" panose="020B0502040204020203" pitchFamily="34" charset="0"/>
                        </a:rPr>
                        <m:t>(</m:t>
                      </m:r>
                      <m:r>
                        <a:rPr lang="en-IN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unga" panose="020B0502040204020203" pitchFamily="34" charset="0"/>
                        </a:rPr>
                        <m:t>𝑡</m:t>
                      </m:r>
                      <m:r>
                        <a:rPr lang="en-IN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unga" panose="020B0502040204020203" pitchFamily="34" charset="0"/>
                        </a:rPr>
                        <m:t>)+</m:t>
                      </m:r>
                      <m:r>
                        <a:rPr lang="en-IN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unga" panose="020B0502040204020203" pitchFamily="34" charset="0"/>
                        </a:rPr>
                        <m:t>𝜖</m:t>
                      </m:r>
                      <m:r>
                        <a:rPr lang="en-IN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unga" panose="020B0502040204020203" pitchFamily="34" charset="0"/>
                        </a:rPr>
                        <m:t>(</m:t>
                      </m:r>
                      <m:r>
                        <a:rPr lang="en-IN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unga" panose="020B0502040204020203" pitchFamily="34" charset="0"/>
                        </a:rPr>
                        <m:t>𝑡</m:t>
                      </m:r>
                      <m:r>
                        <a:rPr lang="en-IN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unga" panose="020B0502040204020203" pitchFamily="34" charset="0"/>
                        </a:rPr>
                        <m:t>)</m:t>
                      </m:r>
                    </m:oMath>
                  </m:oMathPara>
                </a14:m>
                <a:endParaRPr lang="en-IN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unga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unga" panose="020B0502040204020203" pitchFamily="34" charset="0"/>
                          </a:rPr>
                        </m:ctrlPr>
                      </m:sSubPr>
                      <m:e>
                        <m:r>
                          <a:rPr lang="en-US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unga" panose="020B0502040204020203" pitchFamily="34" charset="0"/>
                          </a:rPr>
                          <m:t>𝑦</m:t>
                        </m:r>
                      </m:e>
                      <m:sub>
                        <m:r>
                          <a:rPr lang="en-US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unga" panose="020B0502040204020203" pitchFamily="34" charset="0"/>
                          </a:rPr>
                          <m:t>0</m:t>
                        </m:r>
                      </m:sub>
                    </m:sSub>
                    <m:r>
                      <a:rPr lang="en-US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unga" panose="020B0502040204020203" pitchFamily="34" charset="0"/>
                      </a:rPr>
                      <m:t>=</m:t>
                    </m:r>
                  </m:oMath>
                </a14:m>
                <a:r>
                  <a:rPr lang="en-IN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unga" panose="020B0502040204020203" pitchFamily="34" charset="0"/>
                  </a:rPr>
                  <a:t> intercept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unga" panose="020B0502040204020203" pitchFamily="34" charset="0"/>
                      </a:rPr>
                      <m:t>𝑟</m:t>
                    </m:r>
                  </m:oMath>
                </a14:m>
                <a:r>
                  <a:rPr lang="en-IN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unga" panose="020B0502040204020203" pitchFamily="34" charset="0"/>
                  </a:rPr>
                  <a:t> = rate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unga" panose="020B0502040204020203" pitchFamily="34" charset="0"/>
                      </a:rPr>
                      <m:t>𝑎</m:t>
                    </m:r>
                    <m:r>
                      <a:rPr lang="en-US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unga" panose="020B0502040204020203" pitchFamily="34" charset="0"/>
                      </a:rPr>
                      <m:t> </m:t>
                    </m:r>
                  </m:oMath>
                </a14:m>
                <a:r>
                  <a:rPr lang="en-IN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unga" panose="020B0502040204020203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unga" panose="020B0502040204020203" pitchFamily="34" charset="0"/>
                      </a:rPr>
                      <m:t>𝑏</m:t>
                    </m:r>
                  </m:oMath>
                </a14:m>
                <a:r>
                  <a:rPr lang="en-IN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unga" panose="020B0502040204020203" pitchFamily="34" charset="0"/>
                  </a:rPr>
                  <a:t> are signal coefficients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unga" panose="020B0502040204020203" pitchFamily="34" charset="0"/>
                          </a:rPr>
                        </m:ctrlPr>
                      </m:sSubPr>
                      <m:e>
                        <m:r>
                          <a:rPr lang="en-US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unga" panose="020B0502040204020203" pitchFamily="34" charset="0"/>
                          </a:rPr>
                          <m:t>𝜔</m:t>
                        </m:r>
                      </m:e>
                      <m:sub>
                        <m:r>
                          <a:rPr lang="en-US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unga" panose="020B0502040204020203" pitchFamily="3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IN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unga" panose="020B0502040204020203" pitchFamily="34" charset="0"/>
                  </a:rPr>
                  <a:t> is frequency of signal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unga" panose="020B0502040204020203" pitchFamily="34" charset="0"/>
                      </a:rPr>
                      <m:t>𝑜</m:t>
                    </m:r>
                  </m:oMath>
                </a14:m>
                <a:r>
                  <a:rPr lang="en-IN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unga" panose="020B0502040204020203" pitchFamily="34" charset="0"/>
                  </a:rPr>
                  <a:t> is the offset starting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unga" panose="020B0502040204020203" pitchFamily="34" charset="0"/>
                          </a:rPr>
                        </m:ctrlPr>
                      </m:sSubPr>
                      <m:e>
                        <m:r>
                          <a:rPr lang="en-US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unga" panose="020B0502040204020203" pitchFamily="34" charset="0"/>
                          </a:rPr>
                          <m:t>𝑡</m:t>
                        </m:r>
                      </m:e>
                      <m:sub>
                        <m:r>
                          <a:rPr lang="en-US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unga" panose="020B0502040204020203" pitchFamily="34" charset="0"/>
                          </a:rPr>
                          <m:t>𝑘</m:t>
                        </m:r>
                      </m:sub>
                    </m:sSub>
                  </m:oMath>
                </a14:m>
                <a:endParaRPr lang="en-IN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unga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unga" panose="020B0502040204020203" pitchFamily="34" charset="0"/>
                          </a:rPr>
                        </m:ctrlPr>
                      </m:sSubPr>
                      <m:e>
                        <m:r>
                          <a:rPr lang="en-US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unga" panose="020B0502040204020203" pitchFamily="34" charset="0"/>
                          </a:rPr>
                          <m:t>𝑢</m:t>
                        </m:r>
                      </m:e>
                      <m:sub>
                        <m:r>
                          <a:rPr lang="en-US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unga" panose="020B0502040204020203" pitchFamily="34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IN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unga" panose="020B0502040204020203" pitchFamily="34" charset="0"/>
                  </a:rPr>
                  <a:t> Heaviside step function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unga" panose="020B0502040204020203" pitchFamily="34" charset="0"/>
                      </a:rPr>
                      <m:t>𝜖</m:t>
                    </m:r>
                    <m:d>
                      <m:dPr>
                        <m:ctrlPr>
                          <a:rPr lang="en-US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unga" panose="020B0502040204020203" pitchFamily="34" charset="0"/>
                          </a:rPr>
                        </m:ctrlPr>
                      </m:dPr>
                      <m:e>
                        <m:r>
                          <a:rPr lang="en-US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unga" panose="020B0502040204020203" pitchFamily="34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IN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unga" panose="020B0502040204020203" pitchFamily="34" charset="0"/>
                  </a:rPr>
                  <a:t> is the noise</a:t>
                </a:r>
                <a:endParaRPr lang="en-IN" sz="18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unga" panose="020B0502040204020203" pitchFamily="34" charset="0"/>
                </a:endParaRPr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6BDECE-E44F-72DF-72E7-0A0E81F4B3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49" t="-70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61423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9DA4B-C54C-CBD5-4CA9-FA6295296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Example</a:t>
            </a:r>
            <a:endParaRPr lang="en-IN" dirty="0"/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24BA7390-AF00-72DB-6521-7E92D6331F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303" y="741872"/>
            <a:ext cx="5259530" cy="3028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A4C9D899-6546-453B-E381-6228632104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748" y="3752472"/>
            <a:ext cx="5267196" cy="3028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>
            <a:extLst>
              <a:ext uri="{FF2B5EF4-FFF2-40B4-BE49-F238E27FC236}">
                <a16:creationId xmlns:a16="http://schemas.microsoft.com/office/drawing/2014/main" id="{2C7CF649-BA1B-5101-444F-4B770EDC9B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7130" y="3752471"/>
            <a:ext cx="5339829" cy="3028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08F0F39A-A56D-8EA2-14DC-A29F76B7E3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320" y="758611"/>
            <a:ext cx="5259529" cy="3028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1715350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5151</TotalTime>
  <Words>564</Words>
  <Application>Microsoft Office PowerPoint</Application>
  <PresentationFormat>Widescreen</PresentationFormat>
  <Paragraphs>75</Paragraphs>
  <Slides>11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Calisto MT</vt:lpstr>
      <vt:lpstr>Cambria Math</vt:lpstr>
      <vt:lpstr>Univers Condensed</vt:lpstr>
      <vt:lpstr>ChronicleVTI</vt:lpstr>
      <vt:lpstr>CV5100: Modelling, Uncertainty and Data for Engineers MODULE 2: TIME SERIES ANALYSIS, lecture 1: COMPONENTS</vt:lpstr>
      <vt:lpstr>Time series</vt:lpstr>
      <vt:lpstr>Time series analysis (TSA)</vt:lpstr>
      <vt:lpstr>Components</vt:lpstr>
      <vt:lpstr>components</vt:lpstr>
      <vt:lpstr>components</vt:lpstr>
      <vt:lpstr>components</vt:lpstr>
      <vt:lpstr>components</vt:lpstr>
      <vt:lpstr>components model</vt:lpstr>
      <vt:lpstr>Time series expression</vt:lpstr>
      <vt:lpstr> 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Sudheendra Herkal</dc:creator>
  <cp:lastModifiedBy>Sudheendra Herkal</cp:lastModifiedBy>
  <cp:revision>24</cp:revision>
  <dcterms:created xsi:type="dcterms:W3CDTF">2025-05-19T08:31:03Z</dcterms:created>
  <dcterms:modified xsi:type="dcterms:W3CDTF">2026-10-22T16:23:11Z</dcterms:modified>
</cp:coreProperties>
</file>