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8"/>
  </p:notesMasterIdLst>
  <p:sldIdLst>
    <p:sldId id="256" r:id="rId2"/>
    <p:sldId id="386" r:id="rId3"/>
    <p:sldId id="370" r:id="rId4"/>
    <p:sldId id="371" r:id="rId5"/>
    <p:sldId id="374" r:id="rId6"/>
    <p:sldId id="372" r:id="rId7"/>
    <p:sldId id="373" r:id="rId8"/>
    <p:sldId id="382" r:id="rId9"/>
    <p:sldId id="383" r:id="rId10"/>
    <p:sldId id="384" r:id="rId11"/>
    <p:sldId id="385" r:id="rId12"/>
    <p:sldId id="376" r:id="rId13"/>
    <p:sldId id="377" r:id="rId14"/>
    <p:sldId id="378" r:id="rId15"/>
    <p:sldId id="379" r:id="rId16"/>
    <p:sldId id="38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00C0"/>
    <a:srgbClr val="FFFFFF"/>
    <a:srgbClr val="05A6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BC8157-534E-4028-B11B-8E2EF4C4A6B4}" v="1" dt="2026-10-27T10:31:17.121"/>
    <p1510:client id="{F9D5D327-5182-46BB-804A-F6AA456E4B44}" v="1" dt="2026-10-27T12:16:09.7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2494" autoAdjust="0"/>
  </p:normalViewPr>
  <p:slideViewPr>
    <p:cSldViewPr snapToGrid="0">
      <p:cViewPr varScale="1">
        <p:scale>
          <a:sx n="58" d="100"/>
          <a:sy n="58" d="100"/>
        </p:scale>
        <p:origin x="1024" y="6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heendra Herkal" userId="f3c620e209f08778" providerId="LiveId" clId="{85BD813D-CA3D-4D41-8F9C-A01C02860DBE}"/>
    <pc:docChg chg="addSld modSld">
      <pc:chgData name="Sudheendra Herkal" userId="f3c620e209f08778" providerId="LiveId" clId="{85BD813D-CA3D-4D41-8F9C-A01C02860DBE}" dt="2026-10-27T10:31:17.074" v="0"/>
      <pc:docMkLst>
        <pc:docMk/>
      </pc:docMkLst>
      <pc:sldChg chg="add">
        <pc:chgData name="Sudheendra Herkal" userId="f3c620e209f08778" providerId="LiveId" clId="{85BD813D-CA3D-4D41-8F9C-A01C02860DBE}" dt="2026-10-27T10:31:17.074" v="0"/>
        <pc:sldMkLst>
          <pc:docMk/>
          <pc:sldMk cId="392290644" sldId="376"/>
        </pc:sldMkLst>
      </pc:sldChg>
      <pc:sldChg chg="add">
        <pc:chgData name="Sudheendra Herkal" userId="f3c620e209f08778" providerId="LiveId" clId="{85BD813D-CA3D-4D41-8F9C-A01C02860DBE}" dt="2026-10-27T10:31:17.074" v="0"/>
        <pc:sldMkLst>
          <pc:docMk/>
          <pc:sldMk cId="1436303322" sldId="377"/>
        </pc:sldMkLst>
      </pc:sldChg>
      <pc:sldChg chg="add">
        <pc:chgData name="Sudheendra Herkal" userId="f3c620e209f08778" providerId="LiveId" clId="{85BD813D-CA3D-4D41-8F9C-A01C02860DBE}" dt="2026-10-27T10:31:17.074" v="0"/>
        <pc:sldMkLst>
          <pc:docMk/>
          <pc:sldMk cId="3255637261" sldId="378"/>
        </pc:sldMkLst>
      </pc:sldChg>
      <pc:sldChg chg="add">
        <pc:chgData name="Sudheendra Herkal" userId="f3c620e209f08778" providerId="LiveId" clId="{85BD813D-CA3D-4D41-8F9C-A01C02860DBE}" dt="2026-10-27T10:31:17.074" v="0"/>
        <pc:sldMkLst>
          <pc:docMk/>
          <pc:sldMk cId="3542484699" sldId="379"/>
        </pc:sldMkLst>
      </pc:sldChg>
      <pc:sldChg chg="add">
        <pc:chgData name="Sudheendra Herkal" userId="f3c620e209f08778" providerId="LiveId" clId="{85BD813D-CA3D-4D41-8F9C-A01C02860DBE}" dt="2026-10-27T10:31:17.074" v="0"/>
        <pc:sldMkLst>
          <pc:docMk/>
          <pc:sldMk cId="522327772" sldId="380"/>
        </pc:sldMkLst>
      </pc:sldChg>
    </pc:docChg>
  </pc:docChgLst>
  <pc:docChgLst>
    <pc:chgData name="Sudheendra Herkal" userId="f3c620e209f08778" providerId="LiveId" clId="{3694C9B6-C086-48BB-9E5A-BA7629FDFD6E}"/>
    <pc:docChg chg="modSld">
      <pc:chgData name="Sudheendra Herkal" userId="f3c620e209f08778" providerId="LiveId" clId="{3694C9B6-C086-48BB-9E5A-BA7629FDFD6E}" dt="2026-10-27T12:16:09.757" v="0"/>
      <pc:docMkLst>
        <pc:docMk/>
      </pc:docMkLst>
      <pc:sldChg chg="modAnim">
        <pc:chgData name="Sudheendra Herkal" userId="f3c620e209f08778" providerId="LiveId" clId="{3694C9B6-C086-48BB-9E5A-BA7629FDFD6E}" dt="2026-10-27T12:16:09.757" v="0"/>
        <pc:sldMkLst>
          <pc:docMk/>
          <pc:sldMk cId="248100402" sldId="3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90006-4F15-49C5-9342-FAA5B5B69260}" type="datetimeFigureOut">
              <a:rPr lang="en-IN" smtClean="0"/>
              <a:t>27-10-2026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4479FC-F582-4B96-A98D-4C9FD49951FC}" type="slidenum">
              <a:rPr lang="en-IN" smtClean="0"/>
              <a:t>‹#›</a:t>
            </a:fld>
            <a:endParaRPr lang="en-IN" dirty="0"/>
          </a:p>
        </p:txBody>
      </p:sp>
    </p:spTree>
    <p:extLst>
      <p:ext uri="{BB962C8B-B14F-4D97-AF65-F5344CB8AC3E}">
        <p14:creationId xmlns:p14="http://schemas.microsoft.com/office/powerpoint/2010/main" val="397955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4479FC-F582-4B96-A98D-4C9FD49951FC}" type="slidenum">
              <a:rPr lang="en-IN" smtClean="0"/>
              <a:t>7</a:t>
            </a:fld>
            <a:endParaRPr lang="en-IN"/>
          </a:p>
        </p:txBody>
      </p:sp>
    </p:spTree>
    <p:extLst>
      <p:ext uri="{BB962C8B-B14F-4D97-AF65-F5344CB8AC3E}">
        <p14:creationId xmlns:p14="http://schemas.microsoft.com/office/powerpoint/2010/main" val="2860304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4479FC-F582-4B96-A98D-4C9FD49951FC}" type="slidenum">
              <a:rPr lang="en-IN" smtClean="0"/>
              <a:t>11</a:t>
            </a:fld>
            <a:endParaRPr lang="en-IN" dirty="0"/>
          </a:p>
        </p:txBody>
      </p:sp>
    </p:spTree>
    <p:extLst>
      <p:ext uri="{BB962C8B-B14F-4D97-AF65-F5344CB8AC3E}">
        <p14:creationId xmlns:p14="http://schemas.microsoft.com/office/powerpoint/2010/main" val="2070422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10/27/2026</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264633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a:xfrm>
            <a:off x="810882" y="0"/>
            <a:ext cx="10581017" cy="74187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a:xfrm>
            <a:off x="810882" y="871269"/>
            <a:ext cx="10581017" cy="517584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10/27/2026</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dirty="0"/>
          </a:p>
        </p:txBody>
      </p:sp>
      <p:pic>
        <p:nvPicPr>
          <p:cNvPr id="7" name="Picture 2" descr="245-2451831_iit-madras-logo – Department of Ocean Engineering">
            <a:extLst>
              <a:ext uri="{FF2B5EF4-FFF2-40B4-BE49-F238E27FC236}">
                <a16:creationId xmlns:a16="http://schemas.microsoft.com/office/drawing/2014/main" id="{E32644BA-629A-CD46-8E1C-CEC2D0880B3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727389" y="6356350"/>
            <a:ext cx="452887" cy="474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693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10/27/2026</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100742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50367" y="0"/>
            <a:ext cx="10691265" cy="7524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367911" y="1145666"/>
            <a:ext cx="5212080" cy="48162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229552" y="1138807"/>
            <a:ext cx="5212080" cy="4823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10/27/2026</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dirty="0"/>
          </a:p>
        </p:txBody>
      </p:sp>
      <p:cxnSp>
        <p:nvCxnSpPr>
          <p:cNvPr id="12" name="Straight Connector 11">
            <a:extLst>
              <a:ext uri="{FF2B5EF4-FFF2-40B4-BE49-F238E27FC236}">
                <a16:creationId xmlns:a16="http://schemas.microsoft.com/office/drawing/2014/main" id="{061793DA-7BEB-53E6-7883-ED7DB38473EB}"/>
              </a:ext>
            </a:extLst>
          </p:cNvPr>
          <p:cNvCxnSpPr/>
          <p:nvPr userDrawn="1"/>
        </p:nvCxnSpPr>
        <p:spPr>
          <a:xfrm>
            <a:off x="5857875" y="885825"/>
            <a:ext cx="0" cy="518160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91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10/27/2026</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370346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a:xfrm>
            <a:off x="750367" y="0"/>
            <a:ext cx="10691265" cy="715992"/>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10/27/2026</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739788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10/27/2026</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026948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10/27/2026</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567867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10/27/2026</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746879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10/27/2026</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002544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10/27/2026</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4036350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10/27/2026</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5959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descr="A close up of a blue and white swirl&#10;&#10;Description automatically generated">
            <a:extLst>
              <a:ext uri="{FF2B5EF4-FFF2-40B4-BE49-F238E27FC236}">
                <a16:creationId xmlns:a16="http://schemas.microsoft.com/office/drawing/2014/main" id="{6939927E-2F68-C3D7-105F-82888B4BF979}"/>
              </a:ext>
            </a:extLst>
          </p:cNvPr>
          <p:cNvPicPr>
            <a:picLocks noChangeAspect="1"/>
          </p:cNvPicPr>
          <p:nvPr/>
        </p:nvPicPr>
        <p:blipFill>
          <a:blip r:embed="rId2"/>
          <a:srcRect t="1473" b="477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0"/>
            <a:ext cx="12191999" cy="13716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7AEBE441-9013-3A7F-EB64-42A80AA1D73E}"/>
              </a:ext>
            </a:extLst>
          </p:cNvPr>
          <p:cNvSpPr>
            <a:spLocks noGrp="1"/>
          </p:cNvSpPr>
          <p:nvPr>
            <p:ph type="ctrTitle"/>
          </p:nvPr>
        </p:nvSpPr>
        <p:spPr>
          <a:xfrm>
            <a:off x="320040" y="5715000"/>
            <a:ext cx="10714984" cy="960120"/>
          </a:xfrm>
          <a:ln>
            <a:noFill/>
          </a:ln>
        </p:spPr>
        <p:txBody>
          <a:bodyPr anchor="ctr">
            <a:noAutofit/>
          </a:bodyPr>
          <a:lstStyle/>
          <a:p>
            <a:r>
              <a:rPr lang="en-US" sz="2800" dirty="0"/>
              <a:t>CV5100: Modelling, Uncertainty and Data for Engineers</a:t>
            </a:r>
            <a:br>
              <a:rPr lang="en-US" sz="2800" dirty="0"/>
            </a:br>
            <a:r>
              <a:rPr lang="en-US" sz="2800" dirty="0"/>
              <a:t>MODULE 2: TIME SERIES ANALYSIS, lecture 2: Modeling and estimation</a:t>
            </a:r>
            <a:endParaRPr lang="en-IN" sz="2800" dirty="0"/>
          </a:p>
        </p:txBody>
      </p:sp>
      <p:pic>
        <p:nvPicPr>
          <p:cNvPr id="5" name="Picture 2" descr="245-2451831_iit-madras-logo – Department of Ocean Engineering">
            <a:extLst>
              <a:ext uri="{FF2B5EF4-FFF2-40B4-BE49-F238E27FC236}">
                <a16:creationId xmlns:a16="http://schemas.microsoft.com/office/drawing/2014/main" id="{EDE4E1B6-2073-51C9-2C04-E2CCA4B2E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5025" y="5715000"/>
            <a:ext cx="836935" cy="877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93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DAE91-E2AC-DD9B-F5BF-50EF7DAE1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EC19B-73F2-4FE1-F939-2E21C72E9B3C}"/>
              </a:ext>
            </a:extLst>
          </p:cNvPr>
          <p:cNvSpPr>
            <a:spLocks noGrp="1"/>
          </p:cNvSpPr>
          <p:nvPr>
            <p:ph type="title"/>
          </p:nvPr>
        </p:nvSpPr>
        <p:spPr/>
        <p:txBody>
          <a:bodyPr/>
          <a:lstStyle/>
          <a:p>
            <a:r>
              <a:rPr lang="en-US" dirty="0"/>
              <a:t>Time series expression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47B3F-EB39-3D16-1607-0014138E6C67}"/>
                  </a:ext>
                </a:extLst>
              </p:cNvPr>
              <p:cNvSpPr>
                <a:spLocks noGrp="1"/>
              </p:cNvSpPr>
              <p:nvPr>
                <p:ph idx="1"/>
              </p:nvPr>
            </p:nvSpPr>
            <p:spPr/>
            <p:txBody>
              <a:bodyPr/>
              <a:lstStyle/>
              <a:p>
                <a:r>
                  <a:rPr lang="en-US" dirty="0"/>
                  <a:t>Using all these components we can thus write time series as </a:t>
                </a:r>
              </a:p>
              <a:p>
                <a:pPr marL="0" indent="0">
                  <a:buNone/>
                </a:pPr>
                <a14:m>
                  <m:oMathPara xmlns:m="http://schemas.openxmlformats.org/officeDocument/2006/math">
                    <m:oMath>
                      <m:r>
                        <a:rPr lang="en-IN" i="1" kern="100" smtClean="0">
                          <a:effectLst/>
                          <a:latin typeface="Cambria Math" panose="02040503050406030204" pitchFamily="18" charset="0"/>
                          <a:ea typeface="Aptos" panose="020B0004020202020204" pitchFamily="34" charset="0"/>
                          <a:cs typeface="Tunga" panose="020B0502040204020203" pitchFamily="34" charset="0"/>
                        </a:rPr>
                        <m:t>𝑌</m:t>
                      </m:r>
                      <m:r>
                        <a:rPr lang="en-IN" i="1" kern="100" smtClean="0">
                          <a:effectLst/>
                          <a:latin typeface="Cambria Math" panose="02040503050406030204" pitchFamily="18" charset="0"/>
                          <a:ea typeface="Aptos" panose="020B0004020202020204" pitchFamily="34" charset="0"/>
                          <a:cs typeface="Tunga" panose="020B0502040204020203" pitchFamily="34" charset="0"/>
                        </a:rPr>
                        <m:t>(</m:t>
                      </m:r>
                      <m:r>
                        <a:rPr lang="en-IN" i="1" kern="100" smtClean="0">
                          <a:effectLst/>
                          <a:latin typeface="Cambria Math" panose="02040503050406030204" pitchFamily="18" charset="0"/>
                          <a:ea typeface="Aptos" panose="020B0004020202020204" pitchFamily="34" charset="0"/>
                          <a:cs typeface="Tunga" panose="020B0502040204020203" pitchFamily="34" charset="0"/>
                        </a:rPr>
                        <m:t>𝑡</m:t>
                      </m:r>
                      <m:r>
                        <a:rPr lang="en-IN" i="1" kern="100" smtClean="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𝑦</m:t>
                          </m:r>
                        </m:e>
                        <m:sub>
                          <m:r>
                            <a:rPr lang="en-IN" i="1" kern="100">
                              <a:effectLst/>
                              <a:latin typeface="Cambria Math" panose="02040503050406030204" pitchFamily="18" charset="0"/>
                              <a:ea typeface="Aptos" panose="020B0004020202020204" pitchFamily="34" charset="0"/>
                              <a:cs typeface="Tunga" panose="020B0502040204020203" pitchFamily="34" charset="0"/>
                            </a:rPr>
                            <m:t>0</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𝑟𝑡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𝑎𝑐𝑜𝑠</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𝜔</m:t>
                          </m:r>
                        </m:e>
                        <m:sub>
                          <m:r>
                            <a:rPr lang="en-IN" i="1" kern="100">
                              <a:effectLst/>
                              <a:latin typeface="Cambria Math" panose="02040503050406030204" pitchFamily="18" charset="0"/>
                              <a:ea typeface="Aptos" panose="020B0004020202020204" pitchFamily="34" charset="0"/>
                              <a:cs typeface="Tunga" panose="020B0502040204020203" pitchFamily="34" charset="0"/>
                            </a:rPr>
                            <m:t>0</m:t>
                          </m:r>
                        </m:sub>
                      </m:s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𝑏𝑠𝑖𝑛</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𝜔</m:t>
                          </m:r>
                        </m:e>
                        <m:sub>
                          <m:r>
                            <a:rPr lang="en-IN" i="1" kern="100">
                              <a:effectLst/>
                              <a:latin typeface="Cambria Math" panose="02040503050406030204" pitchFamily="18" charset="0"/>
                              <a:ea typeface="Aptos" panose="020B0004020202020204" pitchFamily="34" charset="0"/>
                              <a:cs typeface="Tunga" panose="020B0502040204020203" pitchFamily="34" charset="0"/>
                            </a:rPr>
                            <m:t>0</m:t>
                          </m:r>
                        </m:sub>
                      </m:s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𝑜</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𝑢</m:t>
                          </m:r>
                        </m:e>
                        <m:sub>
                          <m:r>
                            <a:rPr lang="en-IN" i="1" kern="100">
                              <a:effectLst/>
                              <a:latin typeface="Cambria Math" panose="02040503050406030204" pitchFamily="18" charset="0"/>
                              <a:ea typeface="Aptos" panose="020B0004020202020204" pitchFamily="34" charset="0"/>
                              <a:cs typeface="Tunga" panose="020B0502040204020203" pitchFamily="34" charset="0"/>
                            </a:rPr>
                            <m:t>𝑘</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𝜖</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oMath>
                  </m:oMathPara>
                </a14:m>
                <a:endParaRPr lang="en-IN"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14:m>
                  <m:oMath xmlns:m="http://schemas.openxmlformats.org/officeDocument/2006/math">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𝑦</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0</m:t>
                        </m:r>
                      </m:sub>
                    </m:sSub>
                    <m:r>
                      <a:rPr lang="en-US" b="0" i="1" kern="100" smtClean="0">
                        <a:effectLst/>
                        <a:latin typeface="Cambria Math" panose="02040503050406030204" pitchFamily="18" charset="0"/>
                        <a:ea typeface="Aptos" panose="020B0004020202020204" pitchFamily="34" charset="0"/>
                        <a:cs typeface="Tunga" panose="020B0502040204020203" pitchFamily="34" charset="0"/>
                      </a:rPr>
                      <m:t>=</m:t>
                    </m:r>
                  </m:oMath>
                </a14:m>
                <a:r>
                  <a:rPr lang="en-IN" kern="100" dirty="0">
                    <a:effectLst/>
                    <a:latin typeface="Aptos" panose="020B0004020202020204" pitchFamily="34" charset="0"/>
                    <a:ea typeface="Aptos" panose="020B0004020202020204" pitchFamily="34" charset="0"/>
                    <a:cs typeface="Tunga" panose="020B0502040204020203" pitchFamily="34" charset="0"/>
                  </a:rPr>
                  <a:t> intercept</a:t>
                </a:r>
              </a:p>
              <a:p>
                <a:pPr marL="0" indent="0">
                  <a:buNone/>
                </a:pP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𝑟</m:t>
                    </m:r>
                  </m:oMath>
                </a14:m>
                <a:r>
                  <a:rPr lang="en-IN" kern="100" dirty="0">
                    <a:effectLst/>
                    <a:latin typeface="Aptos" panose="020B0004020202020204" pitchFamily="34" charset="0"/>
                    <a:ea typeface="Aptos" panose="020B0004020202020204" pitchFamily="34" charset="0"/>
                    <a:cs typeface="Tunga" panose="020B0502040204020203" pitchFamily="34" charset="0"/>
                  </a:rPr>
                  <a:t> = rate</a:t>
                </a:r>
              </a:p>
              <a:p>
                <a:pPr marL="0" indent="0">
                  <a:buNone/>
                </a:pP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𝑎</m:t>
                    </m:r>
                    <m:r>
                      <a:rPr lang="en-US" b="0" i="1" kern="100" smtClean="0">
                        <a:effectLst/>
                        <a:latin typeface="Cambria Math" panose="02040503050406030204" pitchFamily="18" charset="0"/>
                        <a:ea typeface="Aptos" panose="020B0004020202020204" pitchFamily="34" charset="0"/>
                        <a:cs typeface="Tunga" panose="020B0502040204020203" pitchFamily="34" charset="0"/>
                      </a:rPr>
                      <m:t> </m:t>
                    </m:r>
                  </m:oMath>
                </a14:m>
                <a:r>
                  <a:rPr lang="en-IN" kern="100" dirty="0">
                    <a:effectLst/>
                    <a:latin typeface="Aptos" panose="020B0004020202020204" pitchFamily="34" charset="0"/>
                    <a:ea typeface="Aptos" panose="020B0004020202020204" pitchFamily="34" charset="0"/>
                    <a:cs typeface="Tunga" panose="020B0502040204020203" pitchFamily="34" charset="0"/>
                  </a:rPr>
                  <a:t> and </a:t>
                </a: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𝑏</m:t>
                    </m:r>
                  </m:oMath>
                </a14:m>
                <a:r>
                  <a:rPr lang="en-IN" kern="100" dirty="0">
                    <a:effectLst/>
                    <a:latin typeface="Aptos" panose="020B0004020202020204" pitchFamily="34" charset="0"/>
                    <a:ea typeface="Aptos" panose="020B0004020202020204" pitchFamily="34" charset="0"/>
                    <a:cs typeface="Tunga" panose="020B0502040204020203" pitchFamily="34" charset="0"/>
                  </a:rPr>
                  <a:t> are signal coefficients</a:t>
                </a:r>
              </a:p>
              <a:p>
                <a:pPr marL="0" indent="0">
                  <a:buNone/>
                </a:pPr>
                <a14:m>
                  <m:oMath xmlns:m="http://schemas.openxmlformats.org/officeDocument/2006/math">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𝜔</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0</m:t>
                        </m:r>
                      </m:sub>
                    </m:sSub>
                  </m:oMath>
                </a14:m>
                <a:r>
                  <a:rPr lang="en-IN" kern="100" dirty="0">
                    <a:effectLst/>
                    <a:latin typeface="Aptos" panose="020B0004020202020204" pitchFamily="34" charset="0"/>
                    <a:ea typeface="Aptos" panose="020B0004020202020204" pitchFamily="34" charset="0"/>
                    <a:cs typeface="Tunga" panose="020B0502040204020203" pitchFamily="34" charset="0"/>
                  </a:rPr>
                  <a:t> is frequency of signal</a:t>
                </a:r>
              </a:p>
              <a:p>
                <a:pPr marL="0" indent="0">
                  <a:buNone/>
                </a:pP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𝑜</m:t>
                    </m:r>
                  </m:oMath>
                </a14:m>
                <a:r>
                  <a:rPr lang="en-IN" kern="100" dirty="0">
                    <a:effectLst/>
                    <a:latin typeface="Aptos" panose="020B0004020202020204" pitchFamily="34" charset="0"/>
                    <a:ea typeface="Aptos" panose="020B0004020202020204" pitchFamily="34" charset="0"/>
                    <a:cs typeface="Tunga" panose="020B0502040204020203" pitchFamily="34" charset="0"/>
                  </a:rPr>
                  <a:t> is the offset starting from </a:t>
                </a:r>
                <a14:m>
                  <m:oMath xmlns:m="http://schemas.openxmlformats.org/officeDocument/2006/math">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𝑡</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𝑘</m:t>
                        </m:r>
                      </m:sub>
                    </m:sSub>
                  </m:oMath>
                </a14:m>
                <a:endParaRPr lang="en-IN"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14:m>
                  <m:oMath xmlns:m="http://schemas.openxmlformats.org/officeDocument/2006/math">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𝑢</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𝑘</m:t>
                        </m:r>
                      </m:sub>
                    </m:sSub>
                  </m:oMath>
                </a14:m>
                <a:r>
                  <a:rPr lang="en-IN" kern="100" dirty="0">
                    <a:effectLst/>
                    <a:latin typeface="Aptos" panose="020B0004020202020204" pitchFamily="34" charset="0"/>
                    <a:ea typeface="Aptos" panose="020B0004020202020204" pitchFamily="34" charset="0"/>
                    <a:cs typeface="Tunga" panose="020B0502040204020203" pitchFamily="34" charset="0"/>
                  </a:rPr>
                  <a:t> Heaviside step function</a:t>
                </a:r>
              </a:p>
              <a:p>
                <a:pPr marL="0" indent="0">
                  <a:buNone/>
                </a:pP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𝜖</m:t>
                    </m:r>
                    <m:d>
                      <m:d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d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𝑡</m:t>
                        </m:r>
                      </m:e>
                    </m:d>
                  </m:oMath>
                </a14:m>
                <a:r>
                  <a:rPr lang="en-IN" kern="100" dirty="0">
                    <a:effectLst/>
                    <a:latin typeface="Aptos" panose="020B0004020202020204" pitchFamily="34" charset="0"/>
                    <a:ea typeface="Aptos" panose="020B0004020202020204" pitchFamily="34" charset="0"/>
                    <a:cs typeface="Tunga" panose="020B0502040204020203" pitchFamily="34" charset="0"/>
                  </a:rPr>
                  <a:t> is the noise</a:t>
                </a:r>
                <a:endParaRPr lang="en-IN" sz="1800"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endParaRPr lang="en-IN" dirty="0"/>
              </a:p>
            </p:txBody>
          </p:sp>
        </mc:Choice>
        <mc:Fallback xmlns="">
          <p:sp>
            <p:nvSpPr>
              <p:cNvPr id="3" name="Content Placeholder 2">
                <a:extLst>
                  <a:ext uri="{FF2B5EF4-FFF2-40B4-BE49-F238E27FC236}">
                    <a16:creationId xmlns:a16="http://schemas.microsoft.com/office/drawing/2014/main" id="{976BDECE-E44F-72DF-72E7-0A0E81F4B3E9}"/>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IN">
                    <a:noFill/>
                  </a:rPr>
                  <a:t> </a:t>
                </a:r>
              </a:p>
            </p:txBody>
          </p:sp>
        </mc:Fallback>
      </mc:AlternateContent>
    </p:spTree>
    <p:extLst>
      <p:ext uri="{BB962C8B-B14F-4D97-AF65-F5344CB8AC3E}">
        <p14:creationId xmlns:p14="http://schemas.microsoft.com/office/powerpoint/2010/main" val="3027095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CC401-0AEF-093C-DC21-FB3B499ABC1B}"/>
              </a:ext>
            </a:extLst>
          </p:cNvPr>
          <p:cNvSpPr>
            <a:spLocks noGrp="1"/>
          </p:cNvSpPr>
          <p:nvPr>
            <p:ph type="title"/>
          </p:nvPr>
        </p:nvSpPr>
        <p:spPr/>
        <p:txBody>
          <a:bodyPr/>
          <a:lstStyle/>
          <a:p>
            <a:r>
              <a:rPr lang="en-US" dirty="0"/>
              <a:t>components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F7F367-832F-20D8-2E0B-E02EEB3E88FF}"/>
                  </a:ext>
                </a:extLst>
              </p:cNvPr>
              <p:cNvSpPr>
                <a:spLocks noGrp="1"/>
              </p:cNvSpPr>
              <p:nvPr>
                <p:ph idx="1"/>
              </p:nvPr>
            </p:nvSpPr>
            <p:spPr/>
            <p:txBody>
              <a:bodyPr>
                <a:normAutofit/>
              </a:bodyPr>
              <a:lstStyle/>
              <a:p>
                <a:r>
                  <a:rPr lang="en-US" dirty="0"/>
                  <a:t>Noise:</a:t>
                </a:r>
              </a:p>
              <a:p>
                <a:pPr lvl="1"/>
                <a:r>
                  <a:rPr lang="en-US" dirty="0"/>
                  <a:t>Random fluctuations in time series, some of it is coming from random factors, others is coming from systematic issues</a:t>
                </a:r>
              </a:p>
              <a:p>
                <a:pPr lvl="1"/>
                <a:r>
                  <a:rPr lang="en-US" dirty="0"/>
                  <a:t>Noise </a:t>
                </a:r>
                <a14:m>
                  <m:oMath xmlns:m="http://schemas.openxmlformats.org/officeDocument/2006/math">
                    <m:r>
                      <a:rPr lang="en-US" b="0" i="1" smtClean="0">
                        <a:latin typeface="Cambria Math" panose="02040503050406030204" pitchFamily="18" charset="0"/>
                      </a:rPr>
                      <m:t>≠</m:t>
                    </m:r>
                  </m:oMath>
                </a14:m>
                <a:r>
                  <a:rPr lang="en-IN" dirty="0"/>
                  <a:t> error! Error does contribute to noise</a:t>
                </a:r>
              </a:p>
              <a:p>
                <a:pPr lvl="1"/>
                <a:r>
                  <a:rPr lang="en-IN" dirty="0"/>
                  <a:t>We would like to remove unwanted variations</a:t>
                </a:r>
              </a:p>
              <a:p>
                <a:pPr lvl="1"/>
                <a:endParaRPr lang="en-IN" dirty="0"/>
              </a:p>
              <a:p>
                <a:r>
                  <a:rPr lang="en-IN" dirty="0"/>
                  <a:t>Types of noise:</a:t>
                </a:r>
              </a:p>
              <a:p>
                <a:pPr lvl="1"/>
                <a:r>
                  <a:rPr lang="en-IN" dirty="0"/>
                  <a:t>White noise: Contains all frequencies with same amplitude</a:t>
                </a:r>
              </a:p>
              <a:p>
                <a:pPr lvl="1"/>
                <a:r>
                  <a:rPr lang="en-IN" dirty="0" err="1"/>
                  <a:t>Colored</a:t>
                </a:r>
                <a:r>
                  <a:rPr lang="en-IN" dirty="0"/>
                  <a:t> noise:</a:t>
                </a:r>
              </a:p>
              <a:p>
                <a:pPr lvl="2"/>
                <a:r>
                  <a:rPr lang="en-IN" dirty="0"/>
                  <a:t>Pink noise: Amplitude of frequency reduces with increase in frequency</a:t>
                </a:r>
              </a:p>
              <a:p>
                <a:pPr lvl="2"/>
                <a:r>
                  <a:rPr lang="en-IN" dirty="0"/>
                  <a:t>Brown noise: Amplitude of frequency reduces as squared rate with increase in frequency</a:t>
                </a:r>
              </a:p>
              <a:p>
                <a:pPr lvl="2"/>
                <a:endParaRPr lang="en-IN" dirty="0"/>
              </a:p>
            </p:txBody>
          </p:sp>
        </mc:Choice>
        <mc:Fallback xmlns="">
          <p:sp>
            <p:nvSpPr>
              <p:cNvPr id="3" name="Content Placeholder 2">
                <a:extLst>
                  <a:ext uri="{FF2B5EF4-FFF2-40B4-BE49-F238E27FC236}">
                    <a16:creationId xmlns:a16="http://schemas.microsoft.com/office/drawing/2014/main" id="{59F7F367-832F-20D8-2E0B-E02EEB3E88FF}"/>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IN">
                    <a:noFill/>
                  </a:rPr>
                  <a:t> </a:t>
                </a:r>
              </a:p>
            </p:txBody>
          </p:sp>
        </mc:Fallback>
      </mc:AlternateContent>
    </p:spTree>
    <p:extLst>
      <p:ext uri="{BB962C8B-B14F-4D97-AF65-F5344CB8AC3E}">
        <p14:creationId xmlns:p14="http://schemas.microsoft.com/office/powerpoint/2010/main" val="3740100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BC4A5-F21C-1D4B-EBA3-F0E984265528}"/>
              </a:ext>
            </a:extLst>
          </p:cNvPr>
          <p:cNvSpPr>
            <a:spLocks noGrp="1"/>
          </p:cNvSpPr>
          <p:nvPr>
            <p:ph type="title"/>
          </p:nvPr>
        </p:nvSpPr>
        <p:spPr/>
        <p:txBody>
          <a:bodyPr/>
          <a:lstStyle/>
          <a:p>
            <a:r>
              <a:rPr lang="en-US" dirty="0"/>
              <a:t>components model</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431BD9-1D7F-0430-A244-3BC68D80AFF1}"/>
                  </a:ext>
                </a:extLst>
              </p:cNvPr>
              <p:cNvSpPr>
                <a:spLocks noGrp="1"/>
              </p:cNvSpPr>
              <p:nvPr>
                <p:ph idx="1"/>
              </p:nvPr>
            </p:nvSpPr>
            <p:spPr/>
            <p:txBody>
              <a:bodyPr>
                <a:normAutofit fontScale="92500"/>
              </a:bodyPr>
              <a:lstStyle/>
              <a:p>
                <a:r>
                  <a:rPr lang="en-US" sz="2800" dirty="0"/>
                  <a:t>Noise:</a:t>
                </a:r>
              </a:p>
              <a:p>
                <a:r>
                  <a:rPr lang="en-US" dirty="0"/>
                  <a:t>A stationary random noise yields uncorrelated and zero-mean random variables</a:t>
                </a:r>
              </a:p>
              <a:p>
                <a:pPr marL="457200" lvl="1" indent="0">
                  <a:buNone/>
                </a:pPr>
                <a14:m>
                  <m:oMathPara xmlns:m="http://schemas.openxmlformats.org/officeDocument/2006/math">
                    <m:oMath>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oMath>
                  </m:oMathPara>
                </a14:m>
                <a:endParaRPr lang="en-IN" dirty="0"/>
              </a:p>
              <a:p>
                <a:pPr marL="457200" lvl="1" indent="0">
                  <a:buNone/>
                </a:pPr>
                <a:r>
                  <a:rPr lang="en-IN" dirty="0"/>
                  <a:t>meaning that noise at any </a:t>
                </a:r>
                <a14:m>
                  <m:oMath xmlns:m="http://schemas.openxmlformats.org/officeDocument/2006/math">
                    <m:r>
                      <a:rPr lang="en-US" b="0" i="1" smtClean="0">
                        <a:latin typeface="Cambria Math" panose="02040503050406030204" pitchFamily="18" charset="0"/>
                      </a:rPr>
                      <m:t>𝑡</m:t>
                    </m:r>
                  </m:oMath>
                </a14:m>
                <a:r>
                  <a:rPr lang="en-IN" dirty="0"/>
                  <a:t> is not influenced by previous observations</a:t>
                </a:r>
                <a:endParaRPr lang="en-US" sz="2800" dirty="0"/>
              </a:p>
              <a:p>
                <a:pPr lvl="1"/>
                <a14:m>
                  <m:oMath xmlns:m="http://schemas.openxmlformats.org/officeDocument/2006/math">
                    <m:eqArr>
                      <m:eqArrPr>
                        <m:ctrlPr>
                          <a:rPr lang="en-IN" i="1" kern="100" smtClean="0">
                            <a:effectLst/>
                            <a:latin typeface="Cambria Math" panose="02040503050406030204" pitchFamily="18" charset="0"/>
                            <a:ea typeface="Aptos" panose="020B0004020202020204" pitchFamily="34" charset="0"/>
                            <a:cs typeface="Tunga" panose="020B0502040204020203" pitchFamily="34" charset="0"/>
                          </a:rPr>
                        </m:ctrlPr>
                      </m:eqArrPr>
                      <m:e>
                        <m:r>
                          <a:rPr lang="en-IN" i="1" kern="100">
                            <a:effectLst/>
                            <a:latin typeface="Cambria Math" panose="02040503050406030204" pitchFamily="18" charset="0"/>
                            <a:ea typeface="Aptos" panose="020B0004020202020204" pitchFamily="34" charset="0"/>
                            <a:cs typeface="Tunga" panose="020B0502040204020203" pitchFamily="34" charset="0"/>
                          </a:rPr>
                          <m:t>𝔼</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𝑌</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𝔼</m:t>
                        </m:r>
                        <m:d>
                          <m:dPr>
                            <m:begChr m:val="["/>
                            <m:endChr m:val="]"/>
                            <m:ctrlPr>
                              <a:rPr lang="en-IN" i="1" kern="100">
                                <a:effectLst/>
                                <a:latin typeface="Cambria Math" panose="02040503050406030204" pitchFamily="18" charset="0"/>
                                <a:ea typeface="Aptos" panose="020B0004020202020204" pitchFamily="34" charset="0"/>
                                <a:cs typeface="Tunga" panose="020B0502040204020203" pitchFamily="34" charset="0"/>
                              </a:rPr>
                            </m:ctrlPr>
                          </m:dPr>
                          <m:e>
                            <m:eqArr>
                              <m:eqArrPr>
                                <m:ctrlPr>
                                  <a:rPr lang="en-IN" i="1" kern="100">
                                    <a:effectLst/>
                                    <a:latin typeface="Cambria Math" panose="02040503050406030204" pitchFamily="18" charset="0"/>
                                    <a:ea typeface="Aptos" panose="020B0004020202020204" pitchFamily="34" charset="0"/>
                                    <a:cs typeface="Tunga" panose="020B0502040204020203" pitchFamily="34" charset="0"/>
                                  </a:rPr>
                                </m:ctrlPr>
                              </m:eqArrPr>
                              <m:e>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𝑦</m:t>
                                    </m:r>
                                  </m:e>
                                  <m:sub>
                                    <m:r>
                                      <a:rPr lang="en-IN" i="1" kern="100">
                                        <a:effectLst/>
                                        <a:latin typeface="Cambria Math" panose="02040503050406030204" pitchFamily="18" charset="0"/>
                                        <a:ea typeface="Aptos" panose="020B0004020202020204" pitchFamily="34" charset="0"/>
                                        <a:cs typeface="Tunga" panose="020B0502040204020203" pitchFamily="34" charset="0"/>
                                      </a:rPr>
                                      <m:t>1</m:t>
                                    </m:r>
                                  </m:sub>
                                </m:sSub>
                              </m:e>
                              <m:e>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𝑦</m:t>
                                    </m:r>
                                  </m:e>
                                  <m:sub>
                                    <m:r>
                                      <a:rPr lang="en-IN" i="1" kern="100">
                                        <a:effectLst/>
                                        <a:latin typeface="Cambria Math" panose="02040503050406030204" pitchFamily="18" charset="0"/>
                                        <a:ea typeface="Aptos" panose="020B0004020202020204" pitchFamily="34" charset="0"/>
                                        <a:cs typeface="Tunga" panose="020B0502040204020203" pitchFamily="34" charset="0"/>
                                      </a:rPr>
                                      <m:t>2</m:t>
                                    </m:r>
                                  </m:sub>
                                </m:sSub>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𝑦</m:t>
                                    </m:r>
                                  </m:e>
                                  <m:sub>
                                    <m:r>
                                      <a:rPr lang="en-IN" i="1" kern="100">
                                        <a:effectLst/>
                                        <a:latin typeface="Cambria Math" panose="02040503050406030204" pitchFamily="18" charset="0"/>
                                        <a:ea typeface="Aptos" panose="020B0004020202020204" pitchFamily="34" charset="0"/>
                                        <a:cs typeface="Tunga" panose="020B0502040204020203" pitchFamily="34" charset="0"/>
                                      </a:rPr>
                                      <m:t>𝑚</m:t>
                                    </m:r>
                                  </m:sub>
                                </m:sSub>
                              </m:e>
                            </m:eqArr>
                          </m:e>
                        </m:d>
                        <m:r>
                          <a:rPr lang="en-IN" i="1" kern="100">
                            <a:effectLst/>
                            <a:latin typeface="Cambria Math" panose="02040503050406030204" pitchFamily="18" charset="0"/>
                            <a:ea typeface="Aptos" panose="020B0004020202020204" pitchFamily="34" charset="0"/>
                            <a:cs typeface="Tunga" panose="020B0502040204020203" pitchFamily="34" charset="0"/>
                          </a:rPr>
                          <m:t>=</m:t>
                        </m:r>
                        <m:d>
                          <m:dPr>
                            <m:begChr m:val="["/>
                            <m:endChr m:val="]"/>
                            <m:ctrlPr>
                              <a:rPr lang="en-IN" i="1" kern="100">
                                <a:effectLst/>
                                <a:latin typeface="Cambria Math" panose="02040503050406030204" pitchFamily="18" charset="0"/>
                                <a:ea typeface="Aptos" panose="020B0004020202020204" pitchFamily="34" charset="0"/>
                                <a:cs typeface="Tunga" panose="020B0502040204020203" pitchFamily="34" charset="0"/>
                              </a:rPr>
                            </m:ctrlPr>
                          </m:dPr>
                          <m:e>
                            <m:eqArr>
                              <m:eqArrPr>
                                <m:ctrlPr>
                                  <a:rPr lang="en-IN" i="1" kern="100">
                                    <a:effectLst/>
                                    <a:latin typeface="Cambria Math" panose="02040503050406030204" pitchFamily="18" charset="0"/>
                                    <a:ea typeface="Aptos" panose="020B0004020202020204" pitchFamily="34" charset="0"/>
                                    <a:cs typeface="Tunga" panose="020B0502040204020203" pitchFamily="34" charset="0"/>
                                  </a:rPr>
                                </m:ctrlPr>
                              </m:eqArrPr>
                              <m:e>
                                <m:r>
                                  <a:rPr lang="en-IN" i="1" kern="100">
                                    <a:effectLst/>
                                    <a:latin typeface="Cambria Math" panose="02040503050406030204" pitchFamily="18" charset="0"/>
                                    <a:ea typeface="Aptos" panose="020B0004020202020204" pitchFamily="34" charset="0"/>
                                    <a:cs typeface="Tunga" panose="020B0502040204020203" pitchFamily="34" charset="0"/>
                                  </a:rPr>
                                  <m:t>0</m:t>
                                </m:r>
                              </m:e>
                              <m:e>
                                <m:r>
                                  <a:rPr lang="en-IN" i="1" kern="100">
                                    <a:effectLst/>
                                    <a:latin typeface="Cambria Math" panose="02040503050406030204" pitchFamily="18" charset="0"/>
                                    <a:ea typeface="Aptos" panose="020B0004020202020204" pitchFamily="34" charset="0"/>
                                    <a:cs typeface="Tunga" panose="020B0502040204020203" pitchFamily="34" charset="0"/>
                                  </a:rPr>
                                  <m:t>0</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0</m:t>
                                </m:r>
                              </m:e>
                            </m:eqArr>
                          </m:e>
                        </m:d>
                      </m:e>
                    </m:eqArr>
                  </m:oMath>
                </a14:m>
                <a:endParaRPr lang="en-IN" kern="100" dirty="0">
                  <a:effectLst/>
                  <a:latin typeface="Aptos" panose="020B0004020202020204" pitchFamily="34" charset="0"/>
                  <a:ea typeface="Aptos" panose="020B0004020202020204" pitchFamily="34" charset="0"/>
                  <a:cs typeface="Tunga" panose="020B0502040204020203" pitchFamily="34" charset="0"/>
                </a:endParaRPr>
              </a:p>
              <a:p>
                <a:pPr lvl="1"/>
                <a14:m>
                  <m:oMath xmlns:m="http://schemas.openxmlformats.org/officeDocument/2006/math">
                    <m:eqArr>
                      <m:eqArrPr>
                        <m:ctrlPr>
                          <a:rPr lang="en-IN" i="1" kern="100" smtClean="0">
                            <a:effectLst/>
                            <a:latin typeface="Cambria Math" panose="02040503050406030204" pitchFamily="18" charset="0"/>
                            <a:ea typeface="Aptos" panose="020B0004020202020204" pitchFamily="34" charset="0"/>
                            <a:cs typeface="Tunga" panose="020B0502040204020203" pitchFamily="34" charset="0"/>
                          </a:rPr>
                        </m:ctrlPr>
                      </m:eqArrPr>
                      <m:e>
                        <m:r>
                          <a:rPr lang="en-IN" i="1" kern="100">
                            <a:effectLst/>
                            <a:latin typeface="Cambria Math" panose="02040503050406030204" pitchFamily="18" charset="0"/>
                            <a:ea typeface="Aptos" panose="020B0004020202020204" pitchFamily="34" charset="0"/>
                            <a:cs typeface="Tunga" panose="020B0502040204020203" pitchFamily="34" charset="0"/>
                          </a:rPr>
                          <m:t>𝔻</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𝑌</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kern="100">
                                <a:effectLst/>
                                <a:latin typeface="Cambria Math" panose="02040503050406030204" pitchFamily="18" charset="0"/>
                                <a:ea typeface="Aptos" panose="020B0004020202020204" pitchFamily="34" charset="0"/>
                                <a:cs typeface="Tunga" panose="020B0502040204020203" pitchFamily="34" charset="0"/>
                              </a:rPr>
                            </m:ctrlPr>
                          </m:sSubPr>
                          <m:e>
                            <m:r>
                              <m:rPr>
                                <m:sty m:val="p"/>
                              </m:rPr>
                              <a:rPr lang="en-IN" kern="100">
                                <a:effectLst/>
                                <a:latin typeface="Cambria Math" panose="02040503050406030204" pitchFamily="18" charset="0"/>
                                <a:ea typeface="Aptos" panose="020B0004020202020204" pitchFamily="34" charset="0"/>
                                <a:cs typeface="Tunga" panose="020B0502040204020203" pitchFamily="34" charset="0"/>
                              </a:rPr>
                              <m:t>Σ</m:t>
                            </m:r>
                          </m:e>
                          <m:sub>
                            <m:r>
                              <a:rPr lang="en-IN" i="1" kern="100">
                                <a:effectLst/>
                                <a:latin typeface="Cambria Math" panose="02040503050406030204" pitchFamily="18" charset="0"/>
                                <a:ea typeface="Aptos" panose="020B0004020202020204" pitchFamily="34" charset="0"/>
                                <a:cs typeface="Tunga" panose="020B0502040204020203" pitchFamily="34" charset="0"/>
                              </a:rPr>
                              <m:t>𝑌</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sSup>
                          <m:sSupPr>
                            <m:ctrlPr>
                              <a:rPr lang="en-IN" i="1" kern="100">
                                <a:effectLst/>
                                <a:latin typeface="Cambria Math" panose="02040503050406030204" pitchFamily="18" charset="0"/>
                                <a:ea typeface="Aptos" panose="020B0004020202020204" pitchFamily="34" charset="0"/>
                                <a:cs typeface="Tunga" panose="020B0502040204020203" pitchFamily="34" charset="0"/>
                              </a:rPr>
                            </m:ctrlPr>
                          </m:sSupPr>
                          <m:e>
                            <m:r>
                              <a:rPr lang="en-IN" i="1" kern="100">
                                <a:effectLst/>
                                <a:latin typeface="Cambria Math" panose="02040503050406030204" pitchFamily="18" charset="0"/>
                                <a:ea typeface="Aptos" panose="020B0004020202020204" pitchFamily="34" charset="0"/>
                                <a:cs typeface="Tunga" panose="020B0502040204020203" pitchFamily="34" charset="0"/>
                              </a:rPr>
                              <m:t>𝜎</m:t>
                            </m:r>
                          </m:e>
                          <m:sup>
                            <m:r>
                              <a:rPr lang="en-IN" i="1" kern="100">
                                <a:effectLst/>
                                <a:latin typeface="Cambria Math" panose="02040503050406030204" pitchFamily="18" charset="0"/>
                                <a:ea typeface="Aptos" panose="020B0004020202020204" pitchFamily="34" charset="0"/>
                                <a:cs typeface="Tunga" panose="020B0502040204020203" pitchFamily="34" charset="0"/>
                              </a:rPr>
                              <m:t>2</m:t>
                            </m:r>
                          </m:sup>
                        </m:sSup>
                        <m:d>
                          <m:dPr>
                            <m:begChr m:val="["/>
                            <m:endChr m:val="]"/>
                            <m:ctrlPr>
                              <a:rPr lang="en-IN" i="1" kern="100">
                                <a:effectLst/>
                                <a:latin typeface="Cambria Math" panose="02040503050406030204" pitchFamily="18" charset="0"/>
                                <a:ea typeface="Aptos" panose="020B0004020202020204" pitchFamily="34" charset="0"/>
                                <a:cs typeface="Tunga" panose="020B0502040204020203" pitchFamily="34" charset="0"/>
                              </a:rPr>
                            </m:ctrlPr>
                          </m:dPr>
                          <m:e>
                            <m:m>
                              <m:mPr>
                                <m:plcHide m:val="on"/>
                                <m:mcs>
                                  <m:mc>
                                    <m:mcPr>
                                      <m:count m:val="4"/>
                                      <m:mcJc m:val="center"/>
                                    </m:mcPr>
                                  </m:mc>
                                </m:mcs>
                                <m:ctrlPr>
                                  <a:rPr lang="en-IN" i="1" kern="100">
                                    <a:effectLst/>
                                    <a:latin typeface="Cambria Math" panose="02040503050406030204" pitchFamily="18" charset="0"/>
                                    <a:ea typeface="Aptos" panose="020B0004020202020204" pitchFamily="34" charset="0"/>
                                    <a:cs typeface="Tunga" panose="020B0502040204020203" pitchFamily="34" charset="0"/>
                                  </a:rPr>
                                </m:ctrlPr>
                              </m:mP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r>
                                    <a:rPr lang="en-IN" i="1" kern="100">
                                      <a:effectLst/>
                                      <a:latin typeface="Cambria Math" panose="02040503050406030204" pitchFamily="18" charset="0"/>
                                      <a:ea typeface="Aptos" panose="020B0004020202020204" pitchFamily="34" charset="0"/>
                                      <a:cs typeface="Tunga" panose="020B0502040204020203" pitchFamily="34" charset="0"/>
                                    </a:rPr>
                                    <m:t>0</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0</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0</m:t>
                                  </m:r>
                                </m:e>
                                <m:e>
                                  <m:r>
                                    <a:rPr lang="en-IN" i="1" kern="100">
                                      <a:effectLst/>
                                      <a:latin typeface="Cambria Math" panose="02040503050406030204" pitchFamily="18" charset="0"/>
                                      <a:ea typeface="Aptos" panose="020B0004020202020204" pitchFamily="34" charset="0"/>
                                      <a:cs typeface="Tunga" panose="020B0502040204020203" pitchFamily="34" charset="0"/>
                                    </a:rPr>
                                    <m:t>1</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0</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0</m:t>
                                  </m:r>
                                </m:e>
                                <m:e>
                                  <m:r>
                                    <a:rPr lang="en-IN" i="1" kern="100">
                                      <a:effectLst/>
                                      <a:latin typeface="Cambria Math" panose="02040503050406030204" pitchFamily="18" charset="0"/>
                                      <a:ea typeface="Aptos" panose="020B0004020202020204" pitchFamily="34" charset="0"/>
                                      <a:cs typeface="Tunga" panose="020B0502040204020203" pitchFamily="34" charset="0"/>
                                    </a:rPr>
                                    <m:t>0</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1</m:t>
                                  </m:r>
                                </m:e>
                              </m:mr>
                            </m:m>
                          </m:e>
                        </m:d>
                      </m:e>
                    </m:eqArr>
                  </m:oMath>
                </a14:m>
                <a:endParaRPr lang="en-US" kern="100" dirty="0">
                  <a:effectLst/>
                  <a:latin typeface="Aptos" panose="020B0004020202020204" pitchFamily="34" charset="0"/>
                  <a:ea typeface="Aptos" panose="020B0004020202020204" pitchFamily="34" charset="0"/>
                  <a:cs typeface="Tunga" panose="020B0502040204020203" pitchFamily="34" charset="0"/>
                </a:endParaRPr>
              </a:p>
              <a:p>
                <a:pPr lvl="1"/>
                <a:r>
                  <a:rPr lang="en-IN" kern="100" dirty="0">
                    <a:effectLst/>
                    <a:ea typeface="Aptos" panose="020B0004020202020204" pitchFamily="34" charset="0"/>
                    <a:cs typeface="Tunga" panose="020B0502040204020203" pitchFamily="34" charset="0"/>
                  </a:rPr>
                  <a:t>Thus, White noise can be represented by using Gaussian Distribution </a:t>
                </a: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𝜇</m:t>
                    </m:r>
                    <m:r>
                      <a:rPr lang="en-US" b="0" i="1" kern="100" smtClean="0">
                        <a:effectLst/>
                        <a:latin typeface="Cambria Math" panose="02040503050406030204" pitchFamily="18" charset="0"/>
                        <a:ea typeface="Aptos" panose="020B0004020202020204" pitchFamily="34" charset="0"/>
                        <a:cs typeface="Tunga" panose="020B0502040204020203" pitchFamily="34" charset="0"/>
                      </a:rPr>
                      <m:t>=0 </m:t>
                    </m:r>
                  </m:oMath>
                </a14:m>
                <a:r>
                  <a:rPr lang="en-IN" kern="100" dirty="0">
                    <a:effectLst/>
                    <a:ea typeface="Aptos" panose="020B0004020202020204" pitchFamily="34" charset="0"/>
                    <a:cs typeface="Tunga" panose="020B0502040204020203" pitchFamily="34" charset="0"/>
                  </a:rPr>
                  <a:t>and </a:t>
                </a: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𝑣𝑎𝑟</m:t>
                    </m:r>
                    <m:r>
                      <a:rPr lang="en-US" b="0" i="1" kern="100" smtClean="0">
                        <a:effectLst/>
                        <a:latin typeface="Cambria Math" panose="02040503050406030204" pitchFamily="18" charset="0"/>
                        <a:ea typeface="Aptos" panose="020B0004020202020204" pitchFamily="34" charset="0"/>
                        <a:cs typeface="Tunga" panose="020B0502040204020203" pitchFamily="34" charset="0"/>
                      </a:rPr>
                      <m:t>=</m:t>
                    </m:r>
                    <m:sSup>
                      <m:sSup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p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𝜎</m:t>
                        </m:r>
                      </m:e>
                      <m:sup>
                        <m:r>
                          <a:rPr lang="en-US" b="0" i="1" kern="100" smtClean="0">
                            <a:effectLst/>
                            <a:latin typeface="Cambria Math" panose="02040503050406030204" pitchFamily="18" charset="0"/>
                            <a:ea typeface="Aptos" panose="020B0004020202020204" pitchFamily="34" charset="0"/>
                            <a:cs typeface="Tunga" panose="020B0502040204020203" pitchFamily="34" charset="0"/>
                          </a:rPr>
                          <m:t>2</m:t>
                        </m:r>
                      </m:sup>
                    </m:sSup>
                  </m:oMath>
                </a14:m>
                <a:endParaRPr lang="en-IN" kern="100" dirty="0">
                  <a:effectLst/>
                  <a:ea typeface="Aptos" panose="020B0004020202020204" pitchFamily="34" charset="0"/>
                  <a:cs typeface="Tunga" panose="020B0502040204020203" pitchFamily="34" charset="0"/>
                </a:endParaRPr>
              </a:p>
              <a:p>
                <a:pPr lvl="1"/>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𝜖</m:t>
                    </m:r>
                    <m:d>
                      <m:d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d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𝑡</m:t>
                        </m:r>
                      </m:e>
                    </m:d>
                    <m:r>
                      <a:rPr lang="en-US" b="0" i="1" kern="100" smtClean="0">
                        <a:effectLst/>
                        <a:latin typeface="Cambria Math" panose="02040503050406030204" pitchFamily="18" charset="0"/>
                        <a:ea typeface="Aptos" panose="020B0004020202020204" pitchFamily="34" charset="0"/>
                        <a:cs typeface="Tunga" panose="020B0502040204020203" pitchFamily="34" charset="0"/>
                      </a:rPr>
                      <m:t>~ </m:t>
                    </m:r>
                    <m:r>
                      <a:rPr lang="en-US" b="1" i="1" kern="100" smtClean="0">
                        <a:effectLst/>
                        <a:latin typeface="Cambria Math" panose="02040503050406030204" pitchFamily="18" charset="0"/>
                        <a:ea typeface="Aptos" panose="020B0004020202020204" pitchFamily="34" charset="0"/>
                        <a:cs typeface="Tunga" panose="020B0502040204020203" pitchFamily="34" charset="0"/>
                      </a:rPr>
                      <m:t>𝑵</m:t>
                    </m:r>
                    <m:d>
                      <m:dPr>
                        <m:ctrlPr>
                          <a:rPr lang="en-US" b="1" i="1" kern="100" smtClean="0">
                            <a:effectLst/>
                            <a:latin typeface="Cambria Math" panose="02040503050406030204" pitchFamily="18" charset="0"/>
                            <a:ea typeface="Aptos" panose="020B0004020202020204" pitchFamily="34" charset="0"/>
                            <a:cs typeface="Tunga" panose="020B0502040204020203" pitchFamily="34" charset="0"/>
                          </a:rPr>
                        </m:ctrlPr>
                      </m:dPr>
                      <m:e>
                        <m:r>
                          <a:rPr lang="en-US" b="1" i="1" kern="100" smtClean="0">
                            <a:effectLst/>
                            <a:latin typeface="Cambria Math" panose="02040503050406030204" pitchFamily="18" charset="0"/>
                            <a:ea typeface="Aptos" panose="020B0004020202020204" pitchFamily="34" charset="0"/>
                            <a:cs typeface="Tunga" panose="020B0502040204020203" pitchFamily="34" charset="0"/>
                          </a:rPr>
                          <m:t>𝟎</m:t>
                        </m:r>
                        <m:r>
                          <a:rPr lang="en-US" b="1" i="1" kern="100" smtClean="0">
                            <a:effectLst/>
                            <a:latin typeface="Cambria Math" panose="02040503050406030204" pitchFamily="18" charset="0"/>
                            <a:ea typeface="Aptos" panose="020B0004020202020204" pitchFamily="34" charset="0"/>
                            <a:cs typeface="Tunga" panose="020B0502040204020203" pitchFamily="34" charset="0"/>
                          </a:rPr>
                          <m:t>, </m:t>
                        </m:r>
                        <m:sSup>
                          <m:sSup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p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𝜎</m:t>
                            </m:r>
                          </m:e>
                          <m:sup>
                            <m:r>
                              <a:rPr lang="en-US" b="0" i="1" kern="100" smtClean="0">
                                <a:effectLst/>
                                <a:latin typeface="Cambria Math" panose="02040503050406030204" pitchFamily="18" charset="0"/>
                                <a:ea typeface="Aptos" panose="020B0004020202020204" pitchFamily="34" charset="0"/>
                                <a:cs typeface="Tunga" panose="020B0502040204020203" pitchFamily="34" charset="0"/>
                              </a:rPr>
                              <m:t>2</m:t>
                            </m:r>
                          </m:sup>
                        </m:sSup>
                      </m:e>
                    </m:d>
                  </m:oMath>
                </a14:m>
                <a:endParaRPr lang="en-IN" kern="100" dirty="0">
                  <a:effectLst/>
                  <a:ea typeface="Aptos" panose="020B0004020202020204" pitchFamily="34" charset="0"/>
                  <a:cs typeface="Tunga" panose="020B0502040204020203" pitchFamily="34" charset="0"/>
                </a:endParaRPr>
              </a:p>
              <a:p>
                <a:pPr lvl="1"/>
                <a:endParaRPr lang="en-IN" kern="100" dirty="0">
                  <a:effectLst/>
                  <a:latin typeface="Aptos" panose="020B0004020202020204" pitchFamily="34" charset="0"/>
                  <a:ea typeface="Aptos" panose="020B0004020202020204" pitchFamily="34" charset="0"/>
                  <a:cs typeface="Tunga" panose="020B0502040204020203" pitchFamily="34" charset="0"/>
                </a:endParaRPr>
              </a:p>
              <a:p>
                <a:pPr lvl="1"/>
                <a:endParaRPr lang="en-IN" sz="2400" dirty="0"/>
              </a:p>
            </p:txBody>
          </p:sp>
        </mc:Choice>
        <mc:Fallback xmlns="">
          <p:sp>
            <p:nvSpPr>
              <p:cNvPr id="3" name="Content Placeholder 2">
                <a:extLst>
                  <a:ext uri="{FF2B5EF4-FFF2-40B4-BE49-F238E27FC236}">
                    <a16:creationId xmlns:a16="http://schemas.microsoft.com/office/drawing/2014/main" id="{D0431BD9-1D7F-0430-A244-3BC68D80AFF1}"/>
                  </a:ext>
                </a:extLst>
              </p:cNvPr>
              <p:cNvSpPr>
                <a:spLocks noGrp="1" noRot="1" noChangeAspect="1" noMove="1" noResize="1" noEditPoints="1" noAdjustHandles="1" noChangeArrowheads="1" noChangeShapeType="1" noTextEdit="1"/>
              </p:cNvSpPr>
              <p:nvPr>
                <p:ph idx="1"/>
              </p:nvPr>
            </p:nvSpPr>
            <p:spPr>
              <a:blipFill>
                <a:blip r:embed="rId2"/>
                <a:stretch>
                  <a:fillRect l="-864" t="-824"/>
                </a:stretch>
              </a:blipFill>
            </p:spPr>
            <p:txBody>
              <a:bodyPr/>
              <a:lstStyle/>
              <a:p>
                <a:r>
                  <a:rPr lang="en-IN">
                    <a:noFill/>
                  </a:rPr>
                  <a:t> </a:t>
                </a:r>
              </a:p>
            </p:txBody>
          </p:sp>
        </mc:Fallback>
      </mc:AlternateContent>
    </p:spTree>
    <p:extLst>
      <p:ext uri="{BB962C8B-B14F-4D97-AF65-F5344CB8AC3E}">
        <p14:creationId xmlns:p14="http://schemas.microsoft.com/office/powerpoint/2010/main" val="721516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E26A6-8446-A9AB-C53F-2BC6D0087825}"/>
              </a:ext>
            </a:extLst>
          </p:cNvPr>
          <p:cNvSpPr>
            <a:spLocks noGrp="1"/>
          </p:cNvSpPr>
          <p:nvPr>
            <p:ph type="title"/>
          </p:nvPr>
        </p:nvSpPr>
        <p:spPr/>
        <p:txBody>
          <a:bodyPr/>
          <a:lstStyle/>
          <a:p>
            <a:r>
              <a:rPr lang="en-US" dirty="0"/>
              <a:t>Signal and noise</a:t>
            </a:r>
          </a:p>
        </p:txBody>
      </p:sp>
      <p:pic>
        <p:nvPicPr>
          <p:cNvPr id="1026" name="Picture 2">
            <a:extLst>
              <a:ext uri="{FF2B5EF4-FFF2-40B4-BE49-F238E27FC236}">
                <a16:creationId xmlns:a16="http://schemas.microsoft.com/office/drawing/2014/main" id="{560C53AC-80D6-D2B8-6864-8FA419394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2396" y="2065311"/>
            <a:ext cx="9392061" cy="46960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B98833F-7706-07FB-7D08-1A9890FF541E}"/>
                  </a:ext>
                </a:extLst>
              </p:cNvPr>
              <p:cNvSpPr txBox="1"/>
              <p:nvPr/>
            </p:nvSpPr>
            <p:spPr>
              <a:xfrm>
                <a:off x="701323" y="741872"/>
                <a:ext cx="10771207" cy="1323439"/>
              </a:xfrm>
              <a:prstGeom prst="rect">
                <a:avLst/>
              </a:prstGeom>
              <a:noFill/>
            </p:spPr>
            <p:txBody>
              <a:bodyPr wrap="square" rtlCol="0">
                <a:spAutoFit/>
              </a:bodyPr>
              <a:lstStyle/>
              <a:p>
                <a:r>
                  <a:rPr lang="en-US" sz="2000" b="0" dirty="0">
                    <a:latin typeface="Cambria Math" panose="02040503050406030204" pitchFamily="18" charset="0"/>
                  </a:rPr>
                  <a:t>Y = signal + noise</a:t>
                </a:r>
              </a:p>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e>
                    </m:d>
                    <m:r>
                      <a:rPr lang="en-US" sz="2000" b="0" i="1" smtClean="0">
                        <a:latin typeface="Cambria Math" panose="02040503050406030204" pitchFamily="18" charset="0"/>
                      </a:rPr>
                      <m:t>=</m:t>
                    </m:r>
                    <m:r>
                      <a:rPr lang="en-US" sz="2000" b="0" i="1" smtClean="0">
                        <a:latin typeface="Cambria Math" panose="02040503050406030204" pitchFamily="18" charset="0"/>
                      </a:rPr>
                      <m:t>𝜇</m:t>
                    </m:r>
                  </m:oMath>
                </a14:m>
                <a:r>
                  <a:rPr lang="en-US" sz="2000" dirty="0"/>
                  <a:t> - represents the signal, </a:t>
                </a:r>
                <a14:m>
                  <m:oMath xmlns:m="http://schemas.openxmlformats.org/officeDocument/2006/math">
                    <m:r>
                      <a:rPr lang="en-US" sz="2000" b="0" i="1" smtClean="0">
                        <a:latin typeface="Cambria Math" panose="02040503050406030204" pitchFamily="18" charset="0"/>
                      </a:rPr>
                      <m:t>𝑉𝑎𝑟</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e>
                    </m: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oMath>
                </a14:m>
                <a:r>
                  <a:rPr lang="en-US" sz="2000" dirty="0"/>
                  <a:t> - represents the noise. </a:t>
                </a:r>
              </a:p>
              <a:p>
                <a:r>
                  <a:rPr lang="en-US" sz="2000" dirty="0"/>
                  <a:t>Signal to noise ratio = </a:t>
                </a:r>
                <a14:m>
                  <m:oMath xmlns:m="http://schemas.openxmlformats.org/officeDocument/2006/math">
                    <m:r>
                      <a:rPr lang="en-US" sz="2000" b="0" i="1" smtClean="0">
                        <a:latin typeface="Cambria Math" panose="02040503050406030204" pitchFamily="18" charset="0"/>
                      </a:rPr>
                      <m:t>𝜇</m:t>
                    </m:r>
                    <m:r>
                      <a:rPr lang="en-US" sz="2000" b="0" i="1" smtClean="0">
                        <a:latin typeface="Cambria Math" panose="02040503050406030204" pitchFamily="18" charset="0"/>
                      </a:rPr>
                      <m:t>/</m:t>
                    </m:r>
                    <m:r>
                      <a:rPr lang="en-US" sz="2000" b="0" i="1" smtClean="0">
                        <a:latin typeface="Cambria Math" panose="02040503050406030204" pitchFamily="18" charset="0"/>
                      </a:rPr>
                      <m:t>𝜎</m:t>
                    </m:r>
                  </m:oMath>
                </a14:m>
                <a:r>
                  <a:rPr lang="en-US" sz="2000" dirty="0"/>
                  <a:t> -  represents how good data recording was! </a:t>
                </a:r>
              </a:p>
              <a:p>
                <a:r>
                  <a:rPr lang="en-US" sz="2000" dirty="0"/>
                  <a:t>Higher SNR more signal, less noise. Lower SNR less signal, more noise</a:t>
                </a:r>
              </a:p>
            </p:txBody>
          </p:sp>
        </mc:Choice>
        <mc:Fallback xmlns="">
          <p:sp>
            <p:nvSpPr>
              <p:cNvPr id="4" name="TextBox 3">
                <a:extLst>
                  <a:ext uri="{FF2B5EF4-FFF2-40B4-BE49-F238E27FC236}">
                    <a16:creationId xmlns:a16="http://schemas.microsoft.com/office/drawing/2014/main" id="{BB98833F-7706-07FB-7D08-1A9890FF541E}"/>
                  </a:ext>
                </a:extLst>
              </p:cNvPr>
              <p:cNvSpPr txBox="1">
                <a:spLocks noRot="1" noChangeAspect="1" noMove="1" noResize="1" noEditPoints="1" noAdjustHandles="1" noChangeArrowheads="1" noChangeShapeType="1" noTextEdit="1"/>
              </p:cNvSpPr>
              <p:nvPr/>
            </p:nvSpPr>
            <p:spPr>
              <a:xfrm>
                <a:off x="701323" y="741872"/>
                <a:ext cx="10771207" cy="1323439"/>
              </a:xfrm>
              <a:prstGeom prst="rect">
                <a:avLst/>
              </a:prstGeom>
              <a:blipFill>
                <a:blip r:embed="rId3"/>
                <a:stretch>
                  <a:fillRect l="-566" t="-2765" b="-7373"/>
                </a:stretch>
              </a:blipFill>
            </p:spPr>
            <p:txBody>
              <a:bodyPr/>
              <a:lstStyle/>
              <a:p>
                <a:r>
                  <a:rPr lang="en-IN">
                    <a:noFill/>
                  </a:rPr>
                  <a:t> </a:t>
                </a:r>
              </a:p>
            </p:txBody>
          </p:sp>
        </mc:Fallback>
      </mc:AlternateContent>
    </p:spTree>
    <p:extLst>
      <p:ext uri="{BB962C8B-B14F-4D97-AF65-F5344CB8AC3E}">
        <p14:creationId xmlns:p14="http://schemas.microsoft.com/office/powerpoint/2010/main" val="3096203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051-CC9F-F354-7C51-A8E376D1D62F}"/>
              </a:ext>
            </a:extLst>
          </p:cNvPr>
          <p:cNvSpPr>
            <a:spLocks noGrp="1"/>
          </p:cNvSpPr>
          <p:nvPr>
            <p:ph type="title"/>
          </p:nvPr>
        </p:nvSpPr>
        <p:spPr/>
        <p:txBody>
          <a:bodyPr/>
          <a:lstStyle/>
          <a:p>
            <a:r>
              <a:rPr lang="en-US" dirty="0"/>
              <a:t>Time series expression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6BDECE-E44F-72DF-72E7-0A0E81F4B3E9}"/>
                  </a:ext>
                </a:extLst>
              </p:cNvPr>
              <p:cNvSpPr>
                <a:spLocks noGrp="1"/>
              </p:cNvSpPr>
              <p:nvPr>
                <p:ph idx="1"/>
              </p:nvPr>
            </p:nvSpPr>
            <p:spPr/>
            <p:txBody>
              <a:bodyPr/>
              <a:lstStyle/>
              <a:p>
                <a:r>
                  <a:rPr lang="en-US" dirty="0"/>
                  <a:t>Using all these components we can thus write time series as </a:t>
                </a:r>
              </a:p>
              <a:p>
                <a:pPr marL="0" indent="0">
                  <a:buNone/>
                </a:pPr>
                <a14:m>
                  <m:oMathPara xmlns:m="http://schemas.openxmlformats.org/officeDocument/2006/math">
                    <m:oMath>
                      <m:r>
                        <a:rPr lang="en-IN" i="1" kern="100" smtClean="0">
                          <a:effectLst/>
                          <a:latin typeface="Cambria Math" panose="02040503050406030204" pitchFamily="18" charset="0"/>
                          <a:ea typeface="Aptos" panose="020B0004020202020204" pitchFamily="34" charset="0"/>
                          <a:cs typeface="Tunga" panose="020B0502040204020203" pitchFamily="34" charset="0"/>
                        </a:rPr>
                        <m:t>𝑌</m:t>
                      </m:r>
                      <m:r>
                        <a:rPr lang="en-IN" i="1" kern="100" smtClean="0">
                          <a:effectLst/>
                          <a:latin typeface="Cambria Math" panose="02040503050406030204" pitchFamily="18" charset="0"/>
                          <a:ea typeface="Aptos" panose="020B0004020202020204" pitchFamily="34" charset="0"/>
                          <a:cs typeface="Tunga" panose="020B0502040204020203" pitchFamily="34" charset="0"/>
                        </a:rPr>
                        <m:t>(</m:t>
                      </m:r>
                      <m:r>
                        <a:rPr lang="en-IN" i="1" kern="100" smtClean="0">
                          <a:effectLst/>
                          <a:latin typeface="Cambria Math" panose="02040503050406030204" pitchFamily="18" charset="0"/>
                          <a:ea typeface="Aptos" panose="020B0004020202020204" pitchFamily="34" charset="0"/>
                          <a:cs typeface="Tunga" panose="020B0502040204020203" pitchFamily="34" charset="0"/>
                        </a:rPr>
                        <m:t>𝑡</m:t>
                      </m:r>
                      <m:r>
                        <a:rPr lang="en-IN" i="1" kern="100" smtClean="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𝑦</m:t>
                          </m:r>
                        </m:e>
                        <m:sub>
                          <m:r>
                            <a:rPr lang="en-IN" i="1" kern="100">
                              <a:effectLst/>
                              <a:latin typeface="Cambria Math" panose="02040503050406030204" pitchFamily="18" charset="0"/>
                              <a:ea typeface="Aptos" panose="020B0004020202020204" pitchFamily="34" charset="0"/>
                              <a:cs typeface="Tunga" panose="020B0502040204020203" pitchFamily="34" charset="0"/>
                            </a:rPr>
                            <m:t>0</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𝑟𝑡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𝑎𝑐𝑜𝑠</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𝜔</m:t>
                          </m:r>
                        </m:e>
                        <m:sub>
                          <m:r>
                            <a:rPr lang="en-IN" i="1" kern="100">
                              <a:effectLst/>
                              <a:latin typeface="Cambria Math" panose="02040503050406030204" pitchFamily="18" charset="0"/>
                              <a:ea typeface="Aptos" panose="020B0004020202020204" pitchFamily="34" charset="0"/>
                              <a:cs typeface="Tunga" panose="020B0502040204020203" pitchFamily="34" charset="0"/>
                            </a:rPr>
                            <m:t>0</m:t>
                          </m:r>
                        </m:sub>
                      </m:s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𝑏𝑠𝑖𝑛</m:t>
                      </m:r>
                      <m:r>
                        <a:rPr lang="en-IN" i="1" kern="100">
                          <a:effectLst/>
                          <a:latin typeface="Cambria Math" panose="02040503050406030204" pitchFamily="18" charset="0"/>
                          <a:ea typeface="Aptos" panose="020B0004020202020204" pitchFamily="34" charset="0"/>
                          <a:cs typeface="Tunga" panose="020B0502040204020203" pitchFamily="34" charset="0"/>
                        </a:rPr>
                        <m:t>(</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𝜔</m:t>
                          </m:r>
                        </m:e>
                        <m:sub>
                          <m:r>
                            <a:rPr lang="en-IN" i="1" kern="100">
                              <a:effectLst/>
                              <a:latin typeface="Cambria Math" panose="02040503050406030204" pitchFamily="18" charset="0"/>
                              <a:ea typeface="Aptos" panose="020B0004020202020204" pitchFamily="34" charset="0"/>
                              <a:cs typeface="Tunga" panose="020B0502040204020203" pitchFamily="34" charset="0"/>
                            </a:rPr>
                            <m:t>0</m:t>
                          </m:r>
                        </m:sub>
                      </m:sSub>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𝑜</m:t>
                      </m:r>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𝑢</m:t>
                          </m:r>
                        </m:e>
                        <m:sub>
                          <m:r>
                            <a:rPr lang="en-IN" i="1" kern="100">
                              <a:effectLst/>
                              <a:latin typeface="Cambria Math" panose="02040503050406030204" pitchFamily="18" charset="0"/>
                              <a:ea typeface="Aptos" panose="020B0004020202020204" pitchFamily="34" charset="0"/>
                              <a:cs typeface="Tunga" panose="020B0502040204020203" pitchFamily="34" charset="0"/>
                            </a:rPr>
                            <m:t>𝑘</m:t>
                          </m:r>
                        </m:sub>
                      </m:sSub>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𝜖</m:t>
                      </m:r>
                      <m:r>
                        <a:rPr lang="en-IN" i="1" kern="100">
                          <a:effectLst/>
                          <a:latin typeface="Cambria Math" panose="02040503050406030204" pitchFamily="18" charset="0"/>
                          <a:ea typeface="Aptos" panose="020B0004020202020204" pitchFamily="34" charset="0"/>
                          <a:cs typeface="Tunga" panose="020B0502040204020203" pitchFamily="34" charset="0"/>
                        </a:rPr>
                        <m:t>(</m:t>
                      </m:r>
                      <m:r>
                        <a:rPr lang="en-IN" i="1" kern="100">
                          <a:effectLst/>
                          <a:latin typeface="Cambria Math" panose="02040503050406030204" pitchFamily="18" charset="0"/>
                          <a:ea typeface="Aptos" panose="020B0004020202020204" pitchFamily="34" charset="0"/>
                          <a:cs typeface="Tunga" panose="020B0502040204020203" pitchFamily="34" charset="0"/>
                        </a:rPr>
                        <m:t>𝑡</m:t>
                      </m:r>
                      <m:r>
                        <a:rPr lang="en-IN" i="1" kern="100">
                          <a:effectLst/>
                          <a:latin typeface="Cambria Math" panose="02040503050406030204" pitchFamily="18" charset="0"/>
                          <a:ea typeface="Aptos" panose="020B0004020202020204" pitchFamily="34" charset="0"/>
                          <a:cs typeface="Tunga" panose="020B0502040204020203" pitchFamily="34" charset="0"/>
                        </a:rPr>
                        <m:t>)</m:t>
                      </m:r>
                    </m:oMath>
                  </m:oMathPara>
                </a14:m>
                <a:endParaRPr lang="en-IN"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14:m>
                  <m:oMath xmlns:m="http://schemas.openxmlformats.org/officeDocument/2006/math">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𝑦</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0</m:t>
                        </m:r>
                      </m:sub>
                    </m:sSub>
                    <m:r>
                      <a:rPr lang="en-US" b="0" i="1" kern="100" smtClean="0">
                        <a:effectLst/>
                        <a:latin typeface="Cambria Math" panose="02040503050406030204" pitchFamily="18" charset="0"/>
                        <a:ea typeface="Aptos" panose="020B0004020202020204" pitchFamily="34" charset="0"/>
                        <a:cs typeface="Tunga" panose="020B0502040204020203" pitchFamily="34" charset="0"/>
                      </a:rPr>
                      <m:t>=</m:t>
                    </m:r>
                  </m:oMath>
                </a14:m>
                <a:r>
                  <a:rPr lang="en-IN" kern="100" dirty="0">
                    <a:effectLst/>
                    <a:latin typeface="Aptos" panose="020B0004020202020204" pitchFamily="34" charset="0"/>
                    <a:ea typeface="Aptos" panose="020B0004020202020204" pitchFamily="34" charset="0"/>
                    <a:cs typeface="Tunga" panose="020B0502040204020203" pitchFamily="34" charset="0"/>
                  </a:rPr>
                  <a:t> intercept</a:t>
                </a:r>
              </a:p>
              <a:p>
                <a:pPr marL="0" indent="0">
                  <a:buNone/>
                </a:pP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𝑟</m:t>
                    </m:r>
                  </m:oMath>
                </a14:m>
                <a:r>
                  <a:rPr lang="en-IN" kern="100" dirty="0">
                    <a:effectLst/>
                    <a:latin typeface="Aptos" panose="020B0004020202020204" pitchFamily="34" charset="0"/>
                    <a:ea typeface="Aptos" panose="020B0004020202020204" pitchFamily="34" charset="0"/>
                    <a:cs typeface="Tunga" panose="020B0502040204020203" pitchFamily="34" charset="0"/>
                  </a:rPr>
                  <a:t> = rate</a:t>
                </a:r>
              </a:p>
              <a:p>
                <a:pPr marL="0" indent="0">
                  <a:buNone/>
                </a:pP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𝑎</m:t>
                    </m:r>
                    <m:r>
                      <a:rPr lang="en-US" b="0" i="1" kern="100" smtClean="0">
                        <a:effectLst/>
                        <a:latin typeface="Cambria Math" panose="02040503050406030204" pitchFamily="18" charset="0"/>
                        <a:ea typeface="Aptos" panose="020B0004020202020204" pitchFamily="34" charset="0"/>
                        <a:cs typeface="Tunga" panose="020B0502040204020203" pitchFamily="34" charset="0"/>
                      </a:rPr>
                      <m:t> </m:t>
                    </m:r>
                  </m:oMath>
                </a14:m>
                <a:r>
                  <a:rPr lang="en-IN" kern="100" dirty="0">
                    <a:effectLst/>
                    <a:latin typeface="Aptos" panose="020B0004020202020204" pitchFamily="34" charset="0"/>
                    <a:ea typeface="Aptos" panose="020B0004020202020204" pitchFamily="34" charset="0"/>
                    <a:cs typeface="Tunga" panose="020B0502040204020203" pitchFamily="34" charset="0"/>
                  </a:rPr>
                  <a:t> and </a:t>
                </a: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𝑏</m:t>
                    </m:r>
                  </m:oMath>
                </a14:m>
                <a:r>
                  <a:rPr lang="en-IN" kern="100" dirty="0">
                    <a:effectLst/>
                    <a:latin typeface="Aptos" panose="020B0004020202020204" pitchFamily="34" charset="0"/>
                    <a:ea typeface="Aptos" panose="020B0004020202020204" pitchFamily="34" charset="0"/>
                    <a:cs typeface="Tunga" panose="020B0502040204020203" pitchFamily="34" charset="0"/>
                  </a:rPr>
                  <a:t> are signal coefficients</a:t>
                </a:r>
              </a:p>
              <a:p>
                <a:pPr marL="0" indent="0">
                  <a:buNone/>
                </a:pPr>
                <a14:m>
                  <m:oMath xmlns:m="http://schemas.openxmlformats.org/officeDocument/2006/math">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𝜔</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0</m:t>
                        </m:r>
                      </m:sub>
                    </m:sSub>
                  </m:oMath>
                </a14:m>
                <a:r>
                  <a:rPr lang="en-IN" kern="100" dirty="0">
                    <a:effectLst/>
                    <a:latin typeface="Aptos" panose="020B0004020202020204" pitchFamily="34" charset="0"/>
                    <a:ea typeface="Aptos" panose="020B0004020202020204" pitchFamily="34" charset="0"/>
                    <a:cs typeface="Tunga" panose="020B0502040204020203" pitchFamily="34" charset="0"/>
                  </a:rPr>
                  <a:t> is frequency of signal</a:t>
                </a:r>
              </a:p>
              <a:p>
                <a:pPr marL="0" indent="0">
                  <a:buNone/>
                </a:pP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𝑜</m:t>
                    </m:r>
                  </m:oMath>
                </a14:m>
                <a:r>
                  <a:rPr lang="en-IN" kern="100" dirty="0">
                    <a:effectLst/>
                    <a:latin typeface="Aptos" panose="020B0004020202020204" pitchFamily="34" charset="0"/>
                    <a:ea typeface="Aptos" panose="020B0004020202020204" pitchFamily="34" charset="0"/>
                    <a:cs typeface="Tunga" panose="020B0502040204020203" pitchFamily="34" charset="0"/>
                  </a:rPr>
                  <a:t> is the offset starting from </a:t>
                </a:r>
                <a14:m>
                  <m:oMath xmlns:m="http://schemas.openxmlformats.org/officeDocument/2006/math">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𝑡</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𝑘</m:t>
                        </m:r>
                      </m:sub>
                    </m:sSub>
                  </m:oMath>
                </a14:m>
                <a:endParaRPr lang="en-IN"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14:m>
                  <m:oMath xmlns:m="http://schemas.openxmlformats.org/officeDocument/2006/math">
                    <m:sSub>
                      <m:sSub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sSub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𝑢</m:t>
                        </m:r>
                      </m:e>
                      <m:sub>
                        <m:r>
                          <a:rPr lang="en-US" b="0" i="1" kern="100" smtClean="0">
                            <a:effectLst/>
                            <a:latin typeface="Cambria Math" panose="02040503050406030204" pitchFamily="18" charset="0"/>
                            <a:ea typeface="Aptos" panose="020B0004020202020204" pitchFamily="34" charset="0"/>
                            <a:cs typeface="Tunga" panose="020B0502040204020203" pitchFamily="34" charset="0"/>
                          </a:rPr>
                          <m:t>𝑘</m:t>
                        </m:r>
                      </m:sub>
                    </m:sSub>
                  </m:oMath>
                </a14:m>
                <a:r>
                  <a:rPr lang="en-IN" kern="100" dirty="0">
                    <a:effectLst/>
                    <a:latin typeface="Aptos" panose="020B0004020202020204" pitchFamily="34" charset="0"/>
                    <a:ea typeface="Aptos" panose="020B0004020202020204" pitchFamily="34" charset="0"/>
                    <a:cs typeface="Tunga" panose="020B0502040204020203" pitchFamily="34" charset="0"/>
                  </a:rPr>
                  <a:t> Heaviside step function</a:t>
                </a:r>
              </a:p>
              <a:p>
                <a:pPr marL="0" indent="0">
                  <a:buNone/>
                </a:pPr>
                <a14:m>
                  <m:oMath xmlns:m="http://schemas.openxmlformats.org/officeDocument/2006/math">
                    <m:r>
                      <a:rPr lang="en-US" b="0" i="1" kern="100" smtClean="0">
                        <a:effectLst/>
                        <a:latin typeface="Cambria Math" panose="02040503050406030204" pitchFamily="18" charset="0"/>
                        <a:ea typeface="Aptos" panose="020B0004020202020204" pitchFamily="34" charset="0"/>
                        <a:cs typeface="Tunga" panose="020B0502040204020203" pitchFamily="34" charset="0"/>
                      </a:rPr>
                      <m:t>𝜖</m:t>
                    </m:r>
                    <m:d>
                      <m:dPr>
                        <m:ctrlPr>
                          <a:rPr lang="en-US" b="0" i="1" kern="100" smtClean="0">
                            <a:effectLst/>
                            <a:latin typeface="Cambria Math" panose="02040503050406030204" pitchFamily="18" charset="0"/>
                            <a:ea typeface="Aptos" panose="020B0004020202020204" pitchFamily="34" charset="0"/>
                            <a:cs typeface="Tunga" panose="020B0502040204020203" pitchFamily="34" charset="0"/>
                          </a:rPr>
                        </m:ctrlPr>
                      </m:dPr>
                      <m:e>
                        <m:r>
                          <a:rPr lang="en-US" b="0" i="1" kern="100" smtClean="0">
                            <a:effectLst/>
                            <a:latin typeface="Cambria Math" panose="02040503050406030204" pitchFamily="18" charset="0"/>
                            <a:ea typeface="Aptos" panose="020B0004020202020204" pitchFamily="34" charset="0"/>
                            <a:cs typeface="Tunga" panose="020B0502040204020203" pitchFamily="34" charset="0"/>
                          </a:rPr>
                          <m:t>𝑡</m:t>
                        </m:r>
                      </m:e>
                    </m:d>
                  </m:oMath>
                </a14:m>
                <a:r>
                  <a:rPr lang="en-IN" kern="100" dirty="0">
                    <a:effectLst/>
                    <a:latin typeface="Aptos" panose="020B0004020202020204" pitchFamily="34" charset="0"/>
                    <a:ea typeface="Aptos" panose="020B0004020202020204" pitchFamily="34" charset="0"/>
                    <a:cs typeface="Tunga" panose="020B0502040204020203" pitchFamily="34" charset="0"/>
                  </a:rPr>
                  <a:t> is the noise</a:t>
                </a:r>
                <a:endParaRPr lang="en-IN" sz="1800"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endParaRPr lang="en-IN" dirty="0"/>
              </a:p>
            </p:txBody>
          </p:sp>
        </mc:Choice>
        <mc:Fallback xmlns="">
          <p:sp>
            <p:nvSpPr>
              <p:cNvPr id="3" name="Content Placeholder 2">
                <a:extLst>
                  <a:ext uri="{FF2B5EF4-FFF2-40B4-BE49-F238E27FC236}">
                    <a16:creationId xmlns:a16="http://schemas.microsoft.com/office/drawing/2014/main" id="{976BDECE-E44F-72DF-72E7-0A0E81F4B3E9}"/>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IN">
                    <a:noFill/>
                  </a:rPr>
                  <a:t> </a:t>
                </a:r>
              </a:p>
            </p:txBody>
          </p:sp>
        </mc:Fallback>
      </mc:AlternateContent>
    </p:spTree>
    <p:extLst>
      <p:ext uri="{BB962C8B-B14F-4D97-AF65-F5344CB8AC3E}">
        <p14:creationId xmlns:p14="http://schemas.microsoft.com/office/powerpoint/2010/main" val="2006142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9DA4B-C54C-CBD5-4CA9-FA6295296959}"/>
              </a:ext>
            </a:extLst>
          </p:cNvPr>
          <p:cNvSpPr>
            <a:spLocks noGrp="1"/>
          </p:cNvSpPr>
          <p:nvPr>
            <p:ph type="title"/>
          </p:nvPr>
        </p:nvSpPr>
        <p:spPr/>
        <p:txBody>
          <a:bodyPr/>
          <a:lstStyle/>
          <a:p>
            <a:r>
              <a:rPr lang="en-US" dirty="0"/>
              <a:t> Example</a:t>
            </a:r>
            <a:endParaRPr lang="en-IN" dirty="0"/>
          </a:p>
        </p:txBody>
      </p:sp>
      <p:pic>
        <p:nvPicPr>
          <p:cNvPr id="4100" name="Picture 4">
            <a:extLst>
              <a:ext uri="{FF2B5EF4-FFF2-40B4-BE49-F238E27FC236}">
                <a16:creationId xmlns:a16="http://schemas.microsoft.com/office/drawing/2014/main" id="{24BA7390-AF00-72DB-6521-7E92D6331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303" y="741872"/>
            <a:ext cx="5259530" cy="302844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A4C9D899-6546-453B-E381-6228632104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748" y="3752472"/>
            <a:ext cx="5267196" cy="302844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2C7CF649-BA1B-5101-444F-4B770EDC9B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7130" y="3752471"/>
            <a:ext cx="5339829" cy="3028446"/>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08F0F39A-A56D-8EA2-14DC-A29F76B7E3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320" y="758611"/>
            <a:ext cx="5259529" cy="3028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715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E12D2-3FF5-EAEC-F813-1EEDC7355B22}"/>
              </a:ext>
            </a:extLst>
          </p:cNvPr>
          <p:cNvSpPr>
            <a:spLocks noGrp="1"/>
          </p:cNvSpPr>
          <p:nvPr>
            <p:ph type="title"/>
          </p:nvPr>
        </p:nvSpPr>
        <p:spPr/>
        <p:txBody>
          <a:bodyPr/>
          <a:lstStyle/>
          <a:p>
            <a:r>
              <a:rPr lang="en-US" dirty="0"/>
              <a:t>Model estimation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99E40F-BF5A-4A2E-A8E5-85243E33D52B}"/>
                  </a:ext>
                </a:extLst>
              </p:cNvPr>
              <p:cNvSpPr>
                <a:spLocks noGrp="1"/>
              </p:cNvSpPr>
              <p:nvPr>
                <p:ph idx="1"/>
              </p:nvPr>
            </p:nvSpPr>
            <p:spPr/>
            <p:txBody>
              <a:bodyPr/>
              <a:lstStyle/>
              <a:p>
                <a:r>
                  <a:rPr lang="en-US" sz="2400" dirty="0"/>
                  <a:t>Now that we have an expression for time series expansion, let us see how to estimate model parameters using Least-Squares. Least-squares works out very well if your noise is Gaussian White Noise. We already know that if </a:t>
                </a:r>
              </a:p>
              <a:p>
                <a:pPr marL="0" indent="0">
                  <a:buNone/>
                </a:pPr>
                <a14:m>
                  <m:oMathPara xmlns:m="http://schemas.openxmlformats.org/officeDocument/2006/math">
                    <m:oMath>
                      <m:r>
                        <a:rPr lang="en-US" i="1">
                          <a:latin typeface="Cambria Math" panose="02040503050406030204" pitchFamily="18" charset="0"/>
                        </a:rPr>
                        <m:t>𝑌</m:t>
                      </m:r>
                      <m:r>
                        <a:rPr lang="en-US" i="1">
                          <a:latin typeface="Cambria Math" panose="02040503050406030204" pitchFamily="18" charset="0"/>
                        </a:rPr>
                        <m:t>=</m:t>
                      </m:r>
                      <m:r>
                        <m:rPr>
                          <m:sty m:val="p"/>
                        </m:rPr>
                        <a:rPr lang="en-US">
                          <a:latin typeface="Cambria Math" panose="02040503050406030204" pitchFamily="18" charset="0"/>
                        </a:rPr>
                        <m:t>Ax</m:t>
                      </m:r>
                      <m:r>
                        <a:rPr lang="en-US" i="1">
                          <a:latin typeface="Cambria Math" panose="02040503050406030204" pitchFamily="18" charset="0"/>
                        </a:rPr>
                        <m:t>+</m:t>
                      </m:r>
                      <m:r>
                        <a:rPr lang="en-US" i="1">
                          <a:latin typeface="Cambria Math" panose="02040503050406030204" pitchFamily="18" charset="0"/>
                        </a:rPr>
                        <m:t>𝜖</m:t>
                      </m:r>
                    </m:oMath>
                  </m:oMathPara>
                </a14:m>
                <a:endParaRPr lang="en-IN" dirty="0"/>
              </a:p>
              <a:p>
                <a:pPr marL="0" indent="0">
                  <a:buNone/>
                </a:pPr>
                <a:r>
                  <a:rPr lang="en-IN" dirty="0"/>
                  <a:t>LS estimate for the parameters is</a:t>
                </a:r>
              </a:p>
              <a:p>
                <a:pPr marL="0" indent="0">
                  <a:buNone/>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d>
                            <m:dPr>
                              <m:ctrlPr>
                                <a:rPr lang="en-US" sz="2400" b="0" i="1" dirty="0" smtClean="0">
                                  <a:latin typeface="Cambria Math" panose="02040503050406030204" pitchFamily="18" charset="0"/>
                                </a:rPr>
                              </m:ctrlPr>
                            </m:dPr>
                            <m:e>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𝐴</m:t>
                                  </m:r>
                                </m:e>
                                <m:sup>
                                  <m:r>
                                    <a:rPr lang="en-US" sz="2400" b="0" i="1" dirty="0" smtClean="0">
                                      <a:latin typeface="Cambria Math" panose="02040503050406030204" pitchFamily="18" charset="0"/>
                                    </a:rPr>
                                    <m:t>𝑇</m:t>
                                  </m:r>
                                </m:sup>
                              </m:sSup>
                              <m:r>
                                <a:rPr lang="en-US" sz="2400" b="0" i="1" dirty="0" smtClean="0">
                                  <a:latin typeface="Cambria Math" panose="02040503050406030204" pitchFamily="18" charset="0"/>
                                </a:rPr>
                                <m:t>𝐴</m:t>
                              </m:r>
                            </m:e>
                          </m:d>
                        </m:e>
                        <m:sup>
                          <m:r>
                            <a:rPr lang="en-US" sz="2400" b="0" i="1" dirty="0" smtClean="0">
                              <a:latin typeface="Cambria Math" panose="02040503050406030204" pitchFamily="18" charset="0"/>
                            </a:rPr>
                            <m:t>−1</m:t>
                          </m:r>
                        </m:sup>
                      </m:sSup>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𝐴</m:t>
                          </m:r>
                        </m:e>
                        <m:sup>
                          <m:r>
                            <a:rPr lang="en-US" sz="2400" b="0" i="1" dirty="0" smtClean="0">
                              <a:latin typeface="Cambria Math" panose="02040503050406030204" pitchFamily="18" charset="0"/>
                            </a:rPr>
                            <m:t>𝑇</m:t>
                          </m:r>
                        </m:sup>
                      </m:sSup>
                      <m:r>
                        <a:rPr lang="en-US" sz="2400" b="0" i="1" dirty="0" smtClean="0">
                          <a:latin typeface="Cambria Math" panose="02040503050406030204" pitchFamily="18" charset="0"/>
                        </a:rPr>
                        <m:t>𝑌</m:t>
                      </m:r>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𝐴</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𝑌</m:t>
                      </m:r>
                    </m:oMath>
                  </m:oMathPara>
                </a14:m>
                <a:endParaRPr lang="en-IN" dirty="0"/>
              </a:p>
              <a:p>
                <a:pPr marL="0" indent="0">
                  <a:buNone/>
                </a:pPr>
                <a:endParaRPr lang="en-IN" dirty="0"/>
              </a:p>
              <a:p>
                <a:pPr marL="0" indent="0">
                  <a:buNone/>
                </a:pPr>
                <a:r>
                  <a:rPr lang="en-IN" dirty="0"/>
                  <a:t> and our estimate for signal of interest is</a:t>
                </a:r>
              </a:p>
              <a:p>
                <a:pPr marL="0" indent="0">
                  <a:buNone/>
                </a:pPr>
                <a14:m>
                  <m:oMathPara xmlns:m="http://schemas.openxmlformats.org/officeDocument/2006/math">
                    <m:o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m:oMathPara>
                </a14:m>
                <a:endParaRPr lang="en-IN" dirty="0"/>
              </a:p>
            </p:txBody>
          </p:sp>
        </mc:Choice>
        <mc:Fallback xmlns="">
          <p:sp>
            <p:nvSpPr>
              <p:cNvPr id="3" name="Content Placeholder 2">
                <a:extLst>
                  <a:ext uri="{FF2B5EF4-FFF2-40B4-BE49-F238E27FC236}">
                    <a16:creationId xmlns:a16="http://schemas.microsoft.com/office/drawing/2014/main" id="{D099E40F-BF5A-4A2E-A8E5-85243E33D52B}"/>
                  </a:ext>
                </a:extLst>
              </p:cNvPr>
              <p:cNvSpPr>
                <a:spLocks noGrp="1" noRot="1" noChangeAspect="1" noMove="1" noResize="1" noEditPoints="1" noAdjustHandles="1" noChangeArrowheads="1" noChangeShapeType="1" noTextEdit="1"/>
              </p:cNvSpPr>
              <p:nvPr>
                <p:ph idx="1"/>
              </p:nvPr>
            </p:nvSpPr>
            <p:spPr>
              <a:blipFill>
                <a:blip r:embed="rId2"/>
                <a:stretch>
                  <a:fillRect l="-864" t="-707"/>
                </a:stretch>
              </a:blipFill>
            </p:spPr>
            <p:txBody>
              <a:bodyPr/>
              <a:lstStyle/>
              <a:p>
                <a:r>
                  <a:rPr lang="en-US">
                    <a:noFill/>
                  </a:rPr>
                  <a:t> </a:t>
                </a:r>
              </a:p>
            </p:txBody>
          </p:sp>
        </mc:Fallback>
      </mc:AlternateContent>
    </p:spTree>
    <p:extLst>
      <p:ext uri="{BB962C8B-B14F-4D97-AF65-F5344CB8AC3E}">
        <p14:creationId xmlns:p14="http://schemas.microsoft.com/office/powerpoint/2010/main" val="196171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61AC5-ED1F-319E-E3DC-D202E29B8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DA84A-DA9A-97D8-261F-C618A6A29789}"/>
              </a:ext>
            </a:extLst>
          </p:cNvPr>
          <p:cNvSpPr>
            <a:spLocks noGrp="1"/>
          </p:cNvSpPr>
          <p:nvPr>
            <p:ph type="title"/>
          </p:nvPr>
        </p:nvSpPr>
        <p:spPr/>
        <p:txBody>
          <a:bodyPr/>
          <a:lstStyle/>
          <a:p>
            <a:r>
              <a:rPr lang="en-US" dirty="0"/>
              <a:t>LS of time series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0CDEBA-C1D4-AEBD-D147-42EDFE05EFCD}"/>
                  </a:ext>
                </a:extLst>
              </p:cNvPr>
              <p:cNvSpPr>
                <a:spLocks noGrp="1"/>
              </p:cNvSpPr>
              <p:nvPr>
                <p:ph idx="1"/>
              </p:nvPr>
            </p:nvSpPr>
            <p:spPr/>
            <p:txBody>
              <a:bodyPr>
                <a:normAutofit/>
              </a:bodyPr>
              <a:lstStyle/>
              <a:p>
                <a:r>
                  <a:rPr lang="en-US" dirty="0"/>
                  <a:t>Back to time series, we had the following expression for Y as general t:</a:t>
                </a:r>
              </a:p>
              <a:p>
                <a:pPr marL="0" indent="0">
                  <a:buNone/>
                </a:pPr>
                <a14:m>
                  <m:oMathPara xmlns:m="http://schemas.openxmlformats.org/officeDocument/2006/math">
                    <m:oMath>
                      <m:sSub>
                        <m:sSubPr>
                          <m:ctrlPr>
                            <a:rPr lang="en-US" i="1" smtClean="0">
                              <a:latin typeface="Cambria Math" panose="02040503050406030204" pitchFamily="18" charset="0"/>
                            </a:rPr>
                          </m:ctrlPr>
                        </m:sSubPr>
                        <m:e>
                          <m:r>
                            <a:rPr lang="en-US" i="1" smtClean="0">
                              <a:latin typeface="Cambria Math" panose="02040503050406030204" pitchFamily="18" charset="0"/>
                            </a:rPr>
                            <m:t>𝑌</m:t>
                          </m:r>
                        </m:e>
                        <m:sub>
                          <m:r>
                            <a:rPr lang="en-US" i="1" smtClean="0">
                              <a:latin typeface="Cambria Math" panose="02040503050406030204" pitchFamily="18" charset="0"/>
                            </a:rPr>
                            <m:t>𝑡</m:t>
                          </m:r>
                        </m:sub>
                      </m:sSub>
                      <m:r>
                        <a:rPr lang="en-US" i="0"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𝑦</m:t>
                          </m:r>
                        </m:e>
                        <m:sub>
                          <m:r>
                            <a:rPr lang="en-US" i="0" smtClean="0">
                              <a:latin typeface="Cambria Math" panose="02040503050406030204" pitchFamily="18" charset="0"/>
                            </a:rPr>
                            <m:t>0</m:t>
                          </m:r>
                        </m:sub>
                      </m:sSub>
                      <m:r>
                        <a:rPr lang="en-US" i="0" smtClean="0">
                          <a:latin typeface="Cambria Math" panose="02040503050406030204" pitchFamily="18" charset="0"/>
                        </a:rPr>
                        <m:t>+</m:t>
                      </m:r>
                      <m:r>
                        <a:rPr lang="en-US" i="1" smtClean="0">
                          <a:latin typeface="Cambria Math" panose="02040503050406030204" pitchFamily="18" charset="0"/>
                        </a:rPr>
                        <m:t>𝑟𝑡</m:t>
                      </m:r>
                      <m:r>
                        <a:rPr lang="en-US" i="0" smtClean="0">
                          <a:latin typeface="Cambria Math" panose="02040503050406030204" pitchFamily="18" charset="0"/>
                        </a:rPr>
                        <m:t>+</m:t>
                      </m:r>
                      <m:r>
                        <a:rPr lang="en-US" i="1" smtClean="0">
                          <a:latin typeface="Cambria Math" panose="02040503050406030204" pitchFamily="18" charset="0"/>
                        </a:rPr>
                        <m:t>𝑎</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cos</m:t>
                          </m:r>
                        </m:fName>
                        <m:e>
                          <m:sSub>
                            <m:sSubPr>
                              <m:ctrlPr>
                                <a:rPr lang="en-US" i="1" smtClean="0">
                                  <a:latin typeface="Cambria Math" panose="02040503050406030204" pitchFamily="18" charset="0"/>
                                </a:rPr>
                              </m:ctrlPr>
                            </m:sSubPr>
                            <m:e>
                              <m:r>
                                <a:rPr lang="en-US" i="1" smtClean="0">
                                  <a:latin typeface="Cambria Math" panose="02040503050406030204" pitchFamily="18" charset="0"/>
                                </a:rPr>
                                <m:t>𝜔</m:t>
                              </m:r>
                            </m:e>
                            <m:sub>
                              <m:r>
                                <a:rPr lang="en-US" i="0" smtClean="0">
                                  <a:latin typeface="Cambria Math" panose="02040503050406030204" pitchFamily="18" charset="0"/>
                                </a:rPr>
                                <m:t>0</m:t>
                              </m:r>
                            </m:sub>
                          </m:sSub>
                          <m:r>
                            <a:rPr lang="en-US" i="1" smtClean="0">
                              <a:latin typeface="Cambria Math" panose="02040503050406030204" pitchFamily="18" charset="0"/>
                            </a:rPr>
                            <m:t>𝑡</m:t>
                          </m:r>
                        </m:e>
                      </m:func>
                      <m:r>
                        <a:rPr lang="en-US" i="0" smtClean="0">
                          <a:latin typeface="Cambria Math" panose="02040503050406030204" pitchFamily="18" charset="0"/>
                        </a:rPr>
                        <m:t>+</m:t>
                      </m:r>
                      <m:r>
                        <a:rPr lang="en-US" i="1" smtClean="0">
                          <a:latin typeface="Cambria Math" panose="02040503050406030204" pitchFamily="18" charset="0"/>
                        </a:rPr>
                        <m:t>𝑏</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sin</m:t>
                          </m:r>
                        </m:fName>
                        <m:e>
                          <m:sSub>
                            <m:sSubPr>
                              <m:ctrlPr>
                                <a:rPr lang="en-US" i="1" smtClean="0">
                                  <a:latin typeface="Cambria Math" panose="02040503050406030204" pitchFamily="18" charset="0"/>
                                </a:rPr>
                              </m:ctrlPr>
                            </m:sSubPr>
                            <m:e>
                              <m:r>
                                <a:rPr lang="en-US" i="1" smtClean="0">
                                  <a:latin typeface="Cambria Math" panose="02040503050406030204" pitchFamily="18" charset="0"/>
                                </a:rPr>
                                <m:t>𝜔</m:t>
                              </m:r>
                            </m:e>
                            <m:sub>
                              <m:r>
                                <a:rPr lang="en-US" i="0" smtClean="0">
                                  <a:latin typeface="Cambria Math" panose="02040503050406030204" pitchFamily="18" charset="0"/>
                                </a:rPr>
                                <m:t>0</m:t>
                              </m:r>
                            </m:sub>
                          </m:sSub>
                          <m:r>
                            <a:rPr lang="en-US" i="1" smtClean="0">
                              <a:latin typeface="Cambria Math" panose="02040503050406030204" pitchFamily="18" charset="0"/>
                            </a:rPr>
                            <m:t>𝑡</m:t>
                          </m:r>
                        </m:e>
                      </m:func>
                      <m:r>
                        <a:rPr lang="en-US" i="0" smtClean="0">
                          <a:latin typeface="Cambria Math" panose="02040503050406030204" pitchFamily="18" charset="0"/>
                        </a:rPr>
                        <m:t>+</m:t>
                      </m:r>
                      <m:r>
                        <a:rPr lang="en-US" i="1" smtClean="0">
                          <a:latin typeface="Cambria Math" panose="02040503050406030204" pitchFamily="18" charset="0"/>
                        </a:rPr>
                        <m:t>𝑜</m:t>
                      </m:r>
                      <m:sSub>
                        <m:sSubPr>
                          <m:ctrlPr>
                            <a:rPr lang="en-US" i="1" smtClean="0">
                              <a:latin typeface="Cambria Math" panose="02040503050406030204" pitchFamily="18" charset="0"/>
                            </a:rPr>
                          </m:ctrlPr>
                        </m:sSubPr>
                        <m:e>
                          <m:r>
                            <a:rPr lang="en-US" i="1" smtClean="0">
                              <a:latin typeface="Cambria Math" panose="02040503050406030204" pitchFamily="18" charset="0"/>
                            </a:rPr>
                            <m:t>𝑢</m:t>
                          </m:r>
                        </m:e>
                        <m:sub>
                          <m:r>
                            <a:rPr lang="en-US" i="1" smtClean="0">
                              <a:latin typeface="Cambria Math" panose="02040503050406030204" pitchFamily="18" charset="0"/>
                            </a:rPr>
                            <m:t>𝑘</m:t>
                          </m:r>
                        </m:sub>
                      </m:sSub>
                      <m:d>
                        <m:dPr>
                          <m:ctrlPr>
                            <a:rPr lang="en-US" i="1" smtClean="0">
                              <a:latin typeface="Cambria Math" panose="02040503050406030204" pitchFamily="18" charset="0"/>
                            </a:rPr>
                          </m:ctrlPr>
                        </m:dPr>
                        <m:e>
                          <m:r>
                            <a:rPr lang="en-US" i="1" smtClean="0">
                              <a:latin typeface="Cambria Math" panose="02040503050406030204" pitchFamily="18" charset="0"/>
                            </a:rPr>
                            <m:t>𝑡</m:t>
                          </m:r>
                        </m:e>
                      </m:d>
                      <m:r>
                        <a:rPr lang="en-US" i="0"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𝜖</m:t>
                          </m:r>
                        </m:e>
                        <m:sub>
                          <m:r>
                            <a:rPr lang="en-US" i="1" smtClean="0">
                              <a:latin typeface="Cambria Math" panose="02040503050406030204" pitchFamily="18" charset="0"/>
                            </a:rPr>
                            <m:t>𝑡</m:t>
                          </m:r>
                        </m:sub>
                      </m:sSub>
                    </m:oMath>
                  </m:oMathPara>
                </a14:m>
                <a:endParaRPr lang="en-US" dirty="0"/>
              </a:p>
              <a:p>
                <a:r>
                  <a:rPr lang="en-US" dirty="0"/>
                  <a:t>Substituting various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𝑘</m:t>
                        </m:r>
                      </m:sub>
                    </m:sSub>
                  </m:oMath>
                </a14:m>
                <a:r>
                  <a:rPr lang="en-US" dirty="0"/>
                  <a:t>s</a:t>
                </a:r>
              </a:p>
              <a:p>
                <a:pPr marL="0" indent="0">
                  <a:buNone/>
                </a:pPr>
                <a14:m>
                  <m:oMathPara xmlns:m="http://schemas.openxmlformats.org/officeDocument/2006/math">
                    <m:oMath>
                      <m:eqArr>
                        <m:eqArrPr>
                          <m:ctrlPr>
                            <a:rPr lang="en-US" i="1">
                              <a:latin typeface="Cambria Math" panose="02040503050406030204" pitchFamily="18" charset="0"/>
                            </a:rPr>
                          </m:ctrlPr>
                        </m:eqArrPr>
                        <m:e>
                          <m:m>
                            <m:mPr>
                              <m:plcHide m:val="on"/>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e>
                            </m:mr>
                            <m:mr>
                              <m:e/>
                              <m:e>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e>
                            </m:mr>
                            <m:mr>
                              <m:e/>
                              <m:e>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e>
                            </m:mr>
                          </m:m>
                        </m:e>
                      </m:eqAr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E06E232A-D1B5-150A-CC82-BE1EBAD62402}"/>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US">
                    <a:noFill/>
                  </a:rPr>
                  <a:t> </a:t>
                </a:r>
              </a:p>
            </p:txBody>
          </p:sp>
        </mc:Fallback>
      </mc:AlternateContent>
    </p:spTree>
    <p:extLst>
      <p:ext uri="{BB962C8B-B14F-4D97-AF65-F5344CB8AC3E}">
        <p14:creationId xmlns:p14="http://schemas.microsoft.com/office/powerpoint/2010/main" val="857583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A656-4676-33C4-7AE7-57CF4B032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DCFD8-C254-C9FB-FE7D-F603F83F4229}"/>
              </a:ext>
            </a:extLst>
          </p:cNvPr>
          <p:cNvSpPr>
            <a:spLocks noGrp="1"/>
          </p:cNvSpPr>
          <p:nvPr>
            <p:ph type="title"/>
          </p:nvPr>
        </p:nvSpPr>
        <p:spPr/>
        <p:txBody>
          <a:bodyPr/>
          <a:lstStyle/>
          <a:p>
            <a:r>
              <a:rPr lang="en-US" dirty="0"/>
              <a:t>LS of time series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0971BF-17EC-BFC9-A62D-115C07EAABE9}"/>
                  </a:ext>
                </a:extLst>
              </p:cNvPr>
              <p:cNvSpPr>
                <a:spLocks noGrp="1"/>
              </p:cNvSpPr>
              <p:nvPr>
                <p:ph idx="1"/>
              </p:nvPr>
            </p:nvSpPr>
            <p:spPr/>
            <p:txBody>
              <a:bodyPr>
                <a:normAutofit/>
              </a:bodyPr>
              <a:lstStyle/>
              <a:p>
                <a:r>
                  <a:rPr lang="en-US" dirty="0"/>
                  <a:t>These can be written compactly as </a:t>
                </a:r>
              </a:p>
              <a:p>
                <a:pPr marL="0" indent="0">
                  <a:buNone/>
                </a:pPr>
                <a14:m>
                  <m:oMathPara xmlns:m="http://schemas.openxmlformats.org/officeDocument/2006/math">
                    <m:oMath>
                      <m:r>
                        <a:rPr lang="en-US" i="1" dirty="0">
                          <a:latin typeface="Cambria Math" panose="02040503050406030204" pitchFamily="18" charset="0"/>
                        </a:rPr>
                        <m:t>𝑌</m:t>
                      </m:r>
                      <m:r>
                        <a:rPr lang="en-US" dirty="0">
                          <a:latin typeface="Cambria Math" panose="02040503050406030204" pitchFamily="18" charset="0"/>
                        </a:rPr>
                        <m:t>=</m:t>
                      </m:r>
                      <m:r>
                        <m:rPr>
                          <m:sty m:val="p"/>
                        </m:rPr>
                        <a:rPr lang="en-US" dirty="0">
                          <a:latin typeface="Cambria Math" panose="02040503050406030204" pitchFamily="18" charset="0"/>
                        </a:rPr>
                        <m:t>Ax</m:t>
                      </m:r>
                      <m:r>
                        <a:rPr lang="en-US" dirty="0">
                          <a:latin typeface="Cambria Math" panose="02040503050406030204" pitchFamily="18" charset="0"/>
                        </a:rPr>
                        <m:t>+</m:t>
                      </m:r>
                      <m:r>
                        <a:rPr lang="en-US" i="1" dirty="0">
                          <a:latin typeface="Cambria Math" panose="02040503050406030204" pitchFamily="18" charset="0"/>
                        </a:rPr>
                        <m:t>𝜖</m:t>
                      </m:r>
                    </m:oMath>
                  </m:oMathPara>
                </a14:m>
                <a:endParaRPr lang="en-US" dirty="0"/>
              </a:p>
              <a:p>
                <a:pPr marL="0" indent="0">
                  <a:buNone/>
                </a:pPr>
                <a14:m>
                  <m:oMathPara xmlns:m="http://schemas.openxmlformats.org/officeDocument/2006/math">
                    <m:oMath>
                      <m:m>
                        <m:mPr>
                          <m:plcHide m:val="on"/>
                          <m:mcs>
                            <m:mc>
                              <m:mcPr>
                                <m:count m:val="1"/>
                                <m:mcJc m:val="center"/>
                              </m:mcPr>
                            </m:mc>
                          </m:mcs>
                          <m:ctrlPr>
                            <a:rPr lang="en-US" i="1" dirty="0">
                              <a:latin typeface="Cambria Math" panose="02040503050406030204" pitchFamily="18" charset="0"/>
                            </a:rPr>
                          </m:ctrlPr>
                        </m:mPr>
                        <m:mr>
                          <m:e>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dirty="0">
                                                      <a:latin typeface="Cambria Math" panose="02040503050406030204" pitchFamily="18" charset="0"/>
                                                    </a:rPr>
                                                    <m:t>1</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𝑘</m:t>
                                                  </m:r>
                                                  <m:r>
                                                    <a:rPr lang="en-US" dirty="0">
                                                      <a:latin typeface="Cambria Math" panose="02040503050406030204" pitchFamily="18" charset="0"/>
                                                    </a:rPr>
                                                    <m:t>−1</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𝑘</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𝑚</m:t>
                                                  </m:r>
                                                </m:sub>
                                              </m:sSub>
                                            </m:e>
                                          </m:mr>
                                        </m:m>
                                      </m:e>
                                    </m:d>
                                  </m:e>
                                </m:groupChr>
                              </m:e>
                              <m:lim>
                                <m:r>
                                  <a:rPr lang="en-US" i="1" dirty="0">
                                    <a:latin typeface="Cambria Math" panose="02040503050406030204" pitchFamily="18" charset="0"/>
                                  </a:rPr>
                                  <m:t>𝑌</m:t>
                                </m:r>
                              </m:lim>
                            </m:limUpp>
                            <m:r>
                              <a:rPr lang="en-US" dirty="0">
                                <a:latin typeface="Cambria Math" panose="02040503050406030204" pitchFamily="18" charset="0"/>
                              </a:rPr>
                              <m:t>=</m:t>
                            </m:r>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5"/>
                                                  <m:mcJc m:val="center"/>
                                                </m:mcPr>
                                              </m:mc>
                                            </m:mcs>
                                            <m:ctrlPr>
                                              <a:rPr lang="en-US" i="1" dirty="0">
                                                <a:latin typeface="Cambria Math" panose="02040503050406030204" pitchFamily="18" charset="0"/>
                                              </a:rPr>
                                            </m:ctrlPr>
                                          </m:mP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func>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func>
                                            </m:e>
                                            <m:e>
                                              <m:r>
                                                <a:rPr lang="en-US" dirty="0">
                                                  <a:latin typeface="Cambria Math" panose="02040503050406030204" pitchFamily="18" charset="0"/>
                                                </a:rPr>
                                                <m:t>0</m:t>
                                              </m:r>
                                            </m:e>
                                          </m:mr>
                                          <m:mr>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func>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func>
                                            </m:e>
                                            <m:e>
                                              <m:r>
                                                <a:rPr lang="en-US" dirty="0">
                                                  <a:latin typeface="Cambria Math" panose="02040503050406030204" pitchFamily="18" charset="0"/>
                                                </a:rPr>
                                                <m:t>0</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func>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func>
                                            </m:e>
                                            <m:e>
                                              <m:r>
                                                <a:rPr lang="en-US" dirty="0">
                                                  <a:latin typeface="Cambria Math" panose="02040503050406030204" pitchFamily="18" charset="0"/>
                                                </a:rPr>
                                                <m:t>1</m:t>
                                              </m:r>
                                            </m:e>
                                          </m:mr>
                                          <m:mr>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func>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func>
                                            </m:e>
                                            <m:e>
                                              <m:r>
                                                <a:rPr lang="en-US" dirty="0">
                                                  <a:latin typeface="Cambria Math" panose="02040503050406030204" pitchFamily="18" charset="0"/>
                                                </a:rPr>
                                                <m:t>1</m:t>
                                              </m:r>
                                            </m:e>
                                          </m:mr>
                                        </m:m>
                                      </m:e>
                                    </m:d>
                                  </m:e>
                                </m:groupChr>
                              </m:e>
                              <m:lim>
                                <m:r>
                                  <m:rPr>
                                    <m:sty m:val="p"/>
                                  </m:rPr>
                                  <a:rPr lang="en-US" dirty="0">
                                    <a:latin typeface="Cambria Math" panose="02040503050406030204" pitchFamily="18" charset="0"/>
                                  </a:rPr>
                                  <m:t>A</m:t>
                                </m:r>
                              </m:lim>
                            </m:limUpp>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dirty="0">
                                                      <a:latin typeface="Cambria Math" panose="02040503050406030204" pitchFamily="18" charset="0"/>
                                                    </a:rPr>
                                                    <m:t>0</m:t>
                                                  </m:r>
                                                </m:sub>
                                              </m:sSub>
                                            </m:e>
                                          </m:mr>
                                          <m:mr>
                                            <m:e>
                                              <m:r>
                                                <a:rPr lang="en-US" i="1" dirty="0">
                                                  <a:latin typeface="Cambria Math" panose="02040503050406030204" pitchFamily="18" charset="0"/>
                                                </a:rPr>
                                                <m:t>𝑟</m:t>
                                              </m:r>
                                            </m:e>
                                          </m:mr>
                                          <m:mr>
                                            <m:e>
                                              <m:r>
                                                <a:rPr lang="en-US" i="1" dirty="0">
                                                  <a:latin typeface="Cambria Math" panose="02040503050406030204" pitchFamily="18" charset="0"/>
                                                </a:rPr>
                                                <m:t>𝑎</m:t>
                                              </m:r>
                                            </m:e>
                                          </m:mr>
                                          <m:mr>
                                            <m:e>
                                              <m:r>
                                                <a:rPr lang="en-US" i="1" dirty="0">
                                                  <a:latin typeface="Cambria Math" panose="02040503050406030204" pitchFamily="18" charset="0"/>
                                                </a:rPr>
                                                <m:t>𝑏</m:t>
                                              </m:r>
                                            </m:e>
                                          </m:mr>
                                          <m:mr>
                                            <m:e>
                                              <m:r>
                                                <a:rPr lang="en-US" i="1" dirty="0">
                                                  <a:latin typeface="Cambria Math" panose="02040503050406030204" pitchFamily="18" charset="0"/>
                                                </a:rPr>
                                                <m:t>𝑜</m:t>
                                              </m:r>
                                            </m:e>
                                          </m:mr>
                                        </m:m>
                                      </m:e>
                                    </m:d>
                                  </m:e>
                                </m:groupChr>
                              </m:e>
                              <m:lim>
                                <m:r>
                                  <m:rPr>
                                    <m:sty m:val="p"/>
                                  </m:rPr>
                                  <a:rPr lang="en-US" dirty="0">
                                    <a:latin typeface="Cambria Math" panose="02040503050406030204" pitchFamily="18" charset="0"/>
                                  </a:rPr>
                                  <m:t>x</m:t>
                                </m:r>
                              </m:lim>
                            </m:limUpp>
                            <m:r>
                              <a:rPr lang="en-US" dirty="0">
                                <a:latin typeface="Cambria Math" panose="02040503050406030204" pitchFamily="18" charset="0"/>
                              </a:rPr>
                              <m:t>+</m:t>
                            </m:r>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dirty="0">
                                                      <a:latin typeface="Cambria Math" panose="02040503050406030204" pitchFamily="18" charset="0"/>
                                                    </a:rPr>
                                                    <m:t>1</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𝑘</m:t>
                                                  </m:r>
                                                  <m:r>
                                                    <a:rPr lang="en-US" dirty="0">
                                                      <a:latin typeface="Cambria Math" panose="02040503050406030204" pitchFamily="18" charset="0"/>
                                                    </a:rPr>
                                                    <m:t>−1</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𝑘</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𝑚</m:t>
                                                  </m:r>
                                                </m:sub>
                                              </m:sSub>
                                            </m:e>
                                          </m:mr>
                                        </m:m>
                                      </m:e>
                                    </m:d>
                                  </m:e>
                                </m:groupChr>
                              </m:e>
                              <m:lim>
                                <m:r>
                                  <a:rPr lang="en-US" i="1" dirty="0">
                                    <a:latin typeface="Cambria Math" panose="02040503050406030204" pitchFamily="18" charset="0"/>
                                  </a:rPr>
                                  <m:t>𝜖</m:t>
                                </m:r>
                              </m:lim>
                            </m:limUpp>
                          </m:e>
                        </m:mr>
                      </m:m>
                    </m:oMath>
                  </m:oMathPara>
                </a14:m>
                <a:endParaRPr lang="en-US" dirty="0"/>
              </a:p>
              <a:p>
                <a:pPr marL="0" indent="0">
                  <a:buNone/>
                </a:pPr>
                <a:endParaRPr lang="en-US" dirty="0"/>
              </a:p>
              <a:p>
                <a:pPr marL="0" indent="0">
                  <a:buNone/>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d>
                            <m:dPr>
                              <m:ctrlPr>
                                <a:rPr lang="en-US" sz="2400" b="0" i="1" dirty="0" smtClean="0">
                                  <a:latin typeface="Cambria Math" panose="02040503050406030204" pitchFamily="18" charset="0"/>
                                </a:rPr>
                              </m:ctrlPr>
                            </m:dPr>
                            <m:e>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𝐴</m:t>
                                  </m:r>
                                </m:e>
                                <m:sup>
                                  <m:r>
                                    <a:rPr lang="en-US" sz="2400" b="0" i="1" dirty="0" smtClean="0">
                                      <a:latin typeface="Cambria Math" panose="02040503050406030204" pitchFamily="18" charset="0"/>
                                    </a:rPr>
                                    <m:t>𝑇</m:t>
                                  </m:r>
                                </m:sup>
                              </m:sSup>
                              <m:r>
                                <a:rPr lang="en-US" sz="2400" b="0" i="1" dirty="0" smtClean="0">
                                  <a:latin typeface="Cambria Math" panose="02040503050406030204" pitchFamily="18" charset="0"/>
                                </a:rPr>
                                <m:t>𝐴</m:t>
                              </m:r>
                            </m:e>
                          </m:d>
                        </m:e>
                        <m:sup>
                          <m:r>
                            <a:rPr lang="en-US" sz="2400" b="0" i="1" dirty="0" smtClean="0">
                              <a:latin typeface="Cambria Math" panose="02040503050406030204" pitchFamily="18" charset="0"/>
                            </a:rPr>
                            <m:t>−1</m:t>
                          </m:r>
                        </m:sup>
                      </m:sSup>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𝐴</m:t>
                          </m:r>
                        </m:e>
                        <m:sup>
                          <m:r>
                            <a:rPr lang="en-US" sz="2400" b="0" i="1" dirty="0" smtClean="0">
                              <a:latin typeface="Cambria Math" panose="02040503050406030204" pitchFamily="18" charset="0"/>
                            </a:rPr>
                            <m:t>𝑇</m:t>
                          </m:r>
                        </m:sup>
                      </m:sSup>
                      <m:r>
                        <a:rPr lang="en-US" sz="2400" b="0" i="1" dirty="0" smtClean="0">
                          <a:latin typeface="Cambria Math" panose="02040503050406030204" pitchFamily="18" charset="0"/>
                        </a:rPr>
                        <m:t>𝑌</m:t>
                      </m:r>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𝐴</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𝑌</m:t>
                      </m:r>
                    </m:oMath>
                  </m:oMathPara>
                </a14:m>
                <a:endParaRPr lang="en-IN" dirty="0"/>
              </a:p>
              <a:p>
                <a:pPr marL="0" indent="0">
                  <a:buNone/>
                </a:pPr>
                <a14:m>
                  <m:oMathPara xmlns:m="http://schemas.openxmlformats.org/officeDocument/2006/math">
                    <m:o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m:oMathPara>
                </a14:m>
                <a:endParaRPr lang="en-IN"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E0971BF-17EC-BFC9-A62D-115C07EAABE9}"/>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IN">
                    <a:noFill/>
                  </a:rPr>
                  <a:t> </a:t>
                </a:r>
              </a:p>
            </p:txBody>
          </p:sp>
        </mc:Fallback>
      </mc:AlternateContent>
    </p:spTree>
    <p:extLst>
      <p:ext uri="{BB962C8B-B14F-4D97-AF65-F5344CB8AC3E}">
        <p14:creationId xmlns:p14="http://schemas.microsoft.com/office/powerpoint/2010/main" val="3893216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25DAF-11C2-C78E-25E7-DD9571BDB804}"/>
              </a:ext>
            </a:extLst>
          </p:cNvPr>
          <p:cNvSpPr>
            <a:spLocks noGrp="1"/>
          </p:cNvSpPr>
          <p:nvPr>
            <p:ph type="title"/>
          </p:nvPr>
        </p:nvSpPr>
        <p:spPr/>
        <p:txBody>
          <a:bodyPr/>
          <a:lstStyle/>
          <a:p>
            <a:r>
              <a:rPr lang="en-US" dirty="0"/>
              <a:t> Example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EFE860-8712-20F6-ABE9-951B21FE441B}"/>
                  </a:ext>
                </a:extLst>
              </p:cNvPr>
              <p:cNvSpPr>
                <a:spLocks noGrp="1"/>
              </p:cNvSpPr>
              <p:nvPr>
                <p:ph idx="1"/>
              </p:nvPr>
            </p:nvSpPr>
            <p:spPr/>
            <p:txBody>
              <a:bodyPr>
                <a:normAutofit lnSpcReduction="10000"/>
              </a:bodyPr>
              <a:lstStyle/>
              <a:p>
                <a:r>
                  <a:rPr lang="en-US" dirty="0"/>
                  <a:t>Let us say I know </a:t>
                </a:r>
                <a14:m>
                  <m:oMath xmlns:m="http://schemas.openxmlformats.org/officeDocument/2006/math">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𝑟𝑡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oMath>
                </a14:m>
                <a:r>
                  <a:rPr lang="en-IN"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𝑘</m:t>
                        </m:r>
                      </m:sub>
                    </m:sSub>
                  </m:oMath>
                </a14:m>
                <a:r>
                  <a:rPr lang="en-IN" dirty="0"/>
                  <a:t> is the Heaviside step function with the jump occurring at t=26 s. Let us say the measurement frequency is 10 s. Find the design matrix A and parameter vector X.</a:t>
                </a:r>
              </a:p>
              <a:p>
                <a:endParaRPr lang="en-IN" dirty="0"/>
              </a:p>
              <a:p>
                <a:pPr marL="0" indent="0">
                  <a:buNone/>
                </a:pPr>
                <a14:m>
                  <m:oMathPara xmlns:m="http://schemas.openxmlformats.org/officeDocument/2006/math">
                    <m:oMath>
                      <m:eqArr>
                        <m:eqArrPr>
                          <m:ctrlPr>
                            <a:rPr lang="en-IN" i="1" kern="100" smtClean="0">
                              <a:effectLst/>
                              <a:latin typeface="Cambria Math" panose="02040503050406030204" pitchFamily="18" charset="0"/>
                              <a:ea typeface="Aptos" panose="020B0004020202020204" pitchFamily="34" charset="0"/>
                              <a:cs typeface="Tunga" panose="020B0502040204020203" pitchFamily="34" charset="0"/>
                            </a:rPr>
                          </m:ctrlPr>
                        </m:eqArrPr>
                        <m:e>
                          <m:r>
                            <m:rPr>
                              <m:sty m:val="p"/>
                            </m:rPr>
                            <a:rPr lang="en-IN" kern="100">
                              <a:effectLst/>
                              <a:latin typeface="Cambria Math" panose="02040503050406030204" pitchFamily="18" charset="0"/>
                              <a:ea typeface="Aptos" panose="020B0004020202020204" pitchFamily="34" charset="0"/>
                              <a:cs typeface="Tunga" panose="020B0502040204020203" pitchFamily="34" charset="0"/>
                            </a:rPr>
                            <m:t>A</m:t>
                          </m:r>
                          <m:r>
                            <a:rPr lang="en-IN" i="1" kern="100">
                              <a:effectLst/>
                              <a:latin typeface="Cambria Math" panose="02040503050406030204" pitchFamily="18" charset="0"/>
                              <a:ea typeface="Aptos" panose="020B0004020202020204" pitchFamily="34" charset="0"/>
                              <a:cs typeface="Tunga" panose="020B0502040204020203" pitchFamily="34" charset="0"/>
                            </a:rPr>
                            <m:t>=</m:t>
                          </m:r>
                          <m:d>
                            <m:dPr>
                              <m:begChr m:val="["/>
                              <m:endChr m:val="]"/>
                              <m:ctrlPr>
                                <a:rPr lang="en-IN" i="1" kern="100">
                                  <a:effectLst/>
                                  <a:latin typeface="Cambria Math" panose="02040503050406030204" pitchFamily="18" charset="0"/>
                                  <a:ea typeface="Aptos" panose="020B0004020202020204" pitchFamily="34" charset="0"/>
                                  <a:cs typeface="Tunga" panose="020B0502040204020203" pitchFamily="34" charset="0"/>
                                </a:rPr>
                              </m:ctrlPr>
                            </m:dPr>
                            <m:e>
                              <m:m>
                                <m:mPr>
                                  <m:plcHide m:val="on"/>
                                  <m:mcs>
                                    <m:mc>
                                      <m:mcPr>
                                        <m:count m:val="3"/>
                                        <m:mcJc m:val="center"/>
                                      </m:mcPr>
                                    </m:mc>
                                  </m:mcs>
                                  <m:ctrlPr>
                                    <a:rPr lang="en-IN" i="1" kern="100">
                                      <a:effectLst/>
                                      <a:latin typeface="Cambria Math" panose="02040503050406030204" pitchFamily="18" charset="0"/>
                                      <a:ea typeface="Aptos" panose="020B0004020202020204" pitchFamily="34" charset="0"/>
                                      <a:cs typeface="Tunga" panose="020B0502040204020203" pitchFamily="34" charset="0"/>
                                    </a:rPr>
                                  </m:ctrlPr>
                                </m:mP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𝑡</m:t>
                                        </m:r>
                                      </m:e>
                                      <m:sub>
                                        <m:r>
                                          <a:rPr lang="en-IN" i="1" kern="100">
                                            <a:effectLst/>
                                            <a:latin typeface="Cambria Math" panose="02040503050406030204" pitchFamily="18" charset="0"/>
                                            <a:ea typeface="Aptos" panose="020B0004020202020204" pitchFamily="34" charset="0"/>
                                            <a:cs typeface="Tunga" panose="020B0502040204020203" pitchFamily="34" charset="0"/>
                                          </a:rPr>
                                          <m:t>1</m:t>
                                        </m:r>
                                      </m:sub>
                                    </m:sSub>
                                  </m:e>
                                  <m:e>
                                    <m:r>
                                      <a:rPr lang="en-IN" i="1" kern="100">
                                        <a:effectLst/>
                                        <a:latin typeface="Cambria Math" panose="02040503050406030204" pitchFamily="18" charset="0"/>
                                        <a:ea typeface="Aptos" panose="020B0004020202020204" pitchFamily="34" charset="0"/>
                                        <a:cs typeface="Tunga" panose="020B0502040204020203" pitchFamily="34" charset="0"/>
                                      </a:rPr>
                                      <m:t>0</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𝑡</m:t>
                                        </m:r>
                                      </m:e>
                                      <m:sub>
                                        <m:r>
                                          <a:rPr lang="en-IN" i="1" kern="100">
                                            <a:effectLst/>
                                            <a:latin typeface="Cambria Math" panose="02040503050406030204" pitchFamily="18" charset="0"/>
                                            <a:ea typeface="Aptos" panose="020B0004020202020204" pitchFamily="34" charset="0"/>
                                            <a:cs typeface="Tunga" panose="020B0502040204020203" pitchFamily="34" charset="0"/>
                                          </a:rPr>
                                          <m:t>259</m:t>
                                        </m:r>
                                      </m:sub>
                                    </m:sSub>
                                  </m:e>
                                  <m:e>
                                    <m:r>
                                      <a:rPr lang="en-IN" i="1" kern="100">
                                        <a:effectLst/>
                                        <a:latin typeface="Cambria Math" panose="02040503050406030204" pitchFamily="18" charset="0"/>
                                        <a:ea typeface="Aptos" panose="020B0004020202020204" pitchFamily="34" charset="0"/>
                                        <a:cs typeface="Tunga" panose="020B0502040204020203" pitchFamily="34" charset="0"/>
                                      </a:rPr>
                                      <m:t>1</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𝑡</m:t>
                                        </m:r>
                                      </m:e>
                                      <m:sub>
                                        <m:r>
                                          <a:rPr lang="en-IN" i="1" kern="100">
                                            <a:effectLst/>
                                            <a:latin typeface="Cambria Math" panose="02040503050406030204" pitchFamily="18" charset="0"/>
                                            <a:ea typeface="Aptos" panose="020B0004020202020204" pitchFamily="34" charset="0"/>
                                            <a:cs typeface="Tunga" panose="020B0502040204020203" pitchFamily="34" charset="0"/>
                                          </a:rPr>
                                          <m:t>260</m:t>
                                        </m:r>
                                      </m:sub>
                                    </m:sSub>
                                  </m:e>
                                  <m:e>
                                    <m:r>
                                      <a:rPr lang="en-IN" i="1" kern="100">
                                        <a:effectLst/>
                                        <a:latin typeface="Cambria Math" panose="02040503050406030204" pitchFamily="18" charset="0"/>
                                        <a:ea typeface="Aptos" panose="020B0004020202020204" pitchFamily="34" charset="0"/>
                                        <a:cs typeface="Tunga" panose="020B0502040204020203" pitchFamily="34" charset="0"/>
                                      </a:rPr>
                                      <m:t>1</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sSub>
                                      <m:sSubPr>
                                        <m:ctrlPr>
                                          <a:rPr lang="en-IN" i="1" kern="100">
                                            <a:effectLst/>
                                            <a:latin typeface="Cambria Math" panose="02040503050406030204" pitchFamily="18" charset="0"/>
                                            <a:ea typeface="Aptos" panose="020B0004020202020204" pitchFamily="34" charset="0"/>
                                            <a:cs typeface="Tunga" panose="020B0502040204020203" pitchFamily="34" charset="0"/>
                                          </a:rPr>
                                        </m:ctrlPr>
                                      </m:sSubPr>
                                      <m:e>
                                        <m:r>
                                          <a:rPr lang="en-IN" i="1" kern="100">
                                            <a:effectLst/>
                                            <a:latin typeface="Cambria Math" panose="02040503050406030204" pitchFamily="18" charset="0"/>
                                            <a:ea typeface="Aptos" panose="020B0004020202020204" pitchFamily="34" charset="0"/>
                                            <a:cs typeface="Tunga" panose="020B0502040204020203" pitchFamily="34" charset="0"/>
                                          </a:rPr>
                                          <m:t>𝑡</m:t>
                                        </m:r>
                                      </m:e>
                                      <m:sub>
                                        <m:r>
                                          <a:rPr lang="en-IN" i="1" kern="100">
                                            <a:effectLst/>
                                            <a:latin typeface="Cambria Math" panose="02040503050406030204" pitchFamily="18" charset="0"/>
                                            <a:ea typeface="Aptos" panose="020B0004020202020204" pitchFamily="34" charset="0"/>
                                            <a:cs typeface="Tunga" panose="020B0502040204020203" pitchFamily="34" charset="0"/>
                                          </a:rPr>
                                          <m:t>1000</m:t>
                                        </m:r>
                                      </m:sub>
                                    </m:sSub>
                                  </m:e>
                                  <m:e>
                                    <m:r>
                                      <a:rPr lang="en-IN" i="1" kern="100">
                                        <a:effectLst/>
                                        <a:latin typeface="Cambria Math" panose="02040503050406030204" pitchFamily="18" charset="0"/>
                                        <a:ea typeface="Aptos" panose="020B0004020202020204" pitchFamily="34" charset="0"/>
                                        <a:cs typeface="Tunga" panose="020B0502040204020203" pitchFamily="34" charset="0"/>
                                      </a:rPr>
                                      <m:t>1</m:t>
                                    </m:r>
                                  </m:e>
                                </m:mr>
                              </m:m>
                            </m:e>
                          </m:d>
                          <m:r>
                            <a:rPr lang="en-IN" i="1" kern="100">
                              <a:effectLst/>
                              <a:latin typeface="Cambria Math" panose="02040503050406030204" pitchFamily="18" charset="0"/>
                              <a:ea typeface="Aptos" panose="020B0004020202020204" pitchFamily="34" charset="0"/>
                              <a:cs typeface="Tunga" panose="020B0502040204020203" pitchFamily="34" charset="0"/>
                            </a:rPr>
                            <m:t>=</m:t>
                          </m:r>
                          <m:d>
                            <m:dPr>
                              <m:begChr m:val="["/>
                              <m:endChr m:val="]"/>
                              <m:ctrlPr>
                                <a:rPr lang="en-IN" i="1" kern="100">
                                  <a:effectLst/>
                                  <a:latin typeface="Cambria Math" panose="02040503050406030204" pitchFamily="18" charset="0"/>
                                  <a:ea typeface="Aptos" panose="020B0004020202020204" pitchFamily="34" charset="0"/>
                                  <a:cs typeface="Tunga" panose="020B0502040204020203" pitchFamily="34" charset="0"/>
                                </a:rPr>
                              </m:ctrlPr>
                            </m:dPr>
                            <m:e>
                              <m:m>
                                <m:mPr>
                                  <m:plcHide m:val="on"/>
                                  <m:mcs>
                                    <m:mc>
                                      <m:mcPr>
                                        <m:count m:val="3"/>
                                        <m:mcJc m:val="center"/>
                                      </m:mcPr>
                                    </m:mc>
                                  </m:mcs>
                                  <m:ctrlPr>
                                    <a:rPr lang="en-IN" i="1" kern="100">
                                      <a:effectLst/>
                                      <a:latin typeface="Cambria Math" panose="02040503050406030204" pitchFamily="18" charset="0"/>
                                      <a:ea typeface="Aptos" panose="020B0004020202020204" pitchFamily="34" charset="0"/>
                                      <a:cs typeface="Tunga" panose="020B0502040204020203" pitchFamily="34" charset="0"/>
                                    </a:rPr>
                                  </m:ctrlPr>
                                </m:mP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r>
                                      <a:rPr lang="en-IN" i="1" kern="100">
                                        <a:effectLst/>
                                        <a:latin typeface="Cambria Math" panose="02040503050406030204" pitchFamily="18" charset="0"/>
                                        <a:ea typeface="Aptos" panose="020B0004020202020204" pitchFamily="34" charset="0"/>
                                        <a:cs typeface="Tunga" panose="020B0502040204020203" pitchFamily="34" charset="0"/>
                                      </a:rPr>
                                      <m:t>0.1</m:t>
                                    </m:r>
                                  </m:e>
                                  <m:e>
                                    <m:r>
                                      <a:rPr lang="en-IN" i="1" kern="100">
                                        <a:effectLst/>
                                        <a:latin typeface="Cambria Math" panose="02040503050406030204" pitchFamily="18" charset="0"/>
                                        <a:ea typeface="Aptos" panose="020B0004020202020204" pitchFamily="34" charset="0"/>
                                        <a:cs typeface="Tunga" panose="020B0502040204020203" pitchFamily="34" charset="0"/>
                                      </a:rPr>
                                      <m:t>0</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r>
                                      <a:rPr lang="en-IN" i="1" kern="100">
                                        <a:effectLst/>
                                        <a:latin typeface="Cambria Math" panose="02040503050406030204" pitchFamily="18" charset="0"/>
                                        <a:ea typeface="Aptos" panose="020B0004020202020204" pitchFamily="34" charset="0"/>
                                        <a:cs typeface="Tunga" panose="020B0502040204020203" pitchFamily="34" charset="0"/>
                                      </a:rPr>
                                      <m:t>25.9</m:t>
                                    </m:r>
                                  </m:e>
                                  <m:e>
                                    <m:r>
                                      <a:rPr lang="en-IN" i="1" kern="100">
                                        <a:effectLst/>
                                        <a:latin typeface="Cambria Math" panose="02040503050406030204" pitchFamily="18" charset="0"/>
                                        <a:ea typeface="Aptos" panose="020B0004020202020204" pitchFamily="34" charset="0"/>
                                        <a:cs typeface="Tunga" panose="020B0502040204020203" pitchFamily="34" charset="0"/>
                                      </a:rPr>
                                      <m:t>0</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r>
                                      <a:rPr lang="en-IN" i="1" kern="100">
                                        <a:effectLst/>
                                        <a:latin typeface="Cambria Math" panose="02040503050406030204" pitchFamily="18" charset="0"/>
                                        <a:ea typeface="Aptos" panose="020B0004020202020204" pitchFamily="34" charset="0"/>
                                        <a:cs typeface="Tunga" panose="020B0502040204020203" pitchFamily="34" charset="0"/>
                                      </a:rPr>
                                      <m:t>26</m:t>
                                    </m:r>
                                  </m:e>
                                  <m:e>
                                    <m:r>
                                      <a:rPr lang="en-IN" i="1" kern="100">
                                        <a:effectLst/>
                                        <a:latin typeface="Cambria Math" panose="02040503050406030204" pitchFamily="18" charset="0"/>
                                        <a:ea typeface="Aptos" panose="020B0004020202020204" pitchFamily="34" charset="0"/>
                                        <a:cs typeface="Tunga" panose="020B0502040204020203" pitchFamily="34" charset="0"/>
                                      </a:rPr>
                                      <m:t>1</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e>
                                    <m:r>
                                      <a:rPr lang="en-IN" i="1" kern="100">
                                        <a:effectLst/>
                                        <a:latin typeface="Cambria Math" panose="02040503050406030204" pitchFamily="18" charset="0"/>
                                        <a:ea typeface="Aptos" panose="020B0004020202020204" pitchFamily="34" charset="0"/>
                                        <a:cs typeface="Tunga" panose="020B0502040204020203" pitchFamily="34" charset="0"/>
                                      </a:rPr>
                                      <m:t>⋮</m:t>
                                    </m:r>
                                  </m:e>
                                </m:mr>
                                <m:mr>
                                  <m:e>
                                    <m:r>
                                      <a:rPr lang="en-IN" i="1" kern="100">
                                        <a:effectLst/>
                                        <a:latin typeface="Cambria Math" panose="02040503050406030204" pitchFamily="18" charset="0"/>
                                        <a:ea typeface="Aptos" panose="020B0004020202020204" pitchFamily="34" charset="0"/>
                                        <a:cs typeface="Tunga" panose="020B0502040204020203" pitchFamily="34" charset="0"/>
                                      </a:rPr>
                                      <m:t>1</m:t>
                                    </m:r>
                                  </m:e>
                                  <m:e>
                                    <m:r>
                                      <a:rPr lang="en-IN" i="1" kern="100">
                                        <a:effectLst/>
                                        <a:latin typeface="Cambria Math" panose="02040503050406030204" pitchFamily="18" charset="0"/>
                                        <a:ea typeface="Aptos" panose="020B0004020202020204" pitchFamily="34" charset="0"/>
                                        <a:cs typeface="Tunga" panose="020B0502040204020203" pitchFamily="34" charset="0"/>
                                      </a:rPr>
                                      <m:t>100</m:t>
                                    </m:r>
                                  </m:e>
                                  <m:e>
                                    <m:r>
                                      <a:rPr lang="en-IN" i="1" kern="100">
                                        <a:effectLst/>
                                        <a:latin typeface="Cambria Math" panose="02040503050406030204" pitchFamily="18" charset="0"/>
                                        <a:ea typeface="Aptos" panose="020B0004020202020204" pitchFamily="34" charset="0"/>
                                        <a:cs typeface="Tunga" panose="020B0502040204020203" pitchFamily="34" charset="0"/>
                                      </a:rPr>
                                      <m:t>1</m:t>
                                    </m:r>
                                  </m:e>
                                </m:mr>
                              </m:m>
                            </m:e>
                          </m:d>
                        </m:e>
                      </m:eqArr>
                    </m:oMath>
                  </m:oMathPara>
                </a14:m>
                <a:endParaRPr lang="en-IN" kern="100" dirty="0">
                  <a:effectLst/>
                  <a:latin typeface="Aptos" panose="020B0004020202020204" pitchFamily="34" charset="0"/>
                  <a:ea typeface="Aptos" panose="020B0004020202020204" pitchFamily="34" charset="0"/>
                  <a:cs typeface="Tunga" panose="020B0502040204020203" pitchFamily="34" charset="0"/>
                </a:endParaRPr>
              </a:p>
              <a:p>
                <a:pPr marL="0" indent="0">
                  <a:buNone/>
                </a:pPr>
                <a14:m>
                  <m:oMathPara xmlns:m="http://schemas.openxmlformats.org/officeDocument/2006/math">
                    <m:oMath>
                      <m:r>
                        <a:rPr lang="en-US" b="0" i="1" smtClean="0">
                          <a:latin typeface="Cambria Math" panose="02040503050406030204" pitchFamily="18" charset="0"/>
                        </a:rPr>
                        <m:t>𝑋</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e>
                              <m:r>
                                <a:rPr lang="en-US" b="0" i="1" smtClean="0">
                                  <a:latin typeface="Cambria Math" panose="02040503050406030204" pitchFamily="18" charset="0"/>
                                </a:rPr>
                                <m:t>𝑟</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𝑘</m:t>
                                  </m:r>
                                </m:sub>
                              </m:sSub>
                            </m:e>
                          </m:eqArr>
                        </m:e>
                      </m:d>
                    </m:oMath>
                  </m:oMathPara>
                </a14:m>
                <a:endParaRPr lang="en-IN" dirty="0"/>
              </a:p>
            </p:txBody>
          </p:sp>
        </mc:Choice>
        <mc:Fallback xmlns="">
          <p:sp>
            <p:nvSpPr>
              <p:cNvPr id="3" name="Content Placeholder 2">
                <a:extLst>
                  <a:ext uri="{FF2B5EF4-FFF2-40B4-BE49-F238E27FC236}">
                    <a16:creationId xmlns:a16="http://schemas.microsoft.com/office/drawing/2014/main" id="{09EFE860-8712-20F6-ABE9-951B21FE441B}"/>
                  </a:ext>
                </a:extLst>
              </p:cNvPr>
              <p:cNvSpPr>
                <a:spLocks noGrp="1" noRot="1" noChangeAspect="1" noMove="1" noResize="1" noEditPoints="1" noAdjustHandles="1" noChangeArrowheads="1" noChangeShapeType="1" noTextEdit="1"/>
              </p:cNvSpPr>
              <p:nvPr>
                <p:ph idx="1"/>
              </p:nvPr>
            </p:nvSpPr>
            <p:spPr>
              <a:blipFill>
                <a:blip r:embed="rId3"/>
                <a:stretch>
                  <a:fillRect l="-749" t="-942"/>
                </a:stretch>
              </a:blipFill>
            </p:spPr>
            <p:txBody>
              <a:bodyPr/>
              <a:lstStyle/>
              <a:p>
                <a:r>
                  <a:rPr lang="en-IN">
                    <a:noFill/>
                  </a:rPr>
                  <a:t> </a:t>
                </a:r>
              </a:p>
            </p:txBody>
          </p:sp>
        </mc:Fallback>
      </mc:AlternateContent>
    </p:spTree>
    <p:extLst>
      <p:ext uri="{BB962C8B-B14F-4D97-AF65-F5344CB8AC3E}">
        <p14:creationId xmlns:p14="http://schemas.microsoft.com/office/powerpoint/2010/main" val="24810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3F8D3-5C9F-B6CA-1708-C533979EC9FA}"/>
              </a:ext>
            </a:extLst>
          </p:cNvPr>
          <p:cNvSpPr>
            <a:spLocks noGrp="1"/>
          </p:cNvSpPr>
          <p:nvPr>
            <p:ph type="title"/>
          </p:nvPr>
        </p:nvSpPr>
        <p:spPr/>
        <p:txBody>
          <a:bodyPr/>
          <a:lstStyle/>
          <a:p>
            <a:r>
              <a:rPr lang="en-US" dirty="0"/>
              <a:t>Blue of time series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6E232A-D1B5-150A-CC82-BE1EBAD62402}"/>
                  </a:ext>
                </a:extLst>
              </p:cNvPr>
              <p:cNvSpPr>
                <a:spLocks noGrp="1"/>
              </p:cNvSpPr>
              <p:nvPr>
                <p:ph idx="1"/>
              </p:nvPr>
            </p:nvSpPr>
            <p:spPr/>
            <p:txBody>
              <a:bodyPr>
                <a:normAutofit/>
              </a:bodyPr>
              <a:lstStyle/>
              <a:p>
                <a:r>
                  <a:rPr lang="en-US" dirty="0"/>
                  <a:t>Back to time series if we don’t have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𝐼</m:t>
                    </m:r>
                  </m:oMath>
                </a14:m>
                <a:r>
                  <a:rPr lang="en-US" dirty="0"/>
                  <a:t>, we need a new approach. We had the following expression for Y as general t:</a:t>
                </a:r>
              </a:p>
              <a:p>
                <a:pPr marL="0" indent="0">
                  <a:buNone/>
                </a:pPr>
                <a14:m>
                  <m:oMathPara xmlns:m="http://schemas.openxmlformats.org/officeDocument/2006/math">
                    <m:oMath>
                      <m:sSub>
                        <m:sSubPr>
                          <m:ctrlPr>
                            <a:rPr lang="en-US" i="1" smtClean="0">
                              <a:latin typeface="Cambria Math" panose="02040503050406030204" pitchFamily="18" charset="0"/>
                            </a:rPr>
                          </m:ctrlPr>
                        </m:sSubPr>
                        <m:e>
                          <m:r>
                            <a:rPr lang="en-US" i="1" smtClean="0">
                              <a:latin typeface="Cambria Math" panose="02040503050406030204" pitchFamily="18" charset="0"/>
                            </a:rPr>
                            <m:t>𝑌</m:t>
                          </m:r>
                        </m:e>
                        <m:sub>
                          <m:r>
                            <a:rPr lang="en-US" i="1" smtClean="0">
                              <a:latin typeface="Cambria Math" panose="02040503050406030204" pitchFamily="18" charset="0"/>
                            </a:rPr>
                            <m:t>𝑡</m:t>
                          </m:r>
                        </m:sub>
                      </m:sSub>
                      <m:r>
                        <a:rPr lang="en-US" i="0"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𝑦</m:t>
                          </m:r>
                        </m:e>
                        <m:sub>
                          <m:r>
                            <a:rPr lang="en-US" i="0" smtClean="0">
                              <a:latin typeface="Cambria Math" panose="02040503050406030204" pitchFamily="18" charset="0"/>
                            </a:rPr>
                            <m:t>0</m:t>
                          </m:r>
                        </m:sub>
                      </m:sSub>
                      <m:r>
                        <a:rPr lang="en-US" i="0" smtClean="0">
                          <a:latin typeface="Cambria Math" panose="02040503050406030204" pitchFamily="18" charset="0"/>
                        </a:rPr>
                        <m:t>+</m:t>
                      </m:r>
                      <m:r>
                        <a:rPr lang="en-US" i="1" smtClean="0">
                          <a:latin typeface="Cambria Math" panose="02040503050406030204" pitchFamily="18" charset="0"/>
                        </a:rPr>
                        <m:t>𝑟𝑡</m:t>
                      </m:r>
                      <m:r>
                        <a:rPr lang="en-US" i="0" smtClean="0">
                          <a:latin typeface="Cambria Math" panose="02040503050406030204" pitchFamily="18" charset="0"/>
                        </a:rPr>
                        <m:t>+</m:t>
                      </m:r>
                      <m:r>
                        <a:rPr lang="en-US" i="1" smtClean="0">
                          <a:latin typeface="Cambria Math" panose="02040503050406030204" pitchFamily="18" charset="0"/>
                        </a:rPr>
                        <m:t>𝑎</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cos</m:t>
                          </m:r>
                        </m:fName>
                        <m:e>
                          <m:sSub>
                            <m:sSubPr>
                              <m:ctrlPr>
                                <a:rPr lang="en-US" i="1" smtClean="0">
                                  <a:latin typeface="Cambria Math" panose="02040503050406030204" pitchFamily="18" charset="0"/>
                                </a:rPr>
                              </m:ctrlPr>
                            </m:sSubPr>
                            <m:e>
                              <m:r>
                                <a:rPr lang="en-US" i="1" smtClean="0">
                                  <a:latin typeface="Cambria Math" panose="02040503050406030204" pitchFamily="18" charset="0"/>
                                </a:rPr>
                                <m:t>𝜔</m:t>
                              </m:r>
                            </m:e>
                            <m:sub>
                              <m:r>
                                <a:rPr lang="en-US" i="0" smtClean="0">
                                  <a:latin typeface="Cambria Math" panose="02040503050406030204" pitchFamily="18" charset="0"/>
                                </a:rPr>
                                <m:t>0</m:t>
                              </m:r>
                            </m:sub>
                          </m:sSub>
                          <m:r>
                            <a:rPr lang="en-US" i="1" smtClean="0">
                              <a:latin typeface="Cambria Math" panose="02040503050406030204" pitchFamily="18" charset="0"/>
                            </a:rPr>
                            <m:t>𝑡</m:t>
                          </m:r>
                        </m:e>
                      </m:func>
                      <m:r>
                        <a:rPr lang="en-US" i="0" smtClean="0">
                          <a:latin typeface="Cambria Math" panose="02040503050406030204" pitchFamily="18" charset="0"/>
                        </a:rPr>
                        <m:t>+</m:t>
                      </m:r>
                      <m:r>
                        <a:rPr lang="en-US" i="1" smtClean="0">
                          <a:latin typeface="Cambria Math" panose="02040503050406030204" pitchFamily="18" charset="0"/>
                        </a:rPr>
                        <m:t>𝑏</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sin</m:t>
                          </m:r>
                        </m:fName>
                        <m:e>
                          <m:sSub>
                            <m:sSubPr>
                              <m:ctrlPr>
                                <a:rPr lang="en-US" i="1" smtClean="0">
                                  <a:latin typeface="Cambria Math" panose="02040503050406030204" pitchFamily="18" charset="0"/>
                                </a:rPr>
                              </m:ctrlPr>
                            </m:sSubPr>
                            <m:e>
                              <m:r>
                                <a:rPr lang="en-US" i="1" smtClean="0">
                                  <a:latin typeface="Cambria Math" panose="02040503050406030204" pitchFamily="18" charset="0"/>
                                </a:rPr>
                                <m:t>𝜔</m:t>
                              </m:r>
                            </m:e>
                            <m:sub>
                              <m:r>
                                <a:rPr lang="en-US" i="0" smtClean="0">
                                  <a:latin typeface="Cambria Math" panose="02040503050406030204" pitchFamily="18" charset="0"/>
                                </a:rPr>
                                <m:t>0</m:t>
                              </m:r>
                            </m:sub>
                          </m:sSub>
                          <m:r>
                            <a:rPr lang="en-US" i="1" smtClean="0">
                              <a:latin typeface="Cambria Math" panose="02040503050406030204" pitchFamily="18" charset="0"/>
                            </a:rPr>
                            <m:t>𝑡</m:t>
                          </m:r>
                        </m:e>
                      </m:func>
                      <m:r>
                        <a:rPr lang="en-US" i="0" smtClean="0">
                          <a:latin typeface="Cambria Math" panose="02040503050406030204" pitchFamily="18" charset="0"/>
                        </a:rPr>
                        <m:t>+</m:t>
                      </m:r>
                      <m:r>
                        <a:rPr lang="en-US" i="1" smtClean="0">
                          <a:latin typeface="Cambria Math" panose="02040503050406030204" pitchFamily="18" charset="0"/>
                        </a:rPr>
                        <m:t>𝑜</m:t>
                      </m:r>
                      <m:sSub>
                        <m:sSubPr>
                          <m:ctrlPr>
                            <a:rPr lang="en-US" i="1" smtClean="0">
                              <a:latin typeface="Cambria Math" panose="02040503050406030204" pitchFamily="18" charset="0"/>
                            </a:rPr>
                          </m:ctrlPr>
                        </m:sSubPr>
                        <m:e>
                          <m:r>
                            <a:rPr lang="en-US" i="1" smtClean="0">
                              <a:latin typeface="Cambria Math" panose="02040503050406030204" pitchFamily="18" charset="0"/>
                            </a:rPr>
                            <m:t>𝑢</m:t>
                          </m:r>
                        </m:e>
                        <m:sub>
                          <m:r>
                            <a:rPr lang="en-US" i="1" smtClean="0">
                              <a:latin typeface="Cambria Math" panose="02040503050406030204" pitchFamily="18" charset="0"/>
                            </a:rPr>
                            <m:t>𝑘</m:t>
                          </m:r>
                        </m:sub>
                      </m:sSub>
                      <m:d>
                        <m:dPr>
                          <m:ctrlPr>
                            <a:rPr lang="en-US" i="1" smtClean="0">
                              <a:latin typeface="Cambria Math" panose="02040503050406030204" pitchFamily="18" charset="0"/>
                            </a:rPr>
                          </m:ctrlPr>
                        </m:dPr>
                        <m:e>
                          <m:r>
                            <a:rPr lang="en-US" i="1" smtClean="0">
                              <a:latin typeface="Cambria Math" panose="02040503050406030204" pitchFamily="18" charset="0"/>
                            </a:rPr>
                            <m:t>𝑡</m:t>
                          </m:r>
                        </m:e>
                      </m:d>
                      <m:r>
                        <a:rPr lang="en-US" i="0"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𝜖</m:t>
                          </m:r>
                        </m:e>
                        <m:sub>
                          <m:r>
                            <a:rPr lang="en-US" i="1" smtClean="0">
                              <a:latin typeface="Cambria Math" panose="02040503050406030204" pitchFamily="18" charset="0"/>
                            </a:rPr>
                            <m:t>𝑡</m:t>
                          </m:r>
                        </m:sub>
                      </m:sSub>
                    </m:oMath>
                  </m:oMathPara>
                </a14:m>
                <a:endParaRPr lang="en-US" dirty="0"/>
              </a:p>
              <a:p>
                <a:r>
                  <a:rPr lang="en-US" dirty="0"/>
                  <a:t>Substituting various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𝑘</m:t>
                        </m:r>
                      </m:sub>
                    </m:sSub>
                  </m:oMath>
                </a14:m>
                <a:r>
                  <a:rPr lang="en-US" dirty="0"/>
                  <a:t>s</a:t>
                </a:r>
              </a:p>
              <a:p>
                <a:pPr marL="0" indent="0">
                  <a:buNone/>
                </a:pPr>
                <a14:m>
                  <m:oMathPara xmlns:m="http://schemas.openxmlformats.org/officeDocument/2006/math">
                    <m:oMath>
                      <m:eqArr>
                        <m:eqArrPr>
                          <m:ctrlPr>
                            <a:rPr lang="en-US" i="1">
                              <a:latin typeface="Cambria Math" panose="02040503050406030204" pitchFamily="18" charset="0"/>
                            </a:rPr>
                          </m:ctrlPr>
                        </m:eqArrPr>
                        <m:e>
                          <m:m>
                            <m:mPr>
                              <m:plcHide m:val="on"/>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m:t>
                                </m:r>
                              </m:e>
                            </m:mr>
                            <m:mr>
                              <m:e/>
                              <m:e>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𝑘</m:t>
                                    </m:r>
                                  </m:sub>
                                </m:sSub>
                                <m:r>
                                  <a:rPr lang="en-US" i="1">
                                    <a:latin typeface="Cambria Math" panose="02040503050406030204" pitchFamily="18" charset="0"/>
                                  </a:rPr>
                                  <m:t>)</m:t>
                                </m:r>
                              </m:e>
                            </m:mr>
                            <m:mr>
                              <m:e/>
                              <m:e>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𝑟</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𝑎</m:t>
                                </m:r>
                                <m:r>
                                  <m:rPr>
                                    <m:sty m:val="p"/>
                                  </m:rPr>
                                  <a:rPr lang="en-US">
                                    <a:latin typeface="Cambria Math" panose="02040503050406030204" pitchFamily="18" charset="0"/>
                                  </a:rPr>
                                  <m:t>cos</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𝑏</m:t>
                                </m:r>
                                <m:r>
                                  <m:rPr>
                                    <m:sty m:val="p"/>
                                  </m:rPr>
                                  <a:rPr lang="en-US">
                                    <a:latin typeface="Cambria Math" panose="02040503050406030204" pitchFamily="18" charset="0"/>
                                  </a:rPr>
                                  <m:t>sin</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𝑜</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m:t>
                                </m:r>
                              </m:e>
                            </m:mr>
                          </m:m>
                        </m:e>
                      </m:eqAr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E06E232A-D1B5-150A-CC82-BE1EBAD62402}"/>
                  </a:ext>
                </a:extLst>
              </p:cNvPr>
              <p:cNvSpPr>
                <a:spLocks noGrp="1" noRot="1" noChangeAspect="1" noMove="1" noResize="1" noEditPoints="1" noAdjustHandles="1" noChangeArrowheads="1" noChangeShapeType="1" noTextEdit="1"/>
              </p:cNvSpPr>
              <p:nvPr>
                <p:ph idx="1"/>
              </p:nvPr>
            </p:nvSpPr>
            <p:spPr>
              <a:blipFill>
                <a:blip r:embed="rId2"/>
                <a:stretch>
                  <a:fillRect l="-749" t="-236"/>
                </a:stretch>
              </a:blipFill>
            </p:spPr>
            <p:txBody>
              <a:bodyPr/>
              <a:lstStyle/>
              <a:p>
                <a:r>
                  <a:rPr lang="en-IN">
                    <a:noFill/>
                  </a:rPr>
                  <a:t> </a:t>
                </a:r>
              </a:p>
            </p:txBody>
          </p:sp>
        </mc:Fallback>
      </mc:AlternateContent>
    </p:spTree>
    <p:extLst>
      <p:ext uri="{BB962C8B-B14F-4D97-AF65-F5344CB8AC3E}">
        <p14:creationId xmlns:p14="http://schemas.microsoft.com/office/powerpoint/2010/main" val="392290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931C2-2A8F-DB14-3EF4-D7E43DEE14C7}"/>
              </a:ext>
            </a:extLst>
          </p:cNvPr>
          <p:cNvSpPr>
            <a:spLocks noGrp="1"/>
          </p:cNvSpPr>
          <p:nvPr>
            <p:ph type="title"/>
          </p:nvPr>
        </p:nvSpPr>
        <p:spPr/>
        <p:txBody>
          <a:bodyPr/>
          <a:lstStyle/>
          <a:p>
            <a:r>
              <a:rPr lang="en-US" dirty="0"/>
              <a:t>Blue of time series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3FCEAC-8E39-6454-2294-BBEC9766DBF9}"/>
                  </a:ext>
                </a:extLst>
              </p:cNvPr>
              <p:cNvSpPr>
                <a:spLocks noGrp="1"/>
              </p:cNvSpPr>
              <p:nvPr>
                <p:ph idx="1"/>
              </p:nvPr>
            </p:nvSpPr>
            <p:spPr/>
            <p:txBody>
              <a:bodyPr>
                <a:normAutofit fontScale="92500"/>
              </a:bodyPr>
              <a:lstStyle/>
              <a:p>
                <a:r>
                  <a:rPr lang="en-US" dirty="0"/>
                  <a:t>These can be written compactly as </a:t>
                </a:r>
              </a:p>
              <a:p>
                <a:pPr marL="0" indent="0">
                  <a:buNone/>
                </a:pPr>
                <a14:m>
                  <m:oMathPara xmlns:m="http://schemas.openxmlformats.org/officeDocument/2006/math">
                    <m:oMath>
                      <m:r>
                        <a:rPr lang="en-US" i="1" dirty="0">
                          <a:latin typeface="Cambria Math" panose="02040503050406030204" pitchFamily="18" charset="0"/>
                        </a:rPr>
                        <m:t>𝑌</m:t>
                      </m:r>
                      <m:r>
                        <a:rPr lang="en-US" dirty="0">
                          <a:latin typeface="Cambria Math" panose="02040503050406030204" pitchFamily="18" charset="0"/>
                        </a:rPr>
                        <m:t>=</m:t>
                      </m:r>
                      <m:r>
                        <m:rPr>
                          <m:sty m:val="p"/>
                        </m:rPr>
                        <a:rPr lang="en-US" dirty="0">
                          <a:latin typeface="Cambria Math" panose="02040503050406030204" pitchFamily="18" charset="0"/>
                        </a:rPr>
                        <m:t>Ax</m:t>
                      </m:r>
                      <m:r>
                        <a:rPr lang="en-US" dirty="0">
                          <a:latin typeface="Cambria Math" panose="02040503050406030204" pitchFamily="18" charset="0"/>
                        </a:rPr>
                        <m:t>+</m:t>
                      </m:r>
                      <m:r>
                        <a:rPr lang="en-US" i="1" dirty="0">
                          <a:latin typeface="Cambria Math" panose="02040503050406030204" pitchFamily="18" charset="0"/>
                        </a:rPr>
                        <m:t>𝜖</m:t>
                      </m:r>
                    </m:oMath>
                  </m:oMathPara>
                </a14:m>
                <a:endParaRPr lang="en-US" dirty="0"/>
              </a:p>
              <a:p>
                <a:pPr marL="0" indent="0">
                  <a:buNone/>
                </a:pPr>
                <a14:m>
                  <m:oMathPara xmlns:m="http://schemas.openxmlformats.org/officeDocument/2006/math">
                    <m:oMath>
                      <m:m>
                        <m:mPr>
                          <m:plcHide m:val="on"/>
                          <m:mcs>
                            <m:mc>
                              <m:mcPr>
                                <m:count m:val="1"/>
                                <m:mcJc m:val="center"/>
                              </m:mcPr>
                            </m:mc>
                          </m:mcs>
                          <m:ctrlPr>
                            <a:rPr lang="en-US" i="1" dirty="0">
                              <a:latin typeface="Cambria Math" panose="02040503050406030204" pitchFamily="18" charset="0"/>
                            </a:rPr>
                          </m:ctrlPr>
                        </m:mPr>
                        <m:mr>
                          <m:e>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dirty="0">
                                                      <a:latin typeface="Cambria Math" panose="02040503050406030204" pitchFamily="18" charset="0"/>
                                                    </a:rPr>
                                                    <m:t>1</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𝑘</m:t>
                                                  </m:r>
                                                  <m:r>
                                                    <a:rPr lang="en-US" dirty="0">
                                                      <a:latin typeface="Cambria Math" panose="02040503050406030204" pitchFamily="18" charset="0"/>
                                                    </a:rPr>
                                                    <m:t>−1</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𝑘</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𝑚</m:t>
                                                  </m:r>
                                                </m:sub>
                                              </m:sSub>
                                            </m:e>
                                          </m:mr>
                                        </m:m>
                                      </m:e>
                                    </m:d>
                                  </m:e>
                                </m:groupChr>
                              </m:e>
                              <m:lim>
                                <m:r>
                                  <a:rPr lang="en-US" i="1" dirty="0">
                                    <a:latin typeface="Cambria Math" panose="02040503050406030204" pitchFamily="18" charset="0"/>
                                  </a:rPr>
                                  <m:t>𝑌</m:t>
                                </m:r>
                              </m:lim>
                            </m:limUpp>
                            <m:r>
                              <a:rPr lang="en-US" dirty="0">
                                <a:latin typeface="Cambria Math" panose="02040503050406030204" pitchFamily="18" charset="0"/>
                              </a:rPr>
                              <m:t>=</m:t>
                            </m:r>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5"/>
                                                  <m:mcJc m:val="center"/>
                                                </m:mcPr>
                                              </m:mc>
                                            </m:mcs>
                                            <m:ctrlPr>
                                              <a:rPr lang="en-US" i="1" dirty="0">
                                                <a:latin typeface="Cambria Math" panose="02040503050406030204" pitchFamily="18" charset="0"/>
                                              </a:rPr>
                                            </m:ctrlPr>
                                          </m:mP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func>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dirty="0">
                                                          <a:latin typeface="Cambria Math" panose="02040503050406030204" pitchFamily="18" charset="0"/>
                                                        </a:rPr>
                                                        <m:t>1</m:t>
                                                      </m:r>
                                                    </m:sub>
                                                  </m:sSub>
                                                </m:e>
                                              </m:func>
                                            </m:e>
                                            <m:e>
                                              <m:r>
                                                <a:rPr lang="en-US" dirty="0">
                                                  <a:latin typeface="Cambria Math" panose="02040503050406030204" pitchFamily="18" charset="0"/>
                                                </a:rPr>
                                                <m:t>0</m:t>
                                              </m:r>
                                            </m:e>
                                          </m:mr>
                                          <m:mr>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func>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r>
                                                        <a:rPr lang="en-US" dirty="0">
                                                          <a:latin typeface="Cambria Math" panose="02040503050406030204" pitchFamily="18" charset="0"/>
                                                        </a:rPr>
                                                        <m:t>−1</m:t>
                                                      </m:r>
                                                    </m:sub>
                                                  </m:sSub>
                                                </m:e>
                                              </m:func>
                                            </m:e>
                                            <m:e>
                                              <m:r>
                                                <a:rPr lang="en-US" dirty="0">
                                                  <a:latin typeface="Cambria Math" panose="02040503050406030204" pitchFamily="18" charset="0"/>
                                                </a:rPr>
                                                <m:t>0</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func>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𝑘</m:t>
                                                      </m:r>
                                                    </m:sub>
                                                  </m:sSub>
                                                </m:e>
                                              </m:func>
                                            </m:e>
                                            <m:e>
                                              <m:r>
                                                <a:rPr lang="en-US" dirty="0">
                                                  <a:latin typeface="Cambria Math" panose="02040503050406030204" pitchFamily="18" charset="0"/>
                                                </a:rPr>
                                                <m:t>1</m:t>
                                              </m:r>
                                            </m:e>
                                          </m:mr>
                                          <m:mr>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e>
                                              <m:r>
                                                <a:rPr lang="en-US" dirty="0">
                                                  <a:latin typeface="Cambria Math" panose="02040503050406030204" pitchFamily="18" charset="0"/>
                                                </a:rPr>
                                                <m:t>⋮</m:t>
                                              </m:r>
                                            </m:e>
                                          </m:mr>
                                          <m:mr>
                                            <m:e>
                                              <m:r>
                                                <a:rPr lang="en-US" dirty="0">
                                                  <a:latin typeface="Cambria Math" panose="02040503050406030204" pitchFamily="18" charset="0"/>
                                                </a:rPr>
                                                <m:t>1</m:t>
                                              </m:r>
                                            </m:e>
                                            <m:e>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func>
                                            </m:e>
                                            <m:e>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sin</m:t>
                                                  </m:r>
                                                </m:fName>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dirty="0">
                                                          <a:latin typeface="Cambria Math" panose="02040503050406030204" pitchFamily="18" charset="0"/>
                                                        </a:rPr>
                                                        <m:t>0</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𝑡</m:t>
                                                      </m:r>
                                                    </m:e>
                                                    <m:sub>
                                                      <m:r>
                                                        <a:rPr lang="en-US" i="1" dirty="0">
                                                          <a:latin typeface="Cambria Math" panose="02040503050406030204" pitchFamily="18" charset="0"/>
                                                        </a:rPr>
                                                        <m:t>𝑚</m:t>
                                                      </m:r>
                                                    </m:sub>
                                                  </m:sSub>
                                                </m:e>
                                              </m:func>
                                            </m:e>
                                            <m:e>
                                              <m:r>
                                                <a:rPr lang="en-US" dirty="0">
                                                  <a:latin typeface="Cambria Math" panose="02040503050406030204" pitchFamily="18" charset="0"/>
                                                </a:rPr>
                                                <m:t>1</m:t>
                                              </m:r>
                                            </m:e>
                                          </m:mr>
                                        </m:m>
                                      </m:e>
                                    </m:d>
                                  </m:e>
                                </m:groupChr>
                              </m:e>
                              <m:lim>
                                <m:r>
                                  <m:rPr>
                                    <m:sty m:val="p"/>
                                  </m:rPr>
                                  <a:rPr lang="en-US" dirty="0">
                                    <a:latin typeface="Cambria Math" panose="02040503050406030204" pitchFamily="18" charset="0"/>
                                  </a:rPr>
                                  <m:t>A</m:t>
                                </m:r>
                              </m:lim>
                            </m:limUpp>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dirty="0">
                                                      <a:latin typeface="Cambria Math" panose="02040503050406030204" pitchFamily="18" charset="0"/>
                                                    </a:rPr>
                                                    <m:t>0</m:t>
                                                  </m:r>
                                                </m:sub>
                                              </m:sSub>
                                            </m:e>
                                          </m:mr>
                                          <m:mr>
                                            <m:e>
                                              <m:r>
                                                <a:rPr lang="en-US" i="1" dirty="0">
                                                  <a:latin typeface="Cambria Math" panose="02040503050406030204" pitchFamily="18" charset="0"/>
                                                </a:rPr>
                                                <m:t>𝑟</m:t>
                                              </m:r>
                                            </m:e>
                                          </m:mr>
                                          <m:mr>
                                            <m:e>
                                              <m:r>
                                                <a:rPr lang="en-US" i="1" dirty="0">
                                                  <a:latin typeface="Cambria Math" panose="02040503050406030204" pitchFamily="18" charset="0"/>
                                                </a:rPr>
                                                <m:t>𝑎</m:t>
                                              </m:r>
                                            </m:e>
                                          </m:mr>
                                          <m:mr>
                                            <m:e>
                                              <m:r>
                                                <a:rPr lang="en-US" i="1" dirty="0">
                                                  <a:latin typeface="Cambria Math" panose="02040503050406030204" pitchFamily="18" charset="0"/>
                                                </a:rPr>
                                                <m:t>𝑏</m:t>
                                              </m:r>
                                            </m:e>
                                          </m:mr>
                                          <m:mr>
                                            <m:e>
                                              <m:r>
                                                <a:rPr lang="en-US" i="1" dirty="0">
                                                  <a:latin typeface="Cambria Math" panose="02040503050406030204" pitchFamily="18" charset="0"/>
                                                </a:rPr>
                                                <m:t>𝑜</m:t>
                                              </m:r>
                                            </m:e>
                                          </m:mr>
                                        </m:m>
                                      </m:e>
                                    </m:d>
                                  </m:e>
                                </m:groupChr>
                              </m:e>
                              <m:lim>
                                <m:r>
                                  <m:rPr>
                                    <m:sty m:val="p"/>
                                  </m:rPr>
                                  <a:rPr lang="en-US" dirty="0">
                                    <a:latin typeface="Cambria Math" panose="02040503050406030204" pitchFamily="18" charset="0"/>
                                  </a:rPr>
                                  <m:t>x</m:t>
                                </m:r>
                              </m:lim>
                            </m:limUpp>
                            <m:r>
                              <a:rPr lang="en-US" dirty="0">
                                <a:latin typeface="Cambria Math" panose="02040503050406030204" pitchFamily="18" charset="0"/>
                              </a:rPr>
                              <m:t>+</m:t>
                            </m:r>
                            <m:limUpp>
                              <m:limUppPr>
                                <m:ctrlPr>
                                  <a:rPr lang="en-US" i="1" dirty="0">
                                    <a:latin typeface="Cambria Math" panose="02040503050406030204" pitchFamily="18" charset="0"/>
                                  </a:rPr>
                                </m:ctrlPr>
                              </m:limUppPr>
                              <m:e>
                                <m:groupChr>
                                  <m:groupChrPr>
                                    <m:chr m:val="⏞"/>
                                    <m:pos m:val="top"/>
                                    <m:vertJc m:val="bot"/>
                                    <m:ctrlPr>
                                      <a:rPr lang="en-US" i="1" dirty="0">
                                        <a:latin typeface="Cambria Math" panose="02040503050406030204" pitchFamily="18" charset="0"/>
                                      </a:rPr>
                                    </m:ctrlPr>
                                  </m:groupChrPr>
                                  <m:e>
                                    <m:d>
                                      <m:dPr>
                                        <m:begChr m:val="["/>
                                        <m:endChr m:val="]"/>
                                        <m:ctrlPr>
                                          <a:rPr lang="en-US" i="1" dirty="0">
                                            <a:latin typeface="Cambria Math" panose="02040503050406030204" pitchFamily="18" charset="0"/>
                                          </a:rPr>
                                        </m:ctrlPr>
                                      </m:dPr>
                                      <m:e>
                                        <m:m>
                                          <m:mPr>
                                            <m:plcHide m:val="on"/>
                                            <m:mcs>
                                              <m:mc>
                                                <m:mcPr>
                                                  <m:count m:val="1"/>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dirty="0">
                                                      <a:latin typeface="Cambria Math" panose="02040503050406030204" pitchFamily="18" charset="0"/>
                                                    </a:rPr>
                                                    <m:t>1</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𝑘</m:t>
                                                  </m:r>
                                                  <m:r>
                                                    <a:rPr lang="en-US" dirty="0">
                                                      <a:latin typeface="Cambria Math" panose="02040503050406030204" pitchFamily="18" charset="0"/>
                                                    </a:rPr>
                                                    <m:t>−1</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𝑘</m:t>
                                                  </m:r>
                                                </m:sub>
                                              </m:sSub>
                                            </m:e>
                                          </m:mr>
                                          <m:mr>
                                            <m:e>
                                              <m:r>
                                                <a:rPr lang="en-US"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𝜖</m:t>
                                                  </m:r>
                                                </m:e>
                                                <m:sub>
                                                  <m:r>
                                                    <a:rPr lang="en-US" i="1" dirty="0">
                                                      <a:latin typeface="Cambria Math" panose="02040503050406030204" pitchFamily="18" charset="0"/>
                                                    </a:rPr>
                                                    <m:t>𝑚</m:t>
                                                  </m:r>
                                                </m:sub>
                                              </m:sSub>
                                            </m:e>
                                          </m:mr>
                                        </m:m>
                                      </m:e>
                                    </m:d>
                                  </m:e>
                                </m:groupChr>
                              </m:e>
                              <m:lim>
                                <m:r>
                                  <a:rPr lang="en-US" i="1" dirty="0">
                                    <a:latin typeface="Cambria Math" panose="02040503050406030204" pitchFamily="18" charset="0"/>
                                  </a:rPr>
                                  <m:t>𝜖</m:t>
                                </m:r>
                              </m:lim>
                            </m:limUpp>
                          </m:e>
                        </m:mr>
                      </m:m>
                    </m:oMath>
                  </m:oMathPara>
                </a14:m>
                <a:endParaRPr lang="en-US" dirty="0"/>
              </a:p>
              <a:p>
                <a:pPr marL="0" indent="0">
                  <a:buNone/>
                </a:pPr>
                <a14:m>
                  <m:oMathPara xmlns:m="http://schemas.openxmlformats.org/officeDocument/2006/math">
                    <m:oMath>
                      <m:m>
                        <m:mPr>
                          <m:plcHide m:val="on"/>
                          <m:mcs>
                            <m:mc>
                              <m:mcPr>
                                <m:count m:val="1"/>
                                <m:mcJc m:val="center"/>
                              </m:mcPr>
                            </m:mc>
                          </m:mcs>
                          <m:ctrlPr>
                            <a:rPr lang="en-US" i="1">
                              <a:latin typeface="Cambria Math" panose="02040503050406030204" pitchFamily="18" charset="0"/>
                            </a:rPr>
                          </m:ctrlPr>
                        </m:mPr>
                        <m:mr>
                          <m:e>
                            <m:sSub>
                              <m:sSubPr>
                                <m:ctrlPr>
                                  <a:rPr lang="en-US">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𝑌</m:t>
                                </m:r>
                              </m:sub>
                            </m:sSub>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4"/>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a:latin typeface="Cambria Math" panose="02040503050406030204" pitchFamily="18" charset="0"/>
                                            </a:rPr>
                                            <m:t>1</m:t>
                                          </m:r>
                                        </m:sub>
                                        <m:sup>
                                          <m:r>
                                            <a:rPr lang="en-US">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a:latin typeface="Cambria Math" panose="02040503050406030204" pitchFamily="18" charset="0"/>
                                            </a:rPr>
                                            <m:t>12</m:t>
                                          </m:r>
                                        </m:sub>
                                      </m:sSub>
                                    </m:e>
                                    <m:e>
                                      <m:r>
                                        <a:rPr lang="en-US">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a:latin typeface="Cambria Math" panose="02040503050406030204" pitchFamily="18" charset="0"/>
                                            </a:rPr>
                                            <m:t>1</m:t>
                                          </m:r>
                                          <m:r>
                                            <a:rPr lang="en-US" i="1">
                                              <a:latin typeface="Cambria Math" panose="02040503050406030204" pitchFamily="18" charset="0"/>
                                            </a:rPr>
                                            <m:t>𝑚</m:t>
                                          </m:r>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a:latin typeface="Cambria Math" panose="02040503050406030204" pitchFamily="18" charset="0"/>
                                            </a:rPr>
                                            <m:t>21</m:t>
                                          </m:r>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a:latin typeface="Cambria Math" panose="02040503050406030204" pitchFamily="18" charset="0"/>
                                            </a:rPr>
                                            <m:t>2</m:t>
                                          </m:r>
                                        </m:sub>
                                        <m:sup>
                                          <m:r>
                                            <a:rPr lang="en-US">
                                              <a:latin typeface="Cambria Math" panose="02040503050406030204" pitchFamily="18" charset="0"/>
                                            </a:rPr>
                                            <m:t>2</m:t>
                                          </m:r>
                                        </m:sup>
                                      </m:sSubSup>
                                    </m:e>
                                    <m:e/>
                                    <m:e/>
                                  </m:mr>
                                  <m:mr>
                                    <m:e>
                                      <m:r>
                                        <a:rPr lang="en-US">
                                          <a:latin typeface="Cambria Math" panose="02040503050406030204" pitchFamily="18" charset="0"/>
                                        </a:rPr>
                                        <m:t>⋮</m:t>
                                      </m:r>
                                    </m:e>
                                    <m:e>
                                      <m:r>
                                        <a:rPr lang="en-US">
                                          <a:latin typeface="Cambria Math" panose="02040503050406030204" pitchFamily="18" charset="0"/>
                                        </a:rPr>
                                        <m:t>⋮</m:t>
                                      </m:r>
                                    </m:e>
                                    <m:e>
                                      <m:r>
                                        <a:rPr lang="en-US">
                                          <a:latin typeface="Cambria Math" panose="02040503050406030204" pitchFamily="18" charset="0"/>
                                        </a:rPr>
                                        <m:t>⋱</m:t>
                                      </m:r>
                                    </m:e>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m:t>
                                          </m:r>
                                          <m:r>
                                            <a:rPr lang="en-US">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m:t>
                                          </m:r>
                                          <m:r>
                                            <a:rPr lang="en-US">
                                              <a:latin typeface="Cambria Math" panose="02040503050406030204" pitchFamily="18" charset="0"/>
                                            </a:rPr>
                                            <m:t>2</m:t>
                                          </m:r>
                                        </m:sub>
                                      </m:sSub>
                                    </m:e>
                                    <m:e>
                                      <m:r>
                                        <a:rPr lang="en-US">
                                          <a:latin typeface="Cambria Math" panose="02040503050406030204" pitchFamily="18" charset="0"/>
                                        </a:rPr>
                                        <m:t>…</m:t>
                                      </m:r>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𝑚</m:t>
                                          </m:r>
                                        </m:sub>
                                        <m:sup>
                                          <m:r>
                                            <a:rPr lang="en-US">
                                              <a:latin typeface="Cambria Math" panose="02040503050406030204" pitchFamily="18" charset="0"/>
                                            </a:rPr>
                                            <m:t>2</m:t>
                                          </m:r>
                                        </m:sup>
                                      </m:sSubSup>
                                    </m:e>
                                  </m:mr>
                                </m:m>
                              </m:e>
                            </m:d>
                          </m:e>
                        </m:mr>
                      </m:m>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E3FCEAC-8E39-6454-2294-BBEC9766DBF9}"/>
                  </a:ext>
                </a:extLst>
              </p:cNvPr>
              <p:cNvSpPr>
                <a:spLocks noGrp="1" noRot="1" noChangeAspect="1" noMove="1" noResize="1" noEditPoints="1" noAdjustHandles="1" noChangeArrowheads="1" noChangeShapeType="1" noTextEdit="1"/>
              </p:cNvSpPr>
              <p:nvPr>
                <p:ph idx="1"/>
              </p:nvPr>
            </p:nvSpPr>
            <p:spPr>
              <a:blipFill>
                <a:blip r:embed="rId2"/>
                <a:stretch>
                  <a:fillRect l="-634" t="-707"/>
                </a:stretch>
              </a:blipFill>
            </p:spPr>
            <p:txBody>
              <a:bodyPr/>
              <a:lstStyle/>
              <a:p>
                <a:r>
                  <a:rPr lang="en-US">
                    <a:noFill/>
                  </a:rPr>
                  <a:t> </a:t>
                </a:r>
              </a:p>
            </p:txBody>
          </p:sp>
        </mc:Fallback>
      </mc:AlternateContent>
    </p:spTree>
    <p:extLst>
      <p:ext uri="{BB962C8B-B14F-4D97-AF65-F5344CB8AC3E}">
        <p14:creationId xmlns:p14="http://schemas.microsoft.com/office/powerpoint/2010/main" val="1436303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136E3-37B1-318D-CBEC-96C3070AC3A7}"/>
              </a:ext>
            </a:extLst>
          </p:cNvPr>
          <p:cNvSpPr>
            <a:spLocks noGrp="1"/>
          </p:cNvSpPr>
          <p:nvPr>
            <p:ph type="title"/>
          </p:nvPr>
        </p:nvSpPr>
        <p:spPr/>
        <p:txBody>
          <a:bodyPr/>
          <a:lstStyle/>
          <a:p>
            <a:r>
              <a:rPr lang="en-US" dirty="0"/>
              <a:t>Blue of time series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018769-2BB3-565D-6590-85E6A5790624}"/>
                  </a:ext>
                </a:extLst>
              </p:cNvPr>
              <p:cNvSpPr>
                <a:spLocks noGrp="1"/>
              </p:cNvSpPr>
              <p:nvPr>
                <p:ph idx="1"/>
              </p:nvPr>
            </p:nvSpPr>
            <p:spPr/>
            <p:txBody>
              <a:bodyPr>
                <a:normAutofit fontScale="92500"/>
              </a:bodyPr>
              <a:lstStyle/>
              <a:p>
                <a:r>
                  <a:rPr lang="en-US" dirty="0"/>
                  <a:t>Assuming </a:t>
                </a:r>
                <a14:m>
                  <m:oMath xmlns:m="http://schemas.openxmlformats.org/officeDocument/2006/math">
                    <m:sSub>
                      <m:sSubPr>
                        <m:ctrlPr>
                          <a:rPr lang="en-US">
                            <a:latin typeface="Cambria Math" panose="02040503050406030204" pitchFamily="18" charset="0"/>
                          </a:rPr>
                        </m:ctrlPr>
                      </m:sSubPr>
                      <m:e>
                        <m:r>
                          <m:rPr>
                            <m:sty m:val="p"/>
                          </m:rPr>
                          <a:rPr lang="en-US">
                            <a:latin typeface="Cambria Math" panose="02040503050406030204" pitchFamily="18" charset="0"/>
                          </a:rPr>
                          <m:t>Σ</m:t>
                        </m:r>
                      </m:e>
                      <m:sub>
                        <m:r>
                          <a:rPr lang="en-US" i="1">
                            <a:latin typeface="Cambria Math" panose="02040503050406030204" pitchFamily="18" charset="0"/>
                          </a:rPr>
                          <m:t>𝑌</m:t>
                        </m:r>
                      </m:sub>
                    </m:sSub>
                  </m:oMath>
                </a14:m>
                <a:r>
                  <a:rPr lang="en-US" dirty="0"/>
                  <a:t> is known, BLUE can be estimated as</a:t>
                </a:r>
              </a:p>
              <a:p>
                <a:pPr marL="0" indent="0">
                  <a:buNone/>
                </a:pPr>
                <a14:m>
                  <m:oMathPara xmlns:m="http://schemas.openxmlformats.org/officeDocument/2006/math">
                    <m:oMath>
                      <m:m>
                        <m:mPr>
                          <m:plcHide m:val="on"/>
                          <m:mcs>
                            <m:mc>
                              <m:mcPr>
                                <m:count m:val="1"/>
                                <m:mcJc m:val="center"/>
                              </m:mcPr>
                            </m:mc>
                          </m:mcs>
                          <m:ctrlPr>
                            <a:rPr lang="en-US" i="1" smtClean="0">
                              <a:latin typeface="Cambria Math" panose="02040503050406030204" pitchFamily="18" charset="0"/>
                            </a:rPr>
                          </m:ctrlPr>
                        </m:mPr>
                        <m:mr>
                          <m:e>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0">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e>
                                  </m:mr>
                                  <m:mr>
                                    <m:e>
                                      <m:acc>
                                        <m:accPr>
                                          <m:chr m:val="̂"/>
                                          <m:ctrlPr>
                                            <a:rPr lang="en-US" i="1">
                                              <a:latin typeface="Cambria Math" panose="02040503050406030204" pitchFamily="18" charset="0"/>
                                            </a:rPr>
                                          </m:ctrlPr>
                                        </m:accPr>
                                        <m:e>
                                          <m:r>
                                            <a:rPr lang="en-US" i="1">
                                              <a:latin typeface="Cambria Math" panose="02040503050406030204" pitchFamily="18" charset="0"/>
                                            </a:rPr>
                                            <m:t>𝑟</m:t>
                                          </m:r>
                                        </m:e>
                                      </m:acc>
                                    </m:e>
                                  </m:mr>
                                  <m:mr>
                                    <m:e>
                                      <m:acc>
                                        <m:accPr>
                                          <m:chr m:val="̂"/>
                                          <m:ctrlPr>
                                            <a:rPr lang="en-US" i="1">
                                              <a:latin typeface="Cambria Math" panose="02040503050406030204" pitchFamily="18" charset="0"/>
                                            </a:rPr>
                                          </m:ctrlPr>
                                        </m:accPr>
                                        <m:e>
                                          <m:r>
                                            <a:rPr lang="en-US" i="1">
                                              <a:latin typeface="Cambria Math" panose="02040503050406030204" pitchFamily="18" charset="0"/>
                                            </a:rPr>
                                            <m:t>𝑎</m:t>
                                          </m:r>
                                        </m:e>
                                      </m:acc>
                                    </m:e>
                                  </m:mr>
                                  <m:m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mr>
                                  <m:mr>
                                    <m:e>
                                      <m:acc>
                                        <m:accPr>
                                          <m:chr m:val="̂"/>
                                          <m:ctrlPr>
                                            <a:rPr lang="en-US" i="1">
                                              <a:latin typeface="Cambria Math" panose="02040503050406030204" pitchFamily="18" charset="0"/>
                                            </a:rPr>
                                          </m:ctrlPr>
                                        </m:accPr>
                                        <m:e>
                                          <m:r>
                                            <a:rPr lang="en-US" i="1">
                                              <a:latin typeface="Cambria Math" panose="02040503050406030204" pitchFamily="18" charset="0"/>
                                            </a:rPr>
                                            <m:t>𝑜</m:t>
                                          </m:r>
                                        </m:e>
                                      </m:acc>
                                    </m:e>
                                  </m:mr>
                                </m:m>
                              </m:e>
                            </m:d>
                            <m:r>
                              <a:rPr lang="en-US" i="0">
                                <a:latin typeface="Cambria Math" panose="02040503050406030204" pitchFamily="18" charset="0"/>
                              </a:rPr>
                              <m:t>, </m:t>
                            </m:r>
                            <m:sSub>
                              <m:sSubPr>
                                <m:ctrlPr>
                                  <a:rPr lang="en-US" i="0">
                                    <a:latin typeface="Cambria Math" panose="02040503050406030204" pitchFamily="18" charset="0"/>
                                  </a:rPr>
                                </m:ctrlPr>
                              </m:sSubPr>
                              <m:e>
                                <m:r>
                                  <m:rPr>
                                    <m:sty m:val="p"/>
                                  </m:rPr>
                                  <a:rPr lang="en-US" i="0">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𝑋</m:t>
                                    </m:r>
                                  </m:e>
                                </m:acc>
                              </m:sub>
                            </m:sSub>
                            <m:r>
                              <a:rPr lang="en-US" i="0">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5"/>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𝜎</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sub>
                                        <m:sup>
                                          <m:r>
                                            <a:rPr lang="en-US" i="0">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acc>
                                            <m:accPr>
                                              <m:chr m:val="̂"/>
                                              <m:ctrlPr>
                                                <a:rPr lang="en-US" i="1">
                                                  <a:latin typeface="Cambria Math" panose="02040503050406030204" pitchFamily="18" charset="0"/>
                                                </a:rPr>
                                              </m:ctrlPr>
                                            </m:accPr>
                                            <m:e>
                                              <m:r>
                                                <a:rPr lang="en-US" i="1">
                                                  <a:latin typeface="Cambria Math" panose="02040503050406030204" pitchFamily="18" charset="0"/>
                                                </a:rPr>
                                                <m:t>𝑟</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acc>
                                            <m:accPr>
                                              <m:chr m:val="̂"/>
                                              <m:ctrlPr>
                                                <a:rPr lang="en-US" i="1">
                                                  <a:latin typeface="Cambria Math" panose="02040503050406030204" pitchFamily="18" charset="0"/>
                                                </a:rPr>
                                              </m:ctrlPr>
                                            </m:accPr>
                                            <m:e>
                                              <m:r>
                                                <a:rPr lang="en-US" i="1">
                                                  <a:latin typeface="Cambria Math" panose="02040503050406030204" pitchFamily="18" charset="0"/>
                                                </a:rPr>
                                                <m:t>𝑎</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acc>
                                            <m:accPr>
                                              <m:chr m:val="̂"/>
                                              <m:ctrlPr>
                                                <a:rPr lang="en-US" i="1">
                                                  <a:latin typeface="Cambria Math" panose="02040503050406030204" pitchFamily="18" charset="0"/>
                                                </a:rPr>
                                              </m:ctrlPr>
                                            </m:accPr>
                                            <m:e>
                                              <m:r>
                                                <a:rPr lang="en-US" i="1">
                                                  <a:latin typeface="Cambria Math" panose="02040503050406030204" pitchFamily="18" charset="0"/>
                                                </a:rPr>
                                                <m:t>𝑏</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acc>
                                            <m:accPr>
                                              <m:chr m:val="̂"/>
                                              <m:ctrlPr>
                                                <a:rPr lang="en-US" i="1">
                                                  <a:latin typeface="Cambria Math" panose="02040503050406030204" pitchFamily="18" charset="0"/>
                                                </a:rPr>
                                              </m:ctrlPr>
                                            </m:accPr>
                                            <m:e>
                                              <m:r>
                                                <a:rPr lang="en-US" i="1">
                                                  <a:latin typeface="Cambria Math" panose="02040503050406030204" pitchFamily="18" charset="0"/>
                                                </a:rPr>
                                                <m:t>𝑜</m:t>
                                              </m:r>
                                            </m:e>
                                          </m:acc>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0">
                                                  <a:latin typeface="Cambria Math" panose="02040503050406030204" pitchFamily="18" charset="0"/>
                                                </a:rPr>
                                                <m:t>0</m:t>
                                              </m:r>
                                            </m:sub>
                                          </m:sSub>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sub>
                                        <m:sup>
                                          <m:r>
                                            <a:rPr lang="en-US" i="0">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acc>
                                            <m:accPr>
                                              <m:chr m:val="̂"/>
                                              <m:ctrlPr>
                                                <a:rPr lang="en-US" i="1">
                                                  <a:latin typeface="Cambria Math" panose="02040503050406030204" pitchFamily="18" charset="0"/>
                                                </a:rPr>
                                              </m:ctrlPr>
                                            </m:accPr>
                                            <m:e>
                                              <m:r>
                                                <a:rPr lang="en-US" i="1">
                                                  <a:latin typeface="Cambria Math" panose="02040503050406030204" pitchFamily="18" charset="0"/>
                                                </a:rPr>
                                                <m:t>𝑎</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acc>
                                            <m:accPr>
                                              <m:chr m:val="̂"/>
                                              <m:ctrlPr>
                                                <a:rPr lang="en-US" i="1">
                                                  <a:latin typeface="Cambria Math" panose="02040503050406030204" pitchFamily="18" charset="0"/>
                                                </a:rPr>
                                              </m:ctrlPr>
                                            </m:accPr>
                                            <m:e>
                                              <m:r>
                                                <a:rPr lang="en-US" i="1">
                                                  <a:latin typeface="Cambria Math" panose="02040503050406030204" pitchFamily="18" charset="0"/>
                                                </a:rPr>
                                                <m:t>𝑏</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𝑟</m:t>
                                              </m:r>
                                            </m:e>
                                          </m:acc>
                                          <m:acc>
                                            <m:accPr>
                                              <m:chr m:val="̂"/>
                                              <m:ctrlPr>
                                                <a:rPr lang="en-US" i="1">
                                                  <a:latin typeface="Cambria Math" panose="02040503050406030204" pitchFamily="18" charset="0"/>
                                                </a:rPr>
                                              </m:ctrlPr>
                                            </m:accPr>
                                            <m:e>
                                              <m:r>
                                                <a:rPr lang="en-US" i="1">
                                                  <a:latin typeface="Cambria Math" panose="02040503050406030204" pitchFamily="18" charset="0"/>
                                                </a:rPr>
                                                <m:t>𝑜</m:t>
                                              </m:r>
                                            </m:e>
                                          </m:acc>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acc>
                                            <m:accPr>
                                              <m:chr m:val="̂"/>
                                              <m:ctrlPr>
                                                <a:rPr lang="en-US" i="1">
                                                  <a:latin typeface="Cambria Math" panose="02040503050406030204" pitchFamily="18" charset="0"/>
                                                </a:rPr>
                                              </m:ctrlPr>
                                            </m:accPr>
                                            <m:e>
                                              <m:r>
                                                <a:rPr lang="en-US" i="1">
                                                  <a:latin typeface="Cambria Math" panose="02040503050406030204" pitchFamily="18" charset="0"/>
                                                </a:rPr>
                                                <m:t>𝑟</m:t>
                                              </m:r>
                                            </m:e>
                                          </m:acc>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sub>
                                        <m:sup>
                                          <m:r>
                                            <a:rPr lang="en-US" i="0">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acc>
                                            <m:accPr>
                                              <m:chr m:val="̂"/>
                                              <m:ctrlPr>
                                                <a:rPr lang="en-US" i="1">
                                                  <a:latin typeface="Cambria Math" panose="02040503050406030204" pitchFamily="18" charset="0"/>
                                                </a:rPr>
                                              </m:ctrlPr>
                                            </m:accPr>
                                            <m:e>
                                              <m:r>
                                                <a:rPr lang="en-US" i="1">
                                                  <a:latin typeface="Cambria Math" panose="02040503050406030204" pitchFamily="18" charset="0"/>
                                                </a:rPr>
                                                <m:t>𝑏</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𝑎</m:t>
                                              </m:r>
                                            </m:e>
                                          </m:acc>
                                          <m:acc>
                                            <m:accPr>
                                              <m:chr m:val="̂"/>
                                              <m:ctrlPr>
                                                <a:rPr lang="en-US" i="1">
                                                  <a:latin typeface="Cambria Math" panose="02040503050406030204" pitchFamily="18" charset="0"/>
                                                </a:rPr>
                                              </m:ctrlPr>
                                            </m:accPr>
                                            <m:e>
                                              <m:r>
                                                <a:rPr lang="en-US" i="1">
                                                  <a:latin typeface="Cambria Math" panose="02040503050406030204" pitchFamily="18" charset="0"/>
                                                </a:rPr>
                                                <m:t>𝑜</m:t>
                                              </m:r>
                                            </m:e>
                                          </m:acc>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acc>
                                            <m:accPr>
                                              <m:chr m:val="̂"/>
                                              <m:ctrlPr>
                                                <a:rPr lang="en-US" i="1">
                                                  <a:latin typeface="Cambria Math" panose="02040503050406030204" pitchFamily="18" charset="0"/>
                                                </a:rPr>
                                              </m:ctrlPr>
                                            </m:accPr>
                                            <m:e>
                                              <m:r>
                                                <a:rPr lang="en-US" i="1">
                                                  <a:latin typeface="Cambria Math" panose="02040503050406030204" pitchFamily="18" charset="0"/>
                                                </a:rPr>
                                                <m:t>𝑟</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acc>
                                            <m:accPr>
                                              <m:chr m:val="̂"/>
                                              <m:ctrlPr>
                                                <a:rPr lang="en-US" i="1">
                                                  <a:latin typeface="Cambria Math" panose="02040503050406030204" pitchFamily="18" charset="0"/>
                                                </a:rPr>
                                              </m:ctrlPr>
                                            </m:accPr>
                                            <m:e>
                                              <m:r>
                                                <a:rPr lang="en-US" i="1">
                                                  <a:latin typeface="Cambria Math" panose="02040503050406030204" pitchFamily="18" charset="0"/>
                                                </a:rPr>
                                                <m:t>𝑎</m:t>
                                              </m:r>
                                            </m:e>
                                          </m:acc>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sub>
                                        <m:sup>
                                          <m:r>
                                            <a:rPr lang="en-US" i="0">
                                              <a:latin typeface="Cambria Math" panose="02040503050406030204" pitchFamily="18" charset="0"/>
                                            </a:rPr>
                                            <m:t>2</m:t>
                                          </m:r>
                                        </m:sup>
                                      </m:sSubSup>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𝑏</m:t>
                                              </m:r>
                                            </m:e>
                                          </m:acc>
                                          <m:acc>
                                            <m:accPr>
                                              <m:chr m:val="̂"/>
                                              <m:ctrlPr>
                                                <a:rPr lang="en-US" i="1">
                                                  <a:latin typeface="Cambria Math" panose="02040503050406030204" pitchFamily="18" charset="0"/>
                                                </a:rPr>
                                              </m:ctrlPr>
                                            </m:accPr>
                                            <m:e>
                                              <m:r>
                                                <a:rPr lang="en-US" i="1">
                                                  <a:latin typeface="Cambria Math" panose="02040503050406030204" pitchFamily="18" charset="0"/>
                                                </a:rPr>
                                                <m:t>𝑜</m:t>
                                              </m:r>
                                            </m:e>
                                          </m:acc>
                                        </m:sub>
                                      </m:sSub>
                                    </m:e>
                                  </m:mr>
                                  <m:mr>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0">
                                                      <a:latin typeface="Cambria Math" panose="02040503050406030204" pitchFamily="18" charset="0"/>
                                                    </a:rPr>
                                                    <m:t>0</m:t>
                                                  </m:r>
                                                </m:sub>
                                              </m:sSub>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acc>
                                            <m:accPr>
                                              <m:chr m:val="̂"/>
                                              <m:ctrlPr>
                                                <a:rPr lang="en-US" i="1">
                                                  <a:latin typeface="Cambria Math" panose="02040503050406030204" pitchFamily="18" charset="0"/>
                                                </a:rPr>
                                              </m:ctrlPr>
                                            </m:accPr>
                                            <m:e>
                                              <m:r>
                                                <a:rPr lang="en-US" i="1">
                                                  <a:latin typeface="Cambria Math" panose="02040503050406030204" pitchFamily="18" charset="0"/>
                                                </a:rPr>
                                                <m:t>𝑟</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acc>
                                            <m:accPr>
                                              <m:chr m:val="̂"/>
                                              <m:ctrlPr>
                                                <a:rPr lang="en-US" i="1">
                                                  <a:latin typeface="Cambria Math" panose="02040503050406030204" pitchFamily="18" charset="0"/>
                                                </a:rPr>
                                              </m:ctrlPr>
                                            </m:accPr>
                                            <m:e>
                                              <m:r>
                                                <a:rPr lang="en-US" i="1">
                                                  <a:latin typeface="Cambria Math" panose="02040503050406030204" pitchFamily="18" charset="0"/>
                                                </a:rPr>
                                                <m:t>𝑎</m:t>
                                              </m:r>
                                            </m:e>
                                          </m:acc>
                                        </m:sub>
                                      </m:sSub>
                                    </m:e>
                                    <m:e>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acc>
                                            <m:accPr>
                                              <m:chr m:val="̂"/>
                                              <m:ctrlPr>
                                                <a:rPr lang="en-US" i="1">
                                                  <a:latin typeface="Cambria Math" panose="02040503050406030204" pitchFamily="18" charset="0"/>
                                                </a:rPr>
                                              </m:ctrlPr>
                                            </m:accPr>
                                            <m:e>
                                              <m:r>
                                                <a:rPr lang="en-US" i="1">
                                                  <a:latin typeface="Cambria Math" panose="02040503050406030204" pitchFamily="18" charset="0"/>
                                                </a:rPr>
                                                <m:t>𝑏</m:t>
                                              </m:r>
                                            </m:e>
                                          </m:acc>
                                        </m:sub>
                                      </m:sSub>
                                    </m:e>
                                    <m:e>
                                      <m:sSubSup>
                                        <m:sSubSupPr>
                                          <m:ctrlPr>
                                            <a:rPr lang="en-US" i="1">
                                              <a:latin typeface="Cambria Math" panose="02040503050406030204" pitchFamily="18" charset="0"/>
                                            </a:rPr>
                                          </m:ctrlPr>
                                        </m:sSubSup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𝑜</m:t>
                                              </m:r>
                                            </m:e>
                                          </m:acc>
                                        </m:sub>
                                        <m:sup>
                                          <m:r>
                                            <a:rPr lang="en-US" i="0">
                                              <a:latin typeface="Cambria Math" panose="02040503050406030204" pitchFamily="18" charset="0"/>
                                            </a:rPr>
                                            <m:t>2</m:t>
                                          </m:r>
                                        </m:sup>
                                      </m:sSubSup>
                                    </m:e>
                                  </m:mr>
                                </m:m>
                              </m:e>
                            </m:d>
                          </m:e>
                        </m:mr>
                      </m:m>
                    </m:oMath>
                  </m:oMathPara>
                </a14:m>
                <a:endParaRPr lang="en-US" dirty="0"/>
              </a:p>
              <a:p>
                <a:pPr marL="0" indent="0">
                  <a:buNone/>
                </a:pPr>
                <a:r>
                  <a:rPr lang="en-US" dirty="0"/>
                  <a:t>where</a:t>
                </a:r>
              </a:p>
              <a:p>
                <a:pPr marL="0" indent="0">
                  <a:buNone/>
                </a:pPr>
                <a14:m>
                  <m:oMathPara xmlns:m="http://schemas.openxmlformats.org/officeDocument/2006/math">
                    <m:oMath>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m:t>
                      </m:r>
                      <m:sSup>
                        <m:sSupPr>
                          <m:ctrlPr>
                            <a:rPr lang="en-US">
                              <a:latin typeface="Cambria Math" panose="02040503050406030204" pitchFamily="18" charset="0"/>
                            </a:rPr>
                          </m:ctrlPr>
                        </m:sSupPr>
                        <m:e>
                          <m:r>
                            <m:rPr>
                              <m:sty m:val="p"/>
                            </m:rPr>
                            <a:rPr lang="en-US">
                              <a:latin typeface="Cambria Math" panose="02040503050406030204" pitchFamily="18" charset="0"/>
                            </a:rPr>
                            <m:t>A</m:t>
                          </m:r>
                        </m:e>
                        <m:sup>
                          <m:r>
                            <a:rPr lang="en-US" i="1">
                              <a:latin typeface="Cambria Math" panose="02040503050406030204" pitchFamily="18" charset="0"/>
                            </a:rPr>
                            <m:t>𝑇</m:t>
                          </m:r>
                        </m:sup>
                      </m:sSup>
                      <m:sSubSup>
                        <m:sSubSupPr>
                          <m:ctrlPr>
                            <a:rPr lang="en-US">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𝑌</m:t>
                          </m:r>
                        </m:sub>
                        <m:sup>
                          <m:r>
                            <a:rPr lang="en-US" i="1">
                              <a:latin typeface="Cambria Math" panose="02040503050406030204" pitchFamily="18" charset="0"/>
                            </a:rPr>
                            <m:t>−1</m:t>
                          </m:r>
                        </m:sup>
                      </m:sSubSup>
                      <m:r>
                        <m:rPr>
                          <m:sty m:val="p"/>
                        </m:rPr>
                        <a:rPr lang="en-US">
                          <a:latin typeface="Cambria Math" panose="02040503050406030204" pitchFamily="18" charset="0"/>
                        </a:rPr>
                        <m:t>A</m:t>
                      </m:r>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−1</m:t>
                          </m:r>
                        </m:sup>
                      </m:sSup>
                      <m:sSup>
                        <m:sSupPr>
                          <m:ctrlPr>
                            <a:rPr lang="en-US">
                              <a:latin typeface="Cambria Math" panose="02040503050406030204" pitchFamily="18" charset="0"/>
                            </a:rPr>
                          </m:ctrlPr>
                        </m:sSupPr>
                        <m:e>
                          <m:r>
                            <m:rPr>
                              <m:sty m:val="p"/>
                            </m:rPr>
                            <a:rPr lang="en-US">
                              <a:latin typeface="Cambria Math" panose="02040503050406030204" pitchFamily="18" charset="0"/>
                            </a:rPr>
                            <m:t>A</m:t>
                          </m:r>
                        </m:e>
                        <m:sup>
                          <m:r>
                            <a:rPr lang="en-US" i="1">
                              <a:latin typeface="Cambria Math" panose="02040503050406030204" pitchFamily="18" charset="0"/>
                            </a:rPr>
                            <m:t>𝑇</m:t>
                          </m:r>
                        </m:sup>
                      </m:sSup>
                      <m:sSubSup>
                        <m:sSubSupPr>
                          <m:ctrlPr>
                            <a:rPr lang="en-US">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𝑌</m:t>
                          </m:r>
                        </m:sub>
                        <m:sup>
                          <m:r>
                            <a:rPr lang="en-US" i="1">
                              <a:latin typeface="Cambria Math" panose="02040503050406030204" pitchFamily="18" charset="0"/>
                            </a:rPr>
                            <m:t>−1</m:t>
                          </m:r>
                        </m:sup>
                      </m:sSubSup>
                      <m:r>
                        <a:rPr lang="en-US" i="1">
                          <a:latin typeface="Cambria Math" panose="02040503050406030204" pitchFamily="18" charset="0"/>
                        </a:rPr>
                        <m:t>𝑌</m:t>
                      </m:r>
                      <m:r>
                        <a:rPr lang="en-US" i="1">
                          <a:latin typeface="Cambria Math" panose="02040503050406030204" pitchFamily="18" charset="0"/>
                        </a:rPr>
                        <m:t>,    </m:t>
                      </m:r>
                      <m:sSub>
                        <m:sSubPr>
                          <m:ctrlPr>
                            <a:rPr lang="en-US">
                              <a:latin typeface="Cambria Math" panose="02040503050406030204" pitchFamily="18" charset="0"/>
                            </a:rPr>
                          </m:ctrlPr>
                        </m:sSubPr>
                        <m:e>
                          <m:r>
                            <m:rPr>
                              <m:sty m:val="p"/>
                            </m:rPr>
                            <a:rPr lang="en-US">
                              <a:latin typeface="Cambria Math" panose="02040503050406030204" pitchFamily="18" charset="0"/>
                            </a:rPr>
                            <m:t>Σ</m:t>
                          </m:r>
                        </m:e>
                        <m:sub>
                          <m:acc>
                            <m:accPr>
                              <m:chr m:val="̂"/>
                              <m:ctrlPr>
                                <a:rPr lang="en-US" i="1">
                                  <a:latin typeface="Cambria Math" panose="02040503050406030204" pitchFamily="18" charset="0"/>
                                </a:rPr>
                              </m:ctrlPr>
                            </m:accPr>
                            <m:e>
                              <m:r>
                                <a:rPr lang="en-US" i="1">
                                  <a:latin typeface="Cambria Math" panose="02040503050406030204" pitchFamily="18" charset="0"/>
                                </a:rPr>
                                <m:t>𝑋</m:t>
                              </m:r>
                            </m:e>
                          </m:acc>
                        </m:sub>
                      </m:sSub>
                      <m:r>
                        <a:rPr lang="en-US" i="1">
                          <a:latin typeface="Cambria Math" panose="02040503050406030204" pitchFamily="18" charset="0"/>
                        </a:rPr>
                        <m:t>=(</m:t>
                      </m:r>
                      <m:sSup>
                        <m:sSupPr>
                          <m:ctrlPr>
                            <a:rPr lang="en-US">
                              <a:latin typeface="Cambria Math" panose="02040503050406030204" pitchFamily="18" charset="0"/>
                            </a:rPr>
                          </m:ctrlPr>
                        </m:sSupPr>
                        <m:e>
                          <m:r>
                            <m:rPr>
                              <m:sty m:val="p"/>
                            </m:rPr>
                            <a:rPr lang="en-US">
                              <a:latin typeface="Cambria Math" panose="02040503050406030204" pitchFamily="18" charset="0"/>
                            </a:rPr>
                            <m:t>A</m:t>
                          </m:r>
                        </m:e>
                        <m:sup>
                          <m:r>
                            <a:rPr lang="en-US" i="1">
                              <a:latin typeface="Cambria Math" panose="02040503050406030204" pitchFamily="18" charset="0"/>
                            </a:rPr>
                            <m:t>𝑇</m:t>
                          </m:r>
                        </m:sup>
                      </m:sSup>
                      <m:sSubSup>
                        <m:sSubSupPr>
                          <m:ctrlPr>
                            <a:rPr lang="en-US">
                              <a:latin typeface="Cambria Math" panose="02040503050406030204" pitchFamily="18" charset="0"/>
                            </a:rPr>
                          </m:ctrlPr>
                        </m:sSubSupPr>
                        <m:e>
                          <m:r>
                            <m:rPr>
                              <m:sty m:val="p"/>
                            </m:rPr>
                            <a:rPr lang="en-US">
                              <a:latin typeface="Cambria Math" panose="02040503050406030204" pitchFamily="18" charset="0"/>
                            </a:rPr>
                            <m:t>Σ</m:t>
                          </m:r>
                        </m:e>
                        <m:sub>
                          <m:r>
                            <a:rPr lang="en-US" i="1">
                              <a:latin typeface="Cambria Math" panose="02040503050406030204" pitchFamily="18" charset="0"/>
                            </a:rPr>
                            <m:t>𝑌</m:t>
                          </m:r>
                        </m:sub>
                        <m:sup>
                          <m:r>
                            <a:rPr lang="en-US" i="1">
                              <a:latin typeface="Cambria Math" panose="02040503050406030204" pitchFamily="18" charset="0"/>
                            </a:rPr>
                            <m:t>−1</m:t>
                          </m:r>
                        </m:sup>
                      </m:sSubSup>
                      <m:r>
                        <m:rPr>
                          <m:sty m:val="p"/>
                        </m:rPr>
                        <a:rPr lang="en-US">
                          <a:latin typeface="Cambria Math" panose="02040503050406030204" pitchFamily="18" charset="0"/>
                        </a:rPr>
                        <m:t>A</m:t>
                      </m:r>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−1</m:t>
                          </m:r>
                        </m:sup>
                      </m:sSup>
                    </m:oMath>
                  </m:oMathPara>
                </a14:m>
                <a:endParaRPr lang="en-US" dirty="0"/>
              </a:p>
              <a:p>
                <a:r>
                  <a:rPr lang="en-US" dirty="0"/>
                  <a:t>Now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oMath>
                </a14:m>
                <a:r>
                  <a:rPr lang="en-US" dirty="0"/>
                  <a:t> might not be known beforehand. In which case, we can first determine the parameters only for rate and offsets, remove them from time series. Then, using frequency decomposition we can determine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oMath>
                </a14:m>
                <a:endParaRPr lang="en-US" dirty="0"/>
              </a:p>
            </p:txBody>
          </p:sp>
        </mc:Choice>
        <mc:Fallback xmlns="">
          <p:sp>
            <p:nvSpPr>
              <p:cNvPr id="3" name="Content Placeholder 2">
                <a:extLst>
                  <a:ext uri="{FF2B5EF4-FFF2-40B4-BE49-F238E27FC236}">
                    <a16:creationId xmlns:a16="http://schemas.microsoft.com/office/drawing/2014/main" id="{BF018769-2BB3-565D-6590-85E6A5790624}"/>
                  </a:ext>
                </a:extLst>
              </p:cNvPr>
              <p:cNvSpPr>
                <a:spLocks noGrp="1" noRot="1" noChangeAspect="1" noMove="1" noResize="1" noEditPoints="1" noAdjustHandles="1" noChangeArrowheads="1" noChangeShapeType="1" noTextEdit="1"/>
              </p:cNvSpPr>
              <p:nvPr>
                <p:ph idx="1"/>
              </p:nvPr>
            </p:nvSpPr>
            <p:spPr>
              <a:blipFill>
                <a:blip r:embed="rId2"/>
                <a:stretch>
                  <a:fillRect l="-749" t="-707"/>
                </a:stretch>
              </a:blipFill>
            </p:spPr>
            <p:txBody>
              <a:bodyPr/>
              <a:lstStyle/>
              <a:p>
                <a:r>
                  <a:rPr lang="en-IN">
                    <a:noFill/>
                  </a:rPr>
                  <a:t> </a:t>
                </a:r>
              </a:p>
            </p:txBody>
          </p:sp>
        </mc:Fallback>
      </mc:AlternateContent>
    </p:spTree>
    <p:extLst>
      <p:ext uri="{BB962C8B-B14F-4D97-AF65-F5344CB8AC3E}">
        <p14:creationId xmlns:p14="http://schemas.microsoft.com/office/powerpoint/2010/main" val="3255637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4B67A-D9A9-CEE4-0B8E-2CC19ADDF169}"/>
              </a:ext>
            </a:extLst>
          </p:cNvPr>
          <p:cNvSpPr>
            <a:spLocks noGrp="1"/>
          </p:cNvSpPr>
          <p:nvPr>
            <p:ph type="title"/>
          </p:nvPr>
        </p:nvSpPr>
        <p:spPr/>
        <p:txBody>
          <a:bodyPr/>
          <a:lstStyle/>
          <a:p>
            <a:r>
              <a:rPr lang="en-US" dirty="0"/>
              <a:t> example</a:t>
            </a:r>
          </a:p>
        </p:txBody>
      </p:sp>
      <p:pic>
        <p:nvPicPr>
          <p:cNvPr id="9" name="Picture 8">
            <a:extLst>
              <a:ext uri="{FF2B5EF4-FFF2-40B4-BE49-F238E27FC236}">
                <a16:creationId xmlns:a16="http://schemas.microsoft.com/office/drawing/2014/main" id="{9C1AC129-2F56-F044-0C9C-BB32D5431461}"/>
              </a:ext>
            </a:extLst>
          </p:cNvPr>
          <p:cNvPicPr>
            <a:picLocks noChangeAspect="1"/>
          </p:cNvPicPr>
          <p:nvPr/>
        </p:nvPicPr>
        <p:blipFill>
          <a:blip r:embed="rId2"/>
          <a:stretch>
            <a:fillRect/>
          </a:stretch>
        </p:blipFill>
        <p:spPr>
          <a:xfrm>
            <a:off x="256279" y="806570"/>
            <a:ext cx="11679440" cy="3474797"/>
          </a:xfrm>
          <a:prstGeom prst="rect">
            <a:avLst/>
          </a:prstGeom>
        </p:spPr>
      </p:pic>
      <p:pic>
        <p:nvPicPr>
          <p:cNvPr id="11" name="Picture 10">
            <a:extLst>
              <a:ext uri="{FF2B5EF4-FFF2-40B4-BE49-F238E27FC236}">
                <a16:creationId xmlns:a16="http://schemas.microsoft.com/office/drawing/2014/main" id="{A68C1E1F-FA21-0FC7-1D4B-DFBE1096575C}"/>
              </a:ext>
            </a:extLst>
          </p:cNvPr>
          <p:cNvPicPr>
            <a:picLocks noChangeAspect="1"/>
          </p:cNvPicPr>
          <p:nvPr/>
        </p:nvPicPr>
        <p:blipFill>
          <a:blip r:embed="rId3"/>
          <a:stretch>
            <a:fillRect/>
          </a:stretch>
        </p:blipFill>
        <p:spPr>
          <a:xfrm>
            <a:off x="426468" y="4346066"/>
            <a:ext cx="11339063" cy="2356714"/>
          </a:xfrm>
          <a:prstGeom prst="rect">
            <a:avLst/>
          </a:prstGeom>
        </p:spPr>
      </p:pic>
    </p:spTree>
    <p:extLst>
      <p:ext uri="{BB962C8B-B14F-4D97-AF65-F5344CB8AC3E}">
        <p14:creationId xmlns:p14="http://schemas.microsoft.com/office/powerpoint/2010/main" val="3542484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EE2F8-C9F8-552B-6D0C-4DE0839E5753}"/>
              </a:ext>
            </a:extLst>
          </p:cNvPr>
          <p:cNvSpPr>
            <a:spLocks noGrp="1"/>
          </p:cNvSpPr>
          <p:nvPr>
            <p:ph type="title"/>
          </p:nvPr>
        </p:nvSpPr>
        <p:spPr/>
        <p:txBody>
          <a:bodyPr/>
          <a:lstStyle/>
          <a:p>
            <a:r>
              <a:rPr lang="en-US" dirty="0"/>
              <a:t>example</a:t>
            </a:r>
          </a:p>
        </p:txBody>
      </p:sp>
      <p:pic>
        <p:nvPicPr>
          <p:cNvPr id="5" name="Picture 4">
            <a:extLst>
              <a:ext uri="{FF2B5EF4-FFF2-40B4-BE49-F238E27FC236}">
                <a16:creationId xmlns:a16="http://schemas.microsoft.com/office/drawing/2014/main" id="{6B959D4F-43B1-2152-2165-5F692E32F3DE}"/>
              </a:ext>
            </a:extLst>
          </p:cNvPr>
          <p:cNvPicPr>
            <a:picLocks noChangeAspect="1"/>
          </p:cNvPicPr>
          <p:nvPr/>
        </p:nvPicPr>
        <p:blipFill>
          <a:blip r:embed="rId2"/>
          <a:stretch>
            <a:fillRect/>
          </a:stretch>
        </p:blipFill>
        <p:spPr>
          <a:xfrm>
            <a:off x="267732" y="4142647"/>
            <a:ext cx="11656535" cy="2293511"/>
          </a:xfrm>
          <a:prstGeom prst="rect">
            <a:avLst/>
          </a:prstGeom>
        </p:spPr>
      </p:pic>
      <p:pic>
        <p:nvPicPr>
          <p:cNvPr id="13" name="Picture 12">
            <a:extLst>
              <a:ext uri="{FF2B5EF4-FFF2-40B4-BE49-F238E27FC236}">
                <a16:creationId xmlns:a16="http://schemas.microsoft.com/office/drawing/2014/main" id="{A7751CA7-2BAF-7F5C-1473-3373139FFF63}"/>
              </a:ext>
            </a:extLst>
          </p:cNvPr>
          <p:cNvPicPr>
            <a:picLocks noChangeAspect="1"/>
          </p:cNvPicPr>
          <p:nvPr/>
        </p:nvPicPr>
        <p:blipFill>
          <a:blip r:embed="rId3"/>
          <a:stretch>
            <a:fillRect/>
          </a:stretch>
        </p:blipFill>
        <p:spPr>
          <a:xfrm>
            <a:off x="1564735" y="936180"/>
            <a:ext cx="8427291" cy="3182611"/>
          </a:xfrm>
          <a:prstGeom prst="rect">
            <a:avLst/>
          </a:prstGeom>
        </p:spPr>
      </p:pic>
    </p:spTree>
    <p:extLst>
      <p:ext uri="{BB962C8B-B14F-4D97-AF65-F5344CB8AC3E}">
        <p14:creationId xmlns:p14="http://schemas.microsoft.com/office/powerpoint/2010/main" val="52232777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5526</TotalTime>
  <Words>727</Words>
  <Application>Microsoft Office PowerPoint</Application>
  <PresentationFormat>Widescreen</PresentationFormat>
  <Paragraphs>92</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Calisto MT</vt:lpstr>
      <vt:lpstr>Cambria Math</vt:lpstr>
      <vt:lpstr>Univers Condensed</vt:lpstr>
      <vt:lpstr>ChronicleVTI</vt:lpstr>
      <vt:lpstr>CV5100: Modelling, Uncertainty and Data for Engineers MODULE 2: TIME SERIES ANALYSIS, lecture 2: Modeling and estimation</vt:lpstr>
      <vt:lpstr>Time series expression</vt:lpstr>
      <vt:lpstr>components</vt:lpstr>
      <vt:lpstr>components model</vt:lpstr>
      <vt:lpstr>Signal and noise</vt:lpstr>
      <vt:lpstr>Time series expression</vt:lpstr>
      <vt:lpstr> Example</vt:lpstr>
      <vt:lpstr>Model estimation </vt:lpstr>
      <vt:lpstr>LS of time series </vt:lpstr>
      <vt:lpstr>LS of time series </vt:lpstr>
      <vt:lpstr> Example</vt:lpstr>
      <vt:lpstr>Blue of time series </vt:lpstr>
      <vt:lpstr>Blue of time series </vt:lpstr>
      <vt:lpstr>Blue of time series </vt:lpstr>
      <vt:lpstr> example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Sudheendra Herkal</dc:creator>
  <cp:lastModifiedBy>Sudheendra Herkal</cp:lastModifiedBy>
  <cp:revision>24</cp:revision>
  <dcterms:created xsi:type="dcterms:W3CDTF">2025-05-19T08:31:03Z</dcterms:created>
  <dcterms:modified xsi:type="dcterms:W3CDTF">2026-10-27T12:25:25Z</dcterms:modified>
</cp:coreProperties>
</file>